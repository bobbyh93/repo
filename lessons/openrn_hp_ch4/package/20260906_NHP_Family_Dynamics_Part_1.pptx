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client in front of you. An eight-year-old is admitted with abdominal pain. The mother is at the bedside. During the interview you learn the parents are divorcing. Before we teach a single definition, decide what you already know and what you still need. You know the pain complaint and that one parent is present. You do not yet know the living situation, how the family interacts, what the child believes about the divorce, or what supports exist. Hold this case; we return to it at the end and you will write the nursing response yourself.</a:t>
            </a:r>
          </a:p>
          <a:p/>
          <a:p>
            <a:r>
              <a:t>ANSWER KEY:</a:t>
            </a:r>
          </a:p>
          <a:p>
            <a:r>
              <a:t>- Living situation and household members</a:t>
            </a:r>
          </a:p>
          <a:p>
            <a:r>
              <a:t>- How family members interact and communicate</a:t>
            </a:r>
          </a:p>
          <a:p>
            <a:r>
              <a:t>- The child's feelings about the divorce and any sense of responsibility for it</a:t>
            </a:r>
          </a:p>
          <a:p>
            <a:r>
              <a:t>- Family strengths, stressors, and available supports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concept in this chapter serves one question: when one person is the client, how does the nurse recognize whether the family is helping or harming that person's health, and what does the nurse do first? Five lanes carry the answer, from foundation to bedside: structure, dynamics, risk, strain, and action.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Foundation on the left, bedside on the right.</a:t>
            </a:r>
          </a:p>
          <a:p/>
          <a:p>
            <a:r>
              <a:t>VISUAL NOTES: Foundation on the left, bedside action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opens with a working definition from the U.S. Census: two or more people, one the householder, related by birth, marriage, or adoption, living together. Nursing needs two more ideas. Family of orientation is the family you grew up in; family of procreation is the one you form as an adult. Roles are recurrent behavior patterns that fulfil family functions, and they change across the life span and can be impaired by chronic illness. The chapter names five functions. Read the five cards. When you assess a family, you are asking whether each function is being met for the client.</a:t>
            </a:r>
          </a:p>
          <a:p/>
          <a:p>
            <a:r>
              <a:t>VISUAL NOTES: Table 4.2 (modern family structures) not retrievable at build; the reviewer may add examples.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role families matter at the bedside. Informal roles include the decision-maker, the peace-maker, and the tradition-holder. The decision-maker is culturally determined and may change with the type of decision, so ask rather than assume. In family dysfunction the chapter lists roles such as the hero, the mascot, the identified patient or scapegoat, the lost child, the enabler, and the parentified child. Those are cues, not labels to put in a chart. The last card is about you: the ANA standard of respectful and equitable practice combines cultural humility with inclusiveness, and implicit bias, an unconscious attitude shaped by experience, can change the care you give without your noticing.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dynamics are the roles, relationships, and communication patterns that shape how members interact. The chapter gives a simple test. Healthy relationships produce security and comfort. Unhealthy ones produce stress: arguments, intrusion, criticism. The same family can be healthy in some characteristics and unhealthy in others at the same time, so avoid a single verdict. High-resource families combine resiliency with resources: money, extended family, friends, a faith community. Low-resource families do not effectively meet members' needs. Dysfunction is a failure of the five functions, usually unintended, and it is transmitted across generations, which is why caregiver trauma reaches into a child's sense of self.</a:t>
            </a:r>
          </a:p>
          <a:p/>
          <a:p>
            <a:r>
              <a:t>VISUAL NOTES: Table 4.3 not retrievable at build; columns are built from the section body.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Adverse childhood experiences include neglect, abuse, divorce, a family member in prison, and witnessing substance abuse, mental illness, or violence against a parent. The ACE Study followed more than seventeen thousand people and found a dose-response relationship: the more ACEs, the more adolescent risk behavior and the more adult chronic illness, including alcoholism, COPD, depression, and liver disease. The highest exposure group lost about twenty years of life expectancy. The engine around the centre lists what raises the risk. Notice that most of these are things a nurse can screen for.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Protective factors are the other half of the risk engine and they are teachable. In the family: basic needs met, stable and nurturing relationships, social support, positive shared activities, school valued, peaceful conflict resolution, outside mentors, caregiver education and employment, effective supervision. In the community: parenting education, financial assistance, health and mental health services, safe housing and childcare, quality preschool, after-school programs, family-friendly employment. Divorce is itself an ACE, and the chapter is specific: the effect is moderated by how the parents treat each other before, during, and after. That gives you a teaching script for the opening case.</a:t>
            </a:r>
          </a:p>
          <a:p/>
          <a:p>
            <a:r>
              <a:t>ANSWER KEY:</a:t>
            </a:r>
          </a:p>
          <a:p>
            <a:r>
              <a:t>- Never force the child to take sides; no arguments or criticism of the other parent in front of the child</a:t>
            </a:r>
          </a:p>
          <a:p>
            <a:r>
              <a:t>- Talk early and often, be honest in simple terms, tell the child it is not their fault, reassure them they are loved</a:t>
            </a:r>
          </a:p>
          <a:p>
            <a:r>
              <a:t>- Keep routine, friends, school, and environment; keep rules consistent across both households; keep promises</a:t>
            </a:r>
          </a:p>
          <a:p>
            <a:r>
              <a:t>- Inform teachers and counselors so problems at school are reported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places parenting on two axes: responsiveness, meaning warmth and support, and demandingness, meaning behavioral control. Crossing them gives four styles. Uninvolved is low on both and produces poor outcomes in every domain. Permissive is high warmth and low control: more behavior problems and lower academics, but higher self-esteem and social skills. Authoritarian is low warmth and high control: moderate academics, poorer social skills, lower self-esteem, more depression. Authoritative is high on both and does best across domains, including the lowest risk of underage drinking. A third dimension, psychological control through guilt, shaming, or withdrawing love, separates authoritarian from authoritative: one expects unquestioned compliance, the other explains the reason.</a:t>
            </a:r>
          </a:p>
          <a:p/>
          <a:p>
            <a:r>
              <a:t>VISUAL NOTES: Tables 4.5a/4.5b not retrievable at build; cards are from the section body.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Discipline in this chapter means guidance, not punishment. The consequence steps are a script you can hand to a parent: clear guidelines and a warning; a specific if-then consequence that fits the behavior; immediate follow-through; positive reinforcement afterward. For a young child, time-out runs one minute per year of age and ends with a hug and positive words. For an older child, remove a privilege briefly, then restate the rule and give positive attention. Behaviorism adds a rule: attend to the behavior you want and, if the child is safe, ignore the tantrum, then name the emotion afterward and teach an acceptable way to show it. Spanking is not effective and teaches that hitting gets what you want. Rewards beat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one member is ill the family reorganises around the illness. Parents take on regimens, appointments, and the cost. Siblings can feel unvalued and adopt the lost-child role. A substance use disorder in the family produces enabling, ignoring, and financial drain. Family caregivers provide regular care for chronic illness or disability: activities of daily living, bills, shopping, transport, emotional support, and the strain rises as the needs rise. Caregiver role strain is the chapter's name for difficulty performing that role. Caregiving can enhance quality of life, and it can impair work, social life, and physical and mental health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the caregiver as closely as the client. The chapter's stress signs: anger or frustration, social withdrawal, anxiety about the future, depression or reduced coping, exhaustion, sleeplessness, irritability and poor concentration, and new health problems in the caregiver. Resources to offer: child or adult day care, respite care at home or in a facility, residential care, palliative care, and support groups such as Al-Anon, Nar-Anon, and Sibshops for siblings of children with disabilities. Self-care teaching covers provider visits, nutrition, exercise, rest, and relaxation techniques, framed as 'taking care of yourself helps you be a better caregiver.' Family-centered care ties it together with four principles.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4.7 lays the nursing process over the clinical judgment model explicitly, so this map is the chapter's, not ours. Assessment is recognize cues: establish cultural safety and privacy first, identify the decision-maker, and do a general survey of client and family. Diagnosis is analyze cues. Outcome identification is generate solutions with the family, in their values and culture. Implementation is take action, reprioritized against the current condition. Evaluation asks whether the diagnosis was accurate and the goals met, and whether to keep, modify, or delete each part of the plan.</a:t>
            </a:r>
          </a:p>
          <a:p/>
          <a:p>
            <a:r>
              <a:t>VISUAL NOTES: Table 4.7 (NANDA diagnoses) not retrievable at build; reviewer to insert the program's care-planning resource.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assessment sequence for the opening case. First, establish cultural safety and privacy: one open-ended cultural question, then find out who the decision-maker is, which for a child under eighteen is the parent or guardian, while still advocating for the client's autonomy. Ask the client privately who they want present; the nurse does the asking because the client may not feel empowered to. Then the general survey of client and family: hygiene, affect, communication, nutrition, fluid status, for signs of neglect, abuse, or substance misuse, and observe roles and interaction. Then the family-effect questions: what the family knows about the illness, how they respond, and what supports they know of.</a:t>
            </a:r>
          </a:p>
          <a:p/>
          <a:p>
            <a:r>
              <a:t>ANSWER KEY:</a:t>
            </a:r>
          </a:p>
          <a:p>
            <a:r>
              <a:t>- Establish cultural safety and privacy, and ask the client privately who they want present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family cue carries the same weight. The chapter gives three response levels. Suspected abuse or neglect triggers state mandated reporting and agency policy; that outranks everything. Unfriendly, disrespectful, or hostile interaction means notify the provider and refer to social work or case management per policy. Caregiver stress signs call for resources and self-care teaching. A parent asking about discipline is a teaching moment. Sort these four cues in the order the nurse acts.</a:t>
            </a:r>
          </a:p>
          <a:p/>
          <a:p>
            <a:r>
              <a:t>CORRECT ORDER: bruises in different stages of healing with an inconsistent explanation → mother speaks to the child with hostility and contempt during the survey → mother reports sleeplessness, irritability, and dread about the future → mother asks whether spanking is acceptable</a:t>
            </a:r>
          </a:p>
          <a:p/>
          <a:p>
            <a:r>
              <a:t>ANSWER KEY:</a:t>
            </a:r>
          </a:p>
          <a:p>
            <a:r>
              <a:t>- 1 bruises in different stages of healing with an inconsistent explanation: mandated report per state law and policy</a:t>
            </a:r>
          </a:p>
          <a:p>
            <a:r>
              <a:t>- 2 mother speaks to the child with hostility and contempt during the survey: notify provider; social work referral</a:t>
            </a:r>
          </a:p>
          <a:p>
            <a:r>
              <a:t>- 3 mother reports sleeplessness, irritability, and dread about the future: caregiver strain; resources and self-care</a:t>
            </a:r>
          </a:p>
          <a:p>
            <a:r>
              <a:t>- 4 mother asks whether spanking is acceptable: teaching moment; positive discipline sequence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checkpoint on the strain lane. Read the stem, choose one, and be ready to say why the other three are weaker. The correct answer is the one that names the cue as caregiver role strain and responds with a resource, not reassurance alone.</a:t>
            </a:r>
          </a:p>
          <a:p/>
          <a:p>
            <a:r>
              <a:t>CORRECT: C</a:t>
            </a:r>
          </a:p>
          <a:p>
            <a:r>
              <a:t>RATIONALE: Sleeplessness, irritability, and anxiety about the future are the chapter's caregiver stress signs. The nursing response is to recognize role strain and mobilize resources such as respite care and support groups. A minimizes, B adds demand without support, D imposes a decision the family has not made.</a:t>
            </a:r>
          </a:p>
          <a:p/>
          <a:p>
            <a:r>
              <a:t>ANSWER KEY:</a:t>
            </a:r>
          </a:p>
          <a:p>
            <a:r>
              <a:t>- 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child from the opening case. The abdominal pain assessment is complete and the provider has been notified. During the family history the mother says, in front of the child, that the pain started when the father left and that it is the child's fault for upsetting everyone. Pick the priority nursing action. Think about which cue this is and which response level the chapter assigns to it.</a:t>
            </a:r>
          </a:p>
          <a:p/>
          <a:p>
            <a:r>
              <a:t>CORRECT: B</a:t>
            </a:r>
          </a:p>
          <a:p>
            <a:r>
              <a:t>RATIONALE: The chapter's sequence protects the client first: privacy and the client's own account, then the family cue. Blaming the child in front of them is an unhealthy interaction cue that warrants provider notification and a social work referral per policy, not silence (C). A confrontation in front of the child escalates the interaction. A single blaming statement does not by itself meet the mandated-reporting threshold (D); the nurse assesses further.</a:t>
            </a:r>
          </a:p>
          <a:p/>
          <a:p>
            <a:r>
              <a:t>ANSWER KEY:</a:t>
            </a:r>
          </a:p>
          <a:p>
            <a:r>
              <a:t>- 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Five questions, one per lane, answered aloud or on paper. The answers are on the slides you just saw and in the facilitator guide. If a lane produces silence, that is the lane to remediate next session.</a:t>
            </a:r>
          </a:p>
          <a:p/>
          <a:p>
            <a:r>
              <a:t>ANSWER KEY:</a:t>
            </a:r>
          </a:p>
          <a:p>
            <a:r>
              <a:t>- economic support, emotional support, socialization, control of sexuality and reproduction, ascribed social status</a:t>
            </a:r>
          </a:p>
          <a:p>
            <a:r>
              <a:t>- healthy produces security and comfort; unhealthy produces stress</a:t>
            </a:r>
          </a:p>
          <a:p>
            <a:r>
              <a:t>- the ACE Study found a dose-response relationship: more ACEs, more risk behavior and chronic illness</a:t>
            </a:r>
          </a:p>
          <a:p>
            <a:r>
              <a:t>- any three of: anger, withdrawal, anxiety about the future, depression, exhaustion, sleeplessness, irritability, new health problems</a:t>
            </a:r>
          </a:p>
          <a:p>
            <a:r>
              <a:t>- establish cultural safety and privacy, and ask the client who they want present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words to leave with, and they are in the order you will use them. Notice: the family is part of the assessment, not context around it. Sort: every cue you noticed belongs to a report, a referral, a resource or a teaching moment, and deciding which is the nursing judgement. Protect: privacy first, and the client decides who is in the room. Teach: guidance rather than punishment. If you keep one of the four, keep protect, because the other three only keep working while the client is still willing to tell you what is happening at home.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OPENING</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Family Dynamics at the Bedside</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NHP  ·  Health Promotion Across the Lifespan  ·  Family Dynamics</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When one person is the client, how does the nurse recognize whether the family is helping or harming that person's health, and what does the nurse do first?</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See the whole map first: five lanes</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Notice what the family is doing to health</a:t>
            </a:r>
          </a:p>
        </p:txBody>
      </p:sp>
      <p:sp>
        <p:nvSpPr>
          <p:cNvPr id="24" name="Rounded Rectangle 23"/>
          <p:cNvSpPr/>
          <p:nvPr/>
        </p:nvSpPr>
        <p:spPr>
          <a:xfrm>
            <a:off x="621792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2783" y="5404104"/>
            <a:ext cx="45720" cy="365759"/>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8251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3</a:t>
            </a:r>
          </a:p>
        </p:txBody>
      </p:sp>
      <p:sp>
        <p:nvSpPr>
          <p:cNvPr id="27" name="TextBox 26"/>
          <p:cNvSpPr txBox="1"/>
          <p:nvPr/>
        </p:nvSpPr>
        <p:spPr>
          <a:xfrm>
            <a:off x="638251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Decide what the nurse does first</a:t>
            </a:r>
          </a:p>
        </p:txBody>
      </p:sp>
      <p:sp>
        <p:nvSpPr>
          <p:cNvPr id="28" name="TextBox 27"/>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9" name="TextBox 28"/>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OPENING</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 an 8-year-old with abdominal pain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An 8-year-old is admitted with abdominal pain. The mother is present. During the history the nurse learns the parents are divorcing.</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Abdominal pain: onset, location, duration, character, what makes it better or worse
- One parent at the bedside
- Parents divorcing</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TextBox 18"/>
          <p:cNvSpPr txBox="1"/>
          <p:nvPr/>
        </p:nvSpPr>
        <p:spPr>
          <a:xfrm>
            <a:off x="359359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Living situation and household
- How family members interact
- What the child believes about the divorce
- Strengths, stressors, supports</a:t>
            </a:r>
          </a:p>
        </p:txBody>
      </p:sp>
      <p:sp>
        <p:nvSpPr>
          <p:cNvPr id="20" name="Rounded Rectangle 19"/>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3" name="TextBox 22"/>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What do you still need to know before you can plan care?</a:t>
            </a:r>
          </a:p>
        </p:txBody>
      </p:sp>
      <p:sp>
        <p:nvSpPr>
          <p:cNvPr id="24" name="Rounded Rectangle 23"/>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organizing question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When one person is the client, how does the nurse recognize whether the family is helping or harming that person's health, and what does the nurse do first?</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Structure</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who counts as family; roles; five functions</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Dynamics</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healthy vs unhealthy patterns; resources</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Risk</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ACEs; risk and protective factors; parenting</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Strain</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illness hits the whole family; caregiver role strain</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Action</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assess; diagnose; outcomes; intervene; evaluate</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Chapter map: structure to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Structure</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family defined → orientation vs procreation → roles → five functions</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Dynamics</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security vs stress → high- vs low-resource → dysfunction transmits</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Risk</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ACE dose-response → risk factors → protective factors → parenting styles</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Strain</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one illness, whole family → caregiver role strain → family-centered care</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Action</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recognize cues → analyze cues → outcomes → take action → evaluate</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STRUCTURE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Structure: who is family, and what does a family do?</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Economic support</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Meeting members' material needs.</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Emotional support</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Intimacy: mutually shared trust that buffers outside stress.</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Socialization</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First teacher of norms, values, and how emotions are shown. Can also pass on unhealthy behavior.</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Sexuality and reproduction</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Family norms around partnership and reproduction.</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Ascribed social status</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Status at birth versus achieved status by effort; family support shapes achievement.</a:t>
            </a:r>
          </a:p>
        </p:txBody>
      </p:sp>
      <p:sp>
        <p:nvSpPr>
          <p:cNvPr id="28" name="Rounded Rectangle 27"/>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Identify family structure, roles, and the five family functions.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STRUCTURE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Structure: roles, culture, and the nurse's own bias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Informal roles</a:t>
            </a:r>
          </a:p>
        </p:txBody>
      </p:sp>
      <p:sp>
        <p:nvSpPr>
          <p:cNvPr id="11" name="TextBox 10"/>
          <p:cNvSpPr txBox="1"/>
          <p:nvPr/>
        </p:nvSpPr>
        <p:spPr>
          <a:xfrm>
            <a:off x="667512"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Decision-maker, peace-maker, tradition-holder.</a:t>
            </a:r>
          </a:p>
        </p:txBody>
      </p:sp>
      <p:sp>
        <p:nvSpPr>
          <p:cNvPr id="12" name="Rounded Rectangle 11"/>
          <p:cNvSpPr/>
          <p:nvPr/>
        </p:nvSpPr>
        <p:spPr>
          <a:xfrm>
            <a:off x="3340531"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5395"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Dysfunction roles</a:t>
            </a:r>
          </a:p>
        </p:txBody>
      </p:sp>
      <p:sp>
        <p:nvSpPr>
          <p:cNvPr id="15" name="TextBox 14"/>
          <p:cNvSpPr txBox="1"/>
          <p:nvPr/>
        </p:nvSpPr>
        <p:spPr>
          <a:xfrm>
            <a:off x="3505123"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Hero, mascot, scapegoat, lost child, enabler, parentified child.</a:t>
            </a:r>
          </a:p>
        </p:txBody>
      </p:sp>
      <p:sp>
        <p:nvSpPr>
          <p:cNvPr id="16" name="Rounded Rectangle 15"/>
          <p:cNvSpPr/>
          <p:nvPr/>
        </p:nvSpPr>
        <p:spPr>
          <a:xfrm>
            <a:off x="6178143"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Culture</a:t>
            </a:r>
          </a:p>
        </p:txBody>
      </p:sp>
      <p:sp>
        <p:nvSpPr>
          <p:cNvPr id="19" name="TextBox 18"/>
          <p:cNvSpPr txBox="1"/>
          <p:nvPr/>
        </p:nvSpPr>
        <p:spPr>
          <a:xfrm>
            <a:off x="6342735"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Shared values, norms, symbols, language, and way of life passed between generations.</a:t>
            </a:r>
          </a:p>
        </p:txBody>
      </p:sp>
      <p:sp>
        <p:nvSpPr>
          <p:cNvPr id="20" name="Rounded Rectangle 19"/>
          <p:cNvSpPr/>
          <p:nvPr/>
        </p:nvSpPr>
        <p:spPr>
          <a:xfrm>
            <a:off x="9015755"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70619" y="1289304"/>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347"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The nurse's lens</a:t>
            </a:r>
          </a:p>
        </p:txBody>
      </p:sp>
      <p:sp>
        <p:nvSpPr>
          <p:cNvPr id="23" name="TextBox 22"/>
          <p:cNvSpPr txBox="1"/>
          <p:nvPr/>
        </p:nvSpPr>
        <p:spPr>
          <a:xfrm>
            <a:off x="9180347"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Cultural humility plus inclusiveness; watch for implicit bias.</a:t>
            </a:r>
          </a:p>
        </p:txBody>
      </p:sp>
      <p:sp>
        <p:nvSpPr>
          <p:cNvPr id="24" name="Rounded Rectangle 23"/>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Recognize informal and unhealthy family roles and the nurse's obligation to cultural humility.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DYNAMICS</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Dynamics: healthy or unhealthy?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822960" y="1234440"/>
            <a:ext cx="5074920" cy="32004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7824" y="1380744"/>
            <a:ext cx="45720" cy="290779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1344168"/>
            <a:ext cx="4818888" cy="292608"/>
          </a:xfrm>
          <a:prstGeom prst="rect">
            <a:avLst/>
          </a:prstGeom>
          <a:noFill/>
        </p:spPr>
        <p:txBody>
          <a:bodyPr wrap="square" anchor="t" lIns="27432" rIns="27432" tIns="18288" bIns="18288">
            <a:spAutoFit/>
          </a:bodyPr>
          <a:lstStyle/>
          <a:p>
            <a:pPr algn="l"/>
            <a:r>
              <a:rPr sz="1500" b="1">
                <a:solidFill>
                  <a:srgbClr val="0F172A"/>
                </a:solidFill>
                <a:latin typeface="Aptos"/>
              </a:rPr>
              <a:t>healthy: security and comfort</a:t>
            </a:r>
          </a:p>
        </p:txBody>
      </p:sp>
      <p:sp>
        <p:nvSpPr>
          <p:cNvPr id="11" name="TextBox 10"/>
          <p:cNvSpPr txBox="1"/>
          <p:nvPr/>
        </p:nvSpPr>
        <p:spPr>
          <a:xfrm>
            <a:off x="987552" y="1673352"/>
            <a:ext cx="4818888" cy="2670048"/>
          </a:xfrm>
          <a:prstGeom prst="rect">
            <a:avLst/>
          </a:prstGeom>
          <a:noFill/>
        </p:spPr>
        <p:txBody>
          <a:bodyPr wrap="square" anchor="t" lIns="27432" rIns="27432" tIns="18288" bIns="18288">
            <a:spAutoFit/>
          </a:bodyPr>
          <a:lstStyle/>
          <a:p>
            <a:pPr algn="l"/>
            <a:r>
              <a:rPr sz="900" b="0">
                <a:solidFill>
                  <a:srgbClr val="475569"/>
                </a:solidFill>
                <a:latin typeface="Aptos"/>
              </a:rPr>
              <a:t>- mutual respect
- trust
- caring communication
- needs met, or help sought
- resiliency plus resources</a:t>
            </a:r>
          </a:p>
        </p:txBody>
      </p:sp>
      <p:sp>
        <p:nvSpPr>
          <p:cNvPr id="12" name="Rounded Rectangle 11"/>
          <p:cNvSpPr/>
          <p:nvPr/>
        </p:nvSpPr>
        <p:spPr>
          <a:xfrm>
            <a:off x="6263640" y="1234440"/>
            <a:ext cx="5074920" cy="32004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18503" y="1380744"/>
            <a:ext cx="45720" cy="290779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1344168"/>
            <a:ext cx="4818888" cy="292608"/>
          </a:xfrm>
          <a:prstGeom prst="rect">
            <a:avLst/>
          </a:prstGeom>
          <a:noFill/>
        </p:spPr>
        <p:txBody>
          <a:bodyPr wrap="square" anchor="t" lIns="27432" rIns="27432" tIns="18288" bIns="18288">
            <a:spAutoFit/>
          </a:bodyPr>
          <a:lstStyle/>
          <a:p>
            <a:pPr algn="l"/>
            <a:r>
              <a:rPr sz="1500" b="1">
                <a:solidFill>
                  <a:srgbClr val="0F172A"/>
                </a:solidFill>
                <a:latin typeface="Aptos"/>
              </a:rPr>
              <a:t>unhealthy: stress</a:t>
            </a:r>
          </a:p>
        </p:txBody>
      </p:sp>
      <p:sp>
        <p:nvSpPr>
          <p:cNvPr id="15" name="TextBox 14"/>
          <p:cNvSpPr txBox="1"/>
          <p:nvPr/>
        </p:nvSpPr>
        <p:spPr>
          <a:xfrm>
            <a:off x="6428231" y="1673352"/>
            <a:ext cx="4818888" cy="2670048"/>
          </a:xfrm>
          <a:prstGeom prst="rect">
            <a:avLst/>
          </a:prstGeom>
          <a:noFill/>
        </p:spPr>
        <p:txBody>
          <a:bodyPr wrap="square" anchor="t" lIns="27432" rIns="27432" tIns="18288" bIns="18288">
            <a:spAutoFit/>
          </a:bodyPr>
          <a:lstStyle/>
          <a:p>
            <a:pPr algn="l"/>
            <a:r>
              <a:rPr sz="900" b="0">
                <a:solidFill>
                  <a:srgbClr val="475569"/>
                </a:solidFill>
                <a:latin typeface="Aptos"/>
              </a:rPr>
              <a:t>- arguments, intrusion, criticism
- unfriendly, disrespectful, hostile interaction
- needs not effectively met
- caregiver trauma reaching the child</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One-minute prompt: explain this distinction to a patient without using the word 'dangerous' loosely.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RISK</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Risk: adverse childhood experiences are dose-dependent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Rounded Rectangle 7"/>
          <p:cNvSpPr/>
          <p:nvPr/>
        </p:nvSpPr>
        <p:spPr>
          <a:xfrm>
            <a:off x="4663440" y="2148840"/>
            <a:ext cx="2834640" cy="96012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92040" y="2395728"/>
            <a:ext cx="2377440" cy="365760"/>
          </a:xfrm>
          <a:prstGeom prst="rect">
            <a:avLst/>
          </a:prstGeom>
          <a:noFill/>
        </p:spPr>
        <p:txBody>
          <a:bodyPr wrap="square" anchor="ctr" lIns="27432" rIns="27432" tIns="18288" bIns="18288">
            <a:spAutoFit/>
          </a:bodyPr>
          <a:lstStyle/>
          <a:p>
            <a:pPr algn="ctr"/>
            <a:r>
              <a:rPr sz="1400" b="1">
                <a:solidFill>
                  <a:srgbClr val="FFFFFF"/>
                </a:solidFill>
                <a:latin typeface="Aptos"/>
              </a:rPr>
              <a:t>how many ACEs, not which one</a:t>
            </a:r>
          </a:p>
        </p:txBody>
      </p:sp>
      <p:sp>
        <p:nvSpPr>
          <p:cNvPr id="10" name="Rounded Rectangle 9"/>
          <p:cNvSpPr/>
          <p:nvPr/>
        </p:nvSpPr>
        <p:spPr>
          <a:xfrm>
            <a:off x="1005840" y="1234440"/>
            <a:ext cx="283464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0704" y="1380744"/>
            <a:ext cx="45720" cy="53035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0432" y="1344168"/>
            <a:ext cx="2578608" cy="292608"/>
          </a:xfrm>
          <a:prstGeom prst="rect">
            <a:avLst/>
          </a:prstGeom>
          <a:noFill/>
        </p:spPr>
        <p:txBody>
          <a:bodyPr wrap="square" anchor="t" lIns="27432" rIns="27432" tIns="18288" bIns="18288">
            <a:spAutoFit/>
          </a:bodyPr>
          <a:lstStyle/>
          <a:p>
            <a:pPr algn="l"/>
            <a:r>
              <a:rPr sz="1150" b="1">
                <a:solidFill>
                  <a:srgbClr val="0F172A"/>
                </a:solidFill>
                <a:latin typeface="Aptos"/>
              </a:rPr>
              <a:t>caregiver history</a:t>
            </a:r>
          </a:p>
        </p:txBody>
      </p:sp>
      <p:sp>
        <p:nvSpPr>
          <p:cNvPr id="13" name="TextBox 12"/>
          <p:cNvSpPr txBox="1"/>
          <p:nvPr/>
        </p:nvSpPr>
        <p:spPr>
          <a:xfrm>
            <a:off x="1170432" y="1673352"/>
            <a:ext cx="2578608" cy="292608"/>
          </a:xfrm>
          <a:prstGeom prst="rect">
            <a:avLst/>
          </a:prstGeom>
          <a:noFill/>
        </p:spPr>
        <p:txBody>
          <a:bodyPr wrap="square" anchor="t" lIns="27432" rIns="27432" tIns="18288" bIns="18288">
            <a:spAutoFit/>
          </a:bodyPr>
          <a:lstStyle/>
          <a:p>
            <a:pPr algn="l"/>
            <a:r>
              <a:rPr sz="740" b="0">
                <a:solidFill>
                  <a:srgbClr val="475569"/>
                </a:solidFill>
                <a:latin typeface="Aptos"/>
              </a:rPr>
              <a:t>abused as a child; young caregivers; limited understanding of child development</a:t>
            </a:r>
          </a:p>
        </p:txBody>
      </p:sp>
      <p:sp>
        <p:nvSpPr>
          <p:cNvPr id="14" name="Rounded Rectangle 13"/>
          <p:cNvSpPr/>
          <p:nvPr/>
        </p:nvSpPr>
        <p:spPr>
          <a:xfrm>
            <a:off x="4663440" y="960120"/>
            <a:ext cx="283464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18303" y="1106424"/>
            <a:ext cx="45720" cy="53035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1" y="1069848"/>
            <a:ext cx="2578608" cy="292608"/>
          </a:xfrm>
          <a:prstGeom prst="rect">
            <a:avLst/>
          </a:prstGeom>
          <a:noFill/>
        </p:spPr>
        <p:txBody>
          <a:bodyPr wrap="square" anchor="t" lIns="27432" rIns="27432" tIns="18288" bIns="18288">
            <a:spAutoFit/>
          </a:bodyPr>
          <a:lstStyle/>
          <a:p>
            <a:pPr algn="l"/>
            <a:r>
              <a:rPr sz="1150" b="1">
                <a:solidFill>
                  <a:srgbClr val="0F172A"/>
                </a:solidFill>
                <a:latin typeface="Aptos"/>
              </a:rPr>
              <a:t>household strain</a:t>
            </a:r>
          </a:p>
        </p:txBody>
      </p:sp>
      <p:sp>
        <p:nvSpPr>
          <p:cNvPr id="17" name="TextBox 16"/>
          <p:cNvSpPr txBox="1"/>
          <p:nvPr/>
        </p:nvSpPr>
        <p:spPr>
          <a:xfrm>
            <a:off x="4828031" y="1399032"/>
            <a:ext cx="2578608" cy="292608"/>
          </a:xfrm>
          <a:prstGeom prst="rect">
            <a:avLst/>
          </a:prstGeom>
          <a:noFill/>
        </p:spPr>
        <p:txBody>
          <a:bodyPr wrap="square" anchor="t" lIns="27432" rIns="27432" tIns="18288" bIns="18288">
            <a:spAutoFit/>
          </a:bodyPr>
          <a:lstStyle/>
          <a:p>
            <a:pPr algn="l"/>
            <a:r>
              <a:rPr sz="740" b="0">
                <a:solidFill>
                  <a:srgbClr val="475569"/>
                </a:solidFill>
                <a:latin typeface="Aptos"/>
              </a:rPr>
              <a:t>single parent, low income or education, financial stress, special-needs caregiving</a:t>
            </a:r>
          </a:p>
        </p:txBody>
      </p:sp>
      <p:sp>
        <p:nvSpPr>
          <p:cNvPr id="18" name="Rounded Rectangle 17"/>
          <p:cNvSpPr/>
          <p:nvPr/>
        </p:nvSpPr>
        <p:spPr>
          <a:xfrm>
            <a:off x="8321040" y="1234440"/>
            <a:ext cx="283464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75904" y="1380744"/>
            <a:ext cx="45720" cy="53035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85632" y="1344168"/>
            <a:ext cx="2578608" cy="292608"/>
          </a:xfrm>
          <a:prstGeom prst="rect">
            <a:avLst/>
          </a:prstGeom>
          <a:noFill/>
        </p:spPr>
        <p:txBody>
          <a:bodyPr wrap="square" anchor="t" lIns="27432" rIns="27432" tIns="18288" bIns="18288">
            <a:spAutoFit/>
          </a:bodyPr>
          <a:lstStyle/>
          <a:p>
            <a:pPr algn="l"/>
            <a:r>
              <a:rPr sz="1150" b="1">
                <a:solidFill>
                  <a:srgbClr val="0F172A"/>
                </a:solidFill>
                <a:latin typeface="Aptos"/>
              </a:rPr>
              <a:t>discipline and supervision</a:t>
            </a:r>
          </a:p>
        </p:txBody>
      </p:sp>
      <p:sp>
        <p:nvSpPr>
          <p:cNvPr id="21" name="TextBox 20"/>
          <p:cNvSpPr txBox="1"/>
          <p:nvPr/>
        </p:nvSpPr>
        <p:spPr>
          <a:xfrm>
            <a:off x="8485632" y="1673352"/>
            <a:ext cx="2578608" cy="292608"/>
          </a:xfrm>
          <a:prstGeom prst="rect">
            <a:avLst/>
          </a:prstGeom>
          <a:noFill/>
        </p:spPr>
        <p:txBody>
          <a:bodyPr wrap="square" anchor="t" lIns="27432" rIns="27432" tIns="18288" bIns="18288">
            <a:spAutoFit/>
          </a:bodyPr>
          <a:lstStyle/>
          <a:p>
            <a:pPr algn="l"/>
            <a:r>
              <a:rPr sz="740" b="0">
                <a:solidFill>
                  <a:srgbClr val="475569"/>
                </a:solidFill>
                <a:latin typeface="Aptos"/>
              </a:rPr>
              <a:t>inconsistent discipline or spanking, low supervision</a:t>
            </a:r>
          </a:p>
        </p:txBody>
      </p:sp>
      <p:sp>
        <p:nvSpPr>
          <p:cNvPr id="22" name="Rounded Rectangle 21"/>
          <p:cNvSpPr/>
          <p:nvPr/>
        </p:nvSpPr>
        <p:spPr>
          <a:xfrm>
            <a:off x="1005840" y="3977639"/>
            <a:ext cx="283464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0704" y="4123944"/>
            <a:ext cx="45720" cy="53035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70432" y="4087368"/>
            <a:ext cx="2578608" cy="292608"/>
          </a:xfrm>
          <a:prstGeom prst="rect">
            <a:avLst/>
          </a:prstGeom>
          <a:noFill/>
        </p:spPr>
        <p:txBody>
          <a:bodyPr wrap="square" anchor="t" lIns="27432" rIns="27432" tIns="18288" bIns="18288">
            <a:spAutoFit/>
          </a:bodyPr>
          <a:lstStyle/>
          <a:p>
            <a:pPr algn="l"/>
            <a:r>
              <a:rPr sz="1150" b="1">
                <a:solidFill>
                  <a:srgbClr val="0F172A"/>
                </a:solidFill>
                <a:latin typeface="Aptos"/>
              </a:rPr>
              <a:t>family climate</a:t>
            </a:r>
          </a:p>
        </p:txBody>
      </p:sp>
      <p:sp>
        <p:nvSpPr>
          <p:cNvPr id="25" name="TextBox 24"/>
          <p:cNvSpPr txBox="1"/>
          <p:nvPr/>
        </p:nvSpPr>
        <p:spPr>
          <a:xfrm>
            <a:off x="1170432" y="4416552"/>
            <a:ext cx="2578608" cy="292608"/>
          </a:xfrm>
          <a:prstGeom prst="rect">
            <a:avLst/>
          </a:prstGeom>
          <a:noFill/>
        </p:spPr>
        <p:txBody>
          <a:bodyPr wrap="square" anchor="t" lIns="27432" rIns="27432" tIns="18288" bIns="18288">
            <a:spAutoFit/>
          </a:bodyPr>
          <a:lstStyle/>
          <a:p>
            <a:pPr algn="l"/>
            <a:r>
              <a:rPr sz="740" b="0">
                <a:solidFill>
                  <a:srgbClr val="475569"/>
                </a:solidFill>
                <a:latin typeface="Aptos"/>
              </a:rPr>
              <a:t>isolation, high conflict, attitudes that accept violence</a:t>
            </a:r>
          </a:p>
        </p:txBody>
      </p:sp>
      <p:sp>
        <p:nvSpPr>
          <p:cNvPr id="26" name="Rounded Rectangle 25"/>
          <p:cNvSpPr/>
          <p:nvPr/>
        </p:nvSpPr>
        <p:spPr>
          <a:xfrm>
            <a:off x="4663440" y="4343400"/>
            <a:ext cx="283464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18303" y="4489704"/>
            <a:ext cx="45720" cy="53035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8031" y="4453128"/>
            <a:ext cx="2578608" cy="292608"/>
          </a:xfrm>
          <a:prstGeom prst="rect">
            <a:avLst/>
          </a:prstGeom>
          <a:noFill/>
        </p:spPr>
        <p:txBody>
          <a:bodyPr wrap="square" anchor="t" lIns="27432" rIns="27432" tIns="18288" bIns="18288">
            <a:spAutoFit/>
          </a:bodyPr>
          <a:lstStyle/>
          <a:p>
            <a:pPr algn="l"/>
            <a:r>
              <a:rPr sz="1150" b="1">
                <a:solidFill>
                  <a:srgbClr val="0F172A"/>
                </a:solidFill>
                <a:latin typeface="Aptos"/>
              </a:rPr>
              <a:t>community</a:t>
            </a:r>
          </a:p>
        </p:txBody>
      </p:sp>
      <p:sp>
        <p:nvSpPr>
          <p:cNvPr id="29" name="TextBox 28"/>
          <p:cNvSpPr txBox="1"/>
          <p:nvPr/>
        </p:nvSpPr>
        <p:spPr>
          <a:xfrm>
            <a:off x="4828031" y="4782312"/>
            <a:ext cx="2578608" cy="292608"/>
          </a:xfrm>
          <a:prstGeom prst="rect">
            <a:avLst/>
          </a:prstGeom>
          <a:noFill/>
        </p:spPr>
        <p:txBody>
          <a:bodyPr wrap="square" anchor="t" lIns="27432" rIns="27432" tIns="18288" bIns="18288">
            <a:spAutoFit/>
          </a:bodyPr>
          <a:lstStyle/>
          <a:p>
            <a:pPr algn="l"/>
            <a:r>
              <a:rPr sz="740" b="0">
                <a:solidFill>
                  <a:srgbClr val="475569"/>
                </a:solidFill>
                <a:latin typeface="Aptos"/>
              </a:rPr>
              <a:t>violence, poverty, food insecurity, drug and alcohol access, unstable housing</a:t>
            </a:r>
          </a:p>
        </p:txBody>
      </p:sp>
      <p:sp>
        <p:nvSpPr>
          <p:cNvPr id="30" name="Rounded Rectangle 29"/>
          <p:cNvSpPr/>
          <p:nvPr/>
        </p:nvSpPr>
        <p:spPr>
          <a:xfrm>
            <a:off x="8321040" y="3977639"/>
            <a:ext cx="283464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75904" y="4123944"/>
            <a:ext cx="45720" cy="53035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85632" y="4087368"/>
            <a:ext cx="2578608" cy="292608"/>
          </a:xfrm>
          <a:prstGeom prst="rect">
            <a:avLst/>
          </a:prstGeom>
          <a:noFill/>
        </p:spPr>
        <p:txBody>
          <a:bodyPr wrap="square" anchor="t" lIns="27432" rIns="27432" tIns="18288" bIns="18288">
            <a:spAutoFit/>
          </a:bodyPr>
          <a:lstStyle/>
          <a:p>
            <a:pPr algn="l"/>
            <a:r>
              <a:rPr sz="1150" b="1">
                <a:solidFill>
                  <a:srgbClr val="0F172A"/>
                </a:solidFill>
                <a:latin typeface="Aptos"/>
              </a:rPr>
              <a:t>opportunity</a:t>
            </a:r>
          </a:p>
        </p:txBody>
      </p:sp>
      <p:sp>
        <p:nvSpPr>
          <p:cNvPr id="33" name="TextBox 32"/>
          <p:cNvSpPr txBox="1"/>
          <p:nvPr/>
        </p:nvSpPr>
        <p:spPr>
          <a:xfrm>
            <a:off x="8485632" y="4416552"/>
            <a:ext cx="2578608" cy="292608"/>
          </a:xfrm>
          <a:prstGeom prst="rect">
            <a:avLst/>
          </a:prstGeom>
          <a:noFill/>
        </p:spPr>
        <p:txBody>
          <a:bodyPr wrap="square" anchor="t" lIns="27432" rIns="27432" tIns="18288" bIns="18288">
            <a:spAutoFit/>
          </a:bodyPr>
          <a:lstStyle/>
          <a:p>
            <a:pPr algn="l"/>
            <a:r>
              <a:rPr sz="740" b="0">
                <a:solidFill>
                  <a:srgbClr val="475569"/>
                </a:solidFill>
                <a:latin typeface="Aptos"/>
              </a:rPr>
              <a:t>few youth activities, low involvement, limited opportunity</a:t>
            </a:r>
          </a:p>
        </p:txBody>
      </p:sp>
      <p:sp>
        <p:nvSpPr>
          <p:cNvPr id="34" name="Rounded Rectangle 3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Risk is a pattern: exposure, timing, dose, susceptibility, and clinical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RISK</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Risk: protective factors the nurse can build</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Rounded Rectangle 7"/>
          <p:cNvSpPr/>
          <p:nvPr/>
        </p:nvSpPr>
        <p:spPr>
          <a:xfrm>
            <a:off x="502920" y="123444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38074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34416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in the family</a:t>
            </a:r>
          </a:p>
        </p:txBody>
      </p:sp>
      <p:sp>
        <p:nvSpPr>
          <p:cNvPr id="11" name="TextBox 10"/>
          <p:cNvSpPr txBox="1"/>
          <p:nvPr/>
        </p:nvSpPr>
        <p:spPr>
          <a:xfrm>
            <a:off x="667512" y="1673352"/>
            <a:ext cx="3362858" cy="704088"/>
          </a:xfrm>
          <a:prstGeom prst="rect">
            <a:avLst/>
          </a:prstGeom>
          <a:noFill/>
        </p:spPr>
        <p:txBody>
          <a:bodyPr wrap="square" anchor="t" lIns="27432" rIns="27432" tIns="18288" bIns="18288">
            <a:spAutoFit/>
          </a:bodyPr>
          <a:lstStyle/>
          <a:p>
            <a:pPr algn="l"/>
            <a:r>
              <a:rPr sz="850" b="0">
                <a:solidFill>
                  <a:srgbClr val="475569"/>
                </a:solidFill>
                <a:latin typeface="Aptos"/>
              </a:rPr>
              <a:t>needs met; stable nurturing relationships; social support; shared activities; school valued; peaceful conflict resolution; mentors</a:t>
            </a:r>
          </a:p>
        </p:txBody>
      </p:sp>
      <p:sp>
        <p:nvSpPr>
          <p:cNvPr id="12" name="Rounded Rectangle 11"/>
          <p:cNvSpPr/>
          <p:nvPr/>
        </p:nvSpPr>
        <p:spPr>
          <a:xfrm>
            <a:off x="4286402" y="123444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38074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34416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in the community</a:t>
            </a:r>
          </a:p>
        </p:txBody>
      </p:sp>
      <p:sp>
        <p:nvSpPr>
          <p:cNvPr id="15" name="TextBox 14"/>
          <p:cNvSpPr txBox="1"/>
          <p:nvPr/>
        </p:nvSpPr>
        <p:spPr>
          <a:xfrm>
            <a:off x="4450994" y="1673352"/>
            <a:ext cx="3362858" cy="704088"/>
          </a:xfrm>
          <a:prstGeom prst="rect">
            <a:avLst/>
          </a:prstGeom>
          <a:noFill/>
        </p:spPr>
        <p:txBody>
          <a:bodyPr wrap="square" anchor="t" lIns="27432" rIns="27432" tIns="18288" bIns="18288">
            <a:spAutoFit/>
          </a:bodyPr>
          <a:lstStyle/>
          <a:p>
            <a:pPr algn="l"/>
            <a:r>
              <a:rPr sz="850" b="0">
                <a:solidFill>
                  <a:srgbClr val="475569"/>
                </a:solidFill>
                <a:latin typeface="Aptos"/>
              </a:rPr>
              <a:t>parenting education; financial help; health and mental health services; safe housing and childcare; preschool and after-school programs</a:t>
            </a:r>
          </a:p>
        </p:txBody>
      </p:sp>
      <p:sp>
        <p:nvSpPr>
          <p:cNvPr id="16" name="Rounded Rectangle 15"/>
          <p:cNvSpPr/>
          <p:nvPr/>
        </p:nvSpPr>
        <p:spPr>
          <a:xfrm>
            <a:off x="8069884" y="123444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38074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34416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when parents divorce</a:t>
            </a:r>
          </a:p>
        </p:txBody>
      </p:sp>
      <p:sp>
        <p:nvSpPr>
          <p:cNvPr id="19" name="TextBox 18"/>
          <p:cNvSpPr txBox="1"/>
          <p:nvPr/>
        </p:nvSpPr>
        <p:spPr>
          <a:xfrm>
            <a:off x="8234476" y="1673352"/>
            <a:ext cx="3362858" cy="704088"/>
          </a:xfrm>
          <a:prstGeom prst="rect">
            <a:avLst/>
          </a:prstGeom>
          <a:noFill/>
        </p:spPr>
        <p:txBody>
          <a:bodyPr wrap="square" anchor="t" lIns="27432" rIns="27432" tIns="18288" bIns="18288">
            <a:spAutoFit/>
          </a:bodyPr>
          <a:lstStyle/>
          <a:p>
            <a:pPr algn="l"/>
            <a:r>
              <a:rPr sz="850" b="0">
                <a:solidFill>
                  <a:srgbClr val="475569"/>
                </a:solidFill>
                <a:latin typeface="Aptos"/>
              </a:rPr>
              <a:t>no sides, no arguments in front of the child; talk early and often; not the child's fault; keep routine and promises</a:t>
            </a:r>
          </a:p>
        </p:txBody>
      </p:sp>
      <p:sp>
        <p:nvSpPr>
          <p:cNvPr id="20" name="Rounded Rectangle 19"/>
          <p:cNvSpPr/>
          <p:nvPr/>
        </p:nvSpPr>
        <p:spPr>
          <a:xfrm>
            <a:off x="822960" y="4800600"/>
            <a:ext cx="10515600" cy="80467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77824" y="4946904"/>
            <a:ext cx="45720" cy="51206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4910328"/>
            <a:ext cx="10259568" cy="292608"/>
          </a:xfrm>
          <a:prstGeom prst="rect">
            <a:avLst/>
          </a:prstGeom>
          <a:noFill/>
        </p:spPr>
        <p:txBody>
          <a:bodyPr wrap="square" anchor="t" lIns="27432" rIns="27432" tIns="18288" bIns="18288">
            <a:spAutoFit/>
          </a:bodyPr>
          <a:lstStyle/>
          <a:p>
            <a:pPr algn="l"/>
            <a:r>
              <a:rPr sz="1200" b="1">
                <a:solidFill>
                  <a:srgbClr val="0F172A"/>
                </a:solidFill>
                <a:latin typeface="Aptos"/>
              </a:rPr>
              <a:t>safety teaching limit</a:t>
            </a:r>
          </a:p>
        </p:txBody>
      </p:sp>
      <p:sp>
        <p:nvSpPr>
          <p:cNvPr id="23" name="TextBox 22"/>
          <p:cNvSpPr txBox="1"/>
          <p:nvPr/>
        </p:nvSpPr>
        <p:spPr>
          <a:xfrm>
            <a:off x="987552" y="5239512"/>
            <a:ext cx="10259568" cy="274320"/>
          </a:xfrm>
          <a:prstGeom prst="rect">
            <a:avLst/>
          </a:prstGeom>
          <a:noFill/>
        </p:spPr>
        <p:txBody>
          <a:bodyPr wrap="square" anchor="t" lIns="27432" rIns="27432" tIns="18288" bIns="18288">
            <a:spAutoFit/>
          </a:bodyPr>
          <a:lstStyle/>
          <a:p>
            <a:pPr algn="l"/>
            <a:r>
              <a:rPr sz="850" b="0">
                <a:solidFill>
                  <a:srgbClr val="475569"/>
                </a:solidFill>
                <a:latin typeface="Aptos"/>
              </a:rPr>
              <a:t>Anticipatory guidance is a nursing action. Give it in plain terms and check what the parent heard.</a:t>
            </a:r>
          </a:p>
        </p:txBody>
      </p:sp>
      <p:sp>
        <p:nvSpPr>
          <p:cNvPr id="24" name="Rounded Rectangle 23"/>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Write two sentences of anticipatory guidance for the divorcing parents in the opening case.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RISK</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Risk: four parenting styles on two axes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sp>
        <p:nvSpPr>
          <p:cNvPr id="8" name="Rounded Rectangle 7"/>
          <p:cNvSpPr/>
          <p:nvPr/>
        </p:nvSpPr>
        <p:spPr>
          <a:xfrm>
            <a:off x="502920"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Uninvolved</a:t>
            </a:r>
          </a:p>
        </p:txBody>
      </p:sp>
      <p:sp>
        <p:nvSpPr>
          <p:cNvPr id="11" name="TextBox 10"/>
          <p:cNvSpPr txBox="1"/>
          <p:nvPr/>
        </p:nvSpPr>
        <p:spPr>
          <a:xfrm>
            <a:off x="667512"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Low warmth, low control. Poor outcomes in all domains.</a:t>
            </a:r>
          </a:p>
        </p:txBody>
      </p:sp>
      <p:sp>
        <p:nvSpPr>
          <p:cNvPr id="12" name="Rounded Rectangle 11"/>
          <p:cNvSpPr/>
          <p:nvPr/>
        </p:nvSpPr>
        <p:spPr>
          <a:xfrm>
            <a:off x="3340531"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5395"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Permissive</a:t>
            </a:r>
          </a:p>
        </p:txBody>
      </p:sp>
      <p:sp>
        <p:nvSpPr>
          <p:cNvPr id="15" name="TextBox 14"/>
          <p:cNvSpPr txBox="1"/>
          <p:nvPr/>
        </p:nvSpPr>
        <p:spPr>
          <a:xfrm>
            <a:off x="3505123"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High warmth, low control. Behavior problems, lower academics; higher self-esteem and social skills.</a:t>
            </a:r>
          </a:p>
        </p:txBody>
      </p:sp>
      <p:sp>
        <p:nvSpPr>
          <p:cNvPr id="16" name="Rounded Rectangle 15"/>
          <p:cNvSpPr/>
          <p:nvPr/>
        </p:nvSpPr>
        <p:spPr>
          <a:xfrm>
            <a:off x="6178143"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Authoritarian</a:t>
            </a:r>
          </a:p>
        </p:txBody>
      </p:sp>
      <p:sp>
        <p:nvSpPr>
          <p:cNvPr id="19" name="TextBox 18"/>
          <p:cNvSpPr txBox="1"/>
          <p:nvPr/>
        </p:nvSpPr>
        <p:spPr>
          <a:xfrm>
            <a:off x="6342735"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Low warmth, high control. Moderate academics; poorer social skills, lower self-esteem, more depression.</a:t>
            </a:r>
          </a:p>
        </p:txBody>
      </p:sp>
      <p:sp>
        <p:nvSpPr>
          <p:cNvPr id="20" name="Rounded Rectangle 19"/>
          <p:cNvSpPr/>
          <p:nvPr/>
        </p:nvSpPr>
        <p:spPr>
          <a:xfrm>
            <a:off x="9015755"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70619" y="1289304"/>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347"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Authoritative</a:t>
            </a:r>
          </a:p>
        </p:txBody>
      </p:sp>
      <p:sp>
        <p:nvSpPr>
          <p:cNvPr id="23" name="TextBox 22"/>
          <p:cNvSpPr txBox="1"/>
          <p:nvPr/>
        </p:nvSpPr>
        <p:spPr>
          <a:xfrm>
            <a:off x="9180347"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High warmth, high control, explains rationale. Best outcomes; lowest underage drinking risk.</a:t>
            </a:r>
          </a:p>
        </p:txBody>
      </p:sp>
      <p:sp>
        <p:nvSpPr>
          <p:cNvPr id="24" name="Rounded Rectangle 23"/>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Compare parenting styles by responsiveness and demandingness and their outcomes.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RISK</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Risk: what positive discipline looks like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200" b="1">
                <a:solidFill>
                  <a:srgbClr val="0F172A"/>
                </a:solidFill>
                <a:latin typeface="Aptos"/>
              </a:rPr>
              <a:t>1. set the guideline</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800" b="0">
                <a:solidFill>
                  <a:srgbClr val="475569"/>
                </a:solidFill>
                <a:latin typeface="Aptos"/>
              </a:rPr>
              <a:t>clear rule plus a warning</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200" b="1">
                <a:solidFill>
                  <a:srgbClr val="0F172A"/>
                </a:solidFill>
                <a:latin typeface="Aptos"/>
              </a:rPr>
              <a:t>2. name the consequence</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800" b="0">
                <a:solidFill>
                  <a:srgbClr val="475569"/>
                </a:solidFill>
                <a:latin typeface="Aptos"/>
              </a:rPr>
              <a:t>specific if-then that fits the behavior</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200" b="1">
                <a:solidFill>
                  <a:srgbClr val="0F172A"/>
                </a:solidFill>
                <a:latin typeface="Aptos"/>
              </a:rPr>
              <a:t>3. follow through</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800" b="0">
                <a:solidFill>
                  <a:srgbClr val="475569"/>
                </a:solidFill>
                <a:latin typeface="Aptos"/>
              </a:rPr>
              <a:t>immediately, calmly</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200" b="1">
                <a:solidFill>
                  <a:srgbClr val="0F172A"/>
                </a:solidFill>
                <a:latin typeface="Aptos"/>
              </a:rPr>
              <a:t>4. reinforce</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800" b="0">
                <a:solidFill>
                  <a:srgbClr val="475569"/>
                </a:solidFill>
                <a:latin typeface="Aptos"/>
              </a:rPr>
              <a:t>positive attention for the behavior you want</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200" b="1">
                <a:solidFill>
                  <a:srgbClr val="0F172A"/>
                </a:solidFill>
                <a:latin typeface="Aptos"/>
              </a:rPr>
              <a:t>5. teach the feeling</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800" b="0">
                <a:solidFill>
                  <a:srgbClr val="475569"/>
                </a:solidFill>
                <a:latin typeface="Aptos"/>
              </a:rPr>
              <a:t>after a tantrum, name the emotion and show an acceptable way to express it</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Accurate + plain + nonjudgmental beats technical + vague.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STRAIN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Strain: one member's illness reaches the whole family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4617720" y="1965960"/>
            <a:ext cx="2926080" cy="96012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28032" y="2212848"/>
            <a:ext cx="2514600" cy="411480"/>
          </a:xfrm>
          <a:prstGeom prst="rect">
            <a:avLst/>
          </a:prstGeom>
          <a:noFill/>
        </p:spPr>
        <p:txBody>
          <a:bodyPr wrap="square" anchor="ctr" lIns="27432" rIns="27432" tIns="18288" bIns="18288">
            <a:spAutoFit/>
          </a:bodyPr>
          <a:lstStyle/>
          <a:p>
            <a:pPr algn="ctr"/>
            <a:r>
              <a:rPr sz="1600" b="1">
                <a:solidFill>
                  <a:srgbClr val="FFFFFF"/>
                </a:solidFill>
                <a:latin typeface="Aptos"/>
              </a:rPr>
              <a:t>one member's illness</a:t>
            </a:r>
          </a:p>
        </p:txBody>
      </p:sp>
      <p:sp>
        <p:nvSpPr>
          <p:cNvPr id="10" name="Rounded Rectangle 9"/>
          <p:cNvSpPr/>
          <p:nvPr/>
        </p:nvSpPr>
        <p:spPr>
          <a:xfrm>
            <a:off x="731520" y="1143000"/>
            <a:ext cx="292608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128930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252728"/>
            <a:ext cx="2670048" cy="292608"/>
          </a:xfrm>
          <a:prstGeom prst="rect">
            <a:avLst/>
          </a:prstGeom>
          <a:noFill/>
        </p:spPr>
        <p:txBody>
          <a:bodyPr wrap="square" anchor="t" lIns="27432" rIns="27432" tIns="18288" bIns="18288">
            <a:spAutoFit/>
          </a:bodyPr>
          <a:lstStyle/>
          <a:p>
            <a:pPr algn="l"/>
            <a:r>
              <a:rPr sz="1200" b="1">
                <a:solidFill>
                  <a:srgbClr val="0F172A"/>
                </a:solidFill>
                <a:latin typeface="Aptos"/>
              </a:rPr>
              <a:t>parents</a:t>
            </a:r>
          </a:p>
        </p:txBody>
      </p:sp>
      <p:sp>
        <p:nvSpPr>
          <p:cNvPr id="13" name="TextBox 12"/>
          <p:cNvSpPr txBox="1"/>
          <p:nvPr/>
        </p:nvSpPr>
        <p:spPr>
          <a:xfrm>
            <a:off x="896112" y="1581912"/>
            <a:ext cx="2670048" cy="521207"/>
          </a:xfrm>
          <a:prstGeom prst="rect">
            <a:avLst/>
          </a:prstGeom>
          <a:noFill/>
        </p:spPr>
        <p:txBody>
          <a:bodyPr wrap="square" anchor="t" lIns="27432" rIns="27432" tIns="18288" bIns="18288">
            <a:spAutoFit/>
          </a:bodyPr>
          <a:lstStyle/>
          <a:p>
            <a:pPr algn="l"/>
            <a:r>
              <a:rPr sz="800" b="0">
                <a:solidFill>
                  <a:srgbClr val="475569"/>
                </a:solidFill>
                <a:latin typeface="Aptos"/>
              </a:rPr>
              <a:t>regimens, appointments, finances</a:t>
            </a:r>
          </a:p>
        </p:txBody>
      </p:sp>
      <p:cxnSp>
        <p:nvCxnSpPr>
          <p:cNvPr id="14" name="Connector 13"/>
          <p:cNvCxnSpPr/>
          <p:nvPr/>
        </p:nvCxnSpPr>
        <p:spPr>
          <a:xfrm>
            <a:off x="3657600" y="1673352"/>
            <a:ext cx="960120" cy="777240"/>
          </a:xfrm>
          <a:prstGeom prst="line">
            <a:avLst/>
          </a:prstGeom>
          <a:ln w="16510">
            <a:solidFill>
              <a:srgbClr val="D7DF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03920" y="1143000"/>
            <a:ext cx="292608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58784" y="1289304"/>
            <a:ext cx="45720" cy="75895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68512" y="1252728"/>
            <a:ext cx="2670048" cy="292608"/>
          </a:xfrm>
          <a:prstGeom prst="rect">
            <a:avLst/>
          </a:prstGeom>
          <a:noFill/>
        </p:spPr>
        <p:txBody>
          <a:bodyPr wrap="square" anchor="t" lIns="27432" rIns="27432" tIns="18288" bIns="18288">
            <a:spAutoFit/>
          </a:bodyPr>
          <a:lstStyle/>
          <a:p>
            <a:pPr algn="l"/>
            <a:r>
              <a:rPr sz="1200" b="1">
                <a:solidFill>
                  <a:srgbClr val="0F172A"/>
                </a:solidFill>
                <a:latin typeface="Aptos"/>
              </a:rPr>
              <a:t>siblings</a:t>
            </a:r>
          </a:p>
        </p:txBody>
      </p:sp>
      <p:sp>
        <p:nvSpPr>
          <p:cNvPr id="18" name="TextBox 17"/>
          <p:cNvSpPr txBox="1"/>
          <p:nvPr/>
        </p:nvSpPr>
        <p:spPr>
          <a:xfrm>
            <a:off x="8668512" y="1581912"/>
            <a:ext cx="2670048" cy="521207"/>
          </a:xfrm>
          <a:prstGeom prst="rect">
            <a:avLst/>
          </a:prstGeom>
          <a:noFill/>
        </p:spPr>
        <p:txBody>
          <a:bodyPr wrap="square" anchor="t" lIns="27432" rIns="27432" tIns="18288" bIns="18288">
            <a:spAutoFit/>
          </a:bodyPr>
          <a:lstStyle/>
          <a:p>
            <a:pPr algn="l"/>
            <a:r>
              <a:rPr sz="800" b="0">
                <a:solidFill>
                  <a:srgbClr val="475569"/>
                </a:solidFill>
                <a:latin typeface="Aptos"/>
              </a:rPr>
              <a:t>feel unvalued; lost-child role</a:t>
            </a:r>
          </a:p>
        </p:txBody>
      </p:sp>
      <p:cxnSp>
        <p:nvCxnSpPr>
          <p:cNvPr id="19" name="Connector 18"/>
          <p:cNvCxnSpPr/>
          <p:nvPr/>
        </p:nvCxnSpPr>
        <p:spPr>
          <a:xfrm flipH="1">
            <a:off x="7543800" y="1673352"/>
            <a:ext cx="960120" cy="777240"/>
          </a:xfrm>
          <a:prstGeom prst="line">
            <a:avLst/>
          </a:prstGeom>
          <a:ln w="16510">
            <a:solidFill>
              <a:srgbClr val="D7DFEA"/>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1520" y="3977639"/>
            <a:ext cx="292608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 y="4123944"/>
            <a:ext cx="45720" cy="75895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4087368"/>
            <a:ext cx="2670048" cy="292608"/>
          </a:xfrm>
          <a:prstGeom prst="rect">
            <a:avLst/>
          </a:prstGeom>
          <a:noFill/>
        </p:spPr>
        <p:txBody>
          <a:bodyPr wrap="square" anchor="t" lIns="27432" rIns="27432" tIns="18288" bIns="18288">
            <a:spAutoFit/>
          </a:bodyPr>
          <a:lstStyle/>
          <a:p>
            <a:pPr algn="l"/>
            <a:r>
              <a:rPr sz="1200" b="1">
                <a:solidFill>
                  <a:srgbClr val="0F172A"/>
                </a:solidFill>
                <a:latin typeface="Aptos"/>
              </a:rPr>
              <a:t>family caregivers</a:t>
            </a:r>
          </a:p>
        </p:txBody>
      </p:sp>
      <p:sp>
        <p:nvSpPr>
          <p:cNvPr id="23" name="TextBox 22"/>
          <p:cNvSpPr txBox="1"/>
          <p:nvPr/>
        </p:nvSpPr>
        <p:spPr>
          <a:xfrm>
            <a:off x="896112" y="4416552"/>
            <a:ext cx="2670048" cy="521207"/>
          </a:xfrm>
          <a:prstGeom prst="rect">
            <a:avLst/>
          </a:prstGeom>
          <a:noFill/>
        </p:spPr>
        <p:txBody>
          <a:bodyPr wrap="square" anchor="t" lIns="27432" rIns="27432" tIns="18288" bIns="18288">
            <a:spAutoFit/>
          </a:bodyPr>
          <a:lstStyle/>
          <a:p>
            <a:pPr algn="l"/>
            <a:r>
              <a:rPr sz="800" b="0">
                <a:solidFill>
                  <a:srgbClr val="475569"/>
                </a:solidFill>
                <a:latin typeface="Aptos"/>
              </a:rPr>
              <a:t>ADLs, bills, shopping, transport, emotional support; strain rises with need</a:t>
            </a:r>
          </a:p>
        </p:txBody>
      </p:sp>
      <p:cxnSp>
        <p:nvCxnSpPr>
          <p:cNvPr id="24" name="Connector 23"/>
          <p:cNvCxnSpPr/>
          <p:nvPr/>
        </p:nvCxnSpPr>
        <p:spPr>
          <a:xfrm flipV="1">
            <a:off x="3657600" y="2450592"/>
            <a:ext cx="960120" cy="2057400"/>
          </a:xfrm>
          <a:prstGeom prst="line">
            <a:avLst/>
          </a:prstGeom>
          <a:ln w="16510">
            <a:solidFill>
              <a:srgbClr val="D7DFEA"/>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503920" y="3977639"/>
            <a:ext cx="292608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58784" y="4123944"/>
            <a:ext cx="45720" cy="758951"/>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68512" y="4087368"/>
            <a:ext cx="2670048" cy="292608"/>
          </a:xfrm>
          <a:prstGeom prst="rect">
            <a:avLst/>
          </a:prstGeom>
          <a:noFill/>
        </p:spPr>
        <p:txBody>
          <a:bodyPr wrap="square" anchor="t" lIns="27432" rIns="27432" tIns="18288" bIns="18288">
            <a:spAutoFit/>
          </a:bodyPr>
          <a:lstStyle/>
          <a:p>
            <a:pPr algn="l"/>
            <a:r>
              <a:rPr sz="1200" b="1">
                <a:solidFill>
                  <a:srgbClr val="0F172A"/>
                </a:solidFill>
                <a:latin typeface="Aptos"/>
              </a:rPr>
              <a:t>family with SUD</a:t>
            </a:r>
          </a:p>
        </p:txBody>
      </p:sp>
      <p:sp>
        <p:nvSpPr>
          <p:cNvPr id="28" name="TextBox 27"/>
          <p:cNvSpPr txBox="1"/>
          <p:nvPr/>
        </p:nvSpPr>
        <p:spPr>
          <a:xfrm>
            <a:off x="8668512" y="4416552"/>
            <a:ext cx="2670048" cy="521207"/>
          </a:xfrm>
          <a:prstGeom prst="rect">
            <a:avLst/>
          </a:prstGeom>
          <a:noFill/>
        </p:spPr>
        <p:txBody>
          <a:bodyPr wrap="square" anchor="t" lIns="27432" rIns="27432" tIns="18288" bIns="18288">
            <a:spAutoFit/>
          </a:bodyPr>
          <a:lstStyle/>
          <a:p>
            <a:pPr algn="l"/>
            <a:r>
              <a:rPr sz="800" b="0">
                <a:solidFill>
                  <a:srgbClr val="475569"/>
                </a:solidFill>
                <a:latin typeface="Aptos"/>
              </a:rPr>
              <a:t>enabling, ignoring, financial drain</a:t>
            </a:r>
          </a:p>
        </p:txBody>
      </p:sp>
      <p:cxnSp>
        <p:nvCxnSpPr>
          <p:cNvPr id="29" name="Connector 28"/>
          <p:cNvCxnSpPr/>
          <p:nvPr/>
        </p:nvCxnSpPr>
        <p:spPr>
          <a:xfrm flipH="1" flipV="1">
            <a:off x="7543800" y="2450592"/>
            <a:ext cx="960120" cy="2057400"/>
          </a:xfrm>
          <a:prstGeom prst="line">
            <a:avLst/>
          </a:prstGeom>
          <a:ln w="16510">
            <a:solidFill>
              <a:srgbClr val="D7DFEA"/>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Control systems explain timing, symptoms, and safe teaching.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STRAIN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Strain: caregiver role strain and what the nurse offers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Stress signs</a:t>
            </a:r>
          </a:p>
        </p:txBody>
      </p:sp>
      <p:sp>
        <p:nvSpPr>
          <p:cNvPr id="11" name="TextBox 10"/>
          <p:cNvSpPr txBox="1"/>
          <p:nvPr/>
        </p:nvSpPr>
        <p:spPr>
          <a:xfrm>
            <a:off x="667512"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anger, withdrawal, anxiety, depression, exhaustion, sleeplessness, irritability, new illness</a:t>
            </a:r>
          </a:p>
        </p:txBody>
      </p:sp>
      <p:sp>
        <p:nvSpPr>
          <p:cNvPr id="12" name="Rounded Rectangle 11"/>
          <p:cNvSpPr/>
          <p:nvPr/>
        </p:nvSpPr>
        <p:spPr>
          <a:xfrm>
            <a:off x="3340531"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5395"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Resources</a:t>
            </a:r>
          </a:p>
        </p:txBody>
      </p:sp>
      <p:sp>
        <p:nvSpPr>
          <p:cNvPr id="15" name="TextBox 14"/>
          <p:cNvSpPr txBox="1"/>
          <p:nvPr/>
        </p:nvSpPr>
        <p:spPr>
          <a:xfrm>
            <a:off x="3505123"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day care, respite, residential or palliative care; Al-Anon, Nar-Anon, Sibshop; family therapy</a:t>
            </a:r>
          </a:p>
        </p:txBody>
      </p:sp>
      <p:sp>
        <p:nvSpPr>
          <p:cNvPr id="16" name="Rounded Rectangle 15"/>
          <p:cNvSpPr/>
          <p:nvPr/>
        </p:nvSpPr>
        <p:spPr>
          <a:xfrm>
            <a:off x="6178143"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Self-care teaching</a:t>
            </a:r>
          </a:p>
        </p:txBody>
      </p:sp>
      <p:sp>
        <p:nvSpPr>
          <p:cNvPr id="19" name="TextBox 18"/>
          <p:cNvSpPr txBox="1"/>
          <p:nvPr/>
        </p:nvSpPr>
        <p:spPr>
          <a:xfrm>
            <a:off x="6342735"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provider visits, nutrition, exercise, rest; relaxation breathing, visualization, meditation</a:t>
            </a:r>
          </a:p>
        </p:txBody>
      </p:sp>
      <p:sp>
        <p:nvSpPr>
          <p:cNvPr id="20" name="Rounded Rectangle 19"/>
          <p:cNvSpPr/>
          <p:nvPr/>
        </p:nvSpPr>
        <p:spPr>
          <a:xfrm>
            <a:off x="9015755"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70619" y="1289304"/>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347"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Family-centered care</a:t>
            </a:r>
          </a:p>
        </p:txBody>
      </p:sp>
      <p:sp>
        <p:nvSpPr>
          <p:cNvPr id="23" name="TextBox 22"/>
          <p:cNvSpPr txBox="1"/>
          <p:nvPr/>
        </p:nvSpPr>
        <p:spPr>
          <a:xfrm>
            <a:off x="9180347"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respect and dignity; collaboration; empowerment; information sharing</a:t>
            </a:r>
          </a:p>
        </p:txBody>
      </p:sp>
      <p:sp>
        <p:nvSpPr>
          <p:cNvPr id="24" name="Rounded Rectangle 23"/>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Recognize caregiver stress signs and match them to resources and self-care teaching.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ACTION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Action: the nursing process is the clinical judgment model</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cxnSp>
        <p:nvCxnSpPr>
          <p:cNvPr id="8" name="Connector 7"/>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1" name="TextBox 10"/>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Recognize Cues</a:t>
            </a:r>
          </a:p>
        </p:txBody>
      </p:sp>
      <p:sp>
        <p:nvSpPr>
          <p:cNvPr id="12" name="TextBox 11"/>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cultural safety and privacy first; who decides; general survey of client and family</a:t>
            </a:r>
          </a:p>
        </p:txBody>
      </p:sp>
      <p:sp>
        <p:nvSpPr>
          <p:cNvPr id="13" name="Rounded Rectangle 12"/>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5" name="TextBox 14"/>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Analyze Cues</a:t>
            </a:r>
          </a:p>
        </p:txBody>
      </p:sp>
      <p:sp>
        <p:nvSpPr>
          <p:cNvPr id="16" name="TextBox 15"/>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nursing diagnoses related to family processes, parenting, caregiving</a:t>
            </a:r>
          </a:p>
        </p:txBody>
      </p:sp>
      <p:sp>
        <p:nvSpPr>
          <p:cNvPr id="17" name="Rounded Rectangle 16"/>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9" name="TextBox 18"/>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Generate Solutions</a:t>
            </a:r>
          </a:p>
        </p:txBody>
      </p:sp>
      <p:sp>
        <p:nvSpPr>
          <p:cNvPr id="20" name="TextBox 19"/>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collaborative, SMART, in the family's values and culture</a:t>
            </a:r>
          </a:p>
        </p:txBody>
      </p:sp>
      <p:sp>
        <p:nvSpPr>
          <p:cNvPr id="21" name="Rounded Rectangle 20"/>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3" name="TextBox 22"/>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Take Action</a:t>
            </a:r>
          </a:p>
        </p:txBody>
      </p:sp>
      <p:sp>
        <p:nvSpPr>
          <p:cNvPr id="24" name="TextBox 23"/>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reprioritize; focused assessments; interventions</a:t>
            </a:r>
          </a:p>
        </p:txBody>
      </p:sp>
      <p:sp>
        <p:nvSpPr>
          <p:cNvPr id="25" name="Rounded Rectangle 24"/>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7" name="TextBox 26"/>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 Outcomes</a:t>
            </a:r>
          </a:p>
        </p:txBody>
      </p:sp>
      <p:sp>
        <p:nvSpPr>
          <p:cNvPr id="28" name="TextBox 27"/>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diagnosis accurate? goals met? keep, modify, delete</a:t>
            </a:r>
          </a:p>
        </p:txBody>
      </p:sp>
      <p:sp>
        <p:nvSpPr>
          <p:cNvPr id="29" name="Rounded Rectangle 28"/>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ACTION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Action: assess the family without losing the client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The 8-year-old from the opening case. Mother present. Parents divorcing. The nurse is about to take the family history.</a:t>
            </a:r>
          </a:p>
        </p:txBody>
      </p:sp>
      <p:sp>
        <p:nvSpPr>
          <p:cNvPr id="12" name="Rounded Rectangle 11"/>
          <p:cNvSpPr/>
          <p:nvPr/>
        </p:nvSpPr>
        <p:spPr>
          <a:xfrm>
            <a:off x="502920" y="20574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3362858"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3362858" cy="704088"/>
          </a:xfrm>
          <a:prstGeom prst="rect">
            <a:avLst/>
          </a:prstGeom>
          <a:noFill/>
        </p:spPr>
        <p:txBody>
          <a:bodyPr wrap="square" anchor="t" lIns="27432" rIns="27432" tIns="18288" bIns="18288">
            <a:spAutoFit/>
          </a:bodyPr>
          <a:lstStyle/>
          <a:p>
            <a:pPr algn="l"/>
            <a:r>
              <a:rPr sz="800" b="0">
                <a:solidFill>
                  <a:srgbClr val="475569"/>
                </a:solidFill>
                <a:latin typeface="Aptos"/>
              </a:rPr>
              <a:t>- Minor: parent decides; autonomy still advocated
- Survey hygiene, affect, communication, nutrition
- What does the family know, and how do they respond?
- Supports: respite, community, other family</a:t>
            </a:r>
          </a:p>
        </p:txBody>
      </p:sp>
      <p:sp>
        <p:nvSpPr>
          <p:cNvPr id="16" name="Rounded Rectangle 15"/>
          <p:cNvSpPr/>
          <p:nvPr/>
        </p:nvSpPr>
        <p:spPr>
          <a:xfrm>
            <a:off x="4286402" y="20574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1266"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0994" y="2167128"/>
            <a:ext cx="3362858"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4450994" y="2496312"/>
            <a:ext cx="3362858" cy="704088"/>
          </a:xfrm>
          <a:prstGeom prst="rect">
            <a:avLst/>
          </a:prstGeom>
          <a:noFill/>
        </p:spPr>
        <p:txBody>
          <a:bodyPr wrap="square" anchor="t" lIns="27432" rIns="27432" tIns="18288" bIns="18288">
            <a:spAutoFit/>
          </a:bodyPr>
          <a:lstStyle/>
          <a:p>
            <a:pPr algn="l"/>
            <a:r>
              <a:rPr sz="800" b="0">
                <a:solidFill>
                  <a:srgbClr val="475569"/>
                </a:solidFill>
                <a:latin typeface="Aptos"/>
              </a:rPr>
              <a:t>Put the steps in order and say which one protects the client.</a:t>
            </a:r>
          </a:p>
        </p:txBody>
      </p:sp>
      <p:sp>
        <p:nvSpPr>
          <p:cNvPr id="20" name="Rounded Rectangle 19"/>
          <p:cNvSpPr/>
          <p:nvPr/>
        </p:nvSpPr>
        <p:spPr>
          <a:xfrm>
            <a:off x="8069884" y="20574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24748" y="2203704"/>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4476" y="2167128"/>
            <a:ext cx="3362858" cy="292608"/>
          </a:xfrm>
          <a:prstGeom prst="rect">
            <a:avLst/>
          </a:prstGeom>
          <a:noFill/>
        </p:spPr>
        <p:txBody>
          <a:bodyPr wrap="square" anchor="t" lIns="27432" rIns="27432" tIns="18288" bIns="18288">
            <a:spAutoFit/>
          </a:bodyPr>
          <a:lstStyle/>
          <a:p>
            <a:pPr algn="l"/>
            <a:r>
              <a:rPr sz="1200" b="1">
                <a:solidFill>
                  <a:srgbClr val="0F172A"/>
                </a:solidFill>
                <a:latin typeface="Aptos"/>
              </a:rPr>
              <a:t>consider</a:t>
            </a:r>
          </a:p>
        </p:txBody>
      </p:sp>
      <p:sp>
        <p:nvSpPr>
          <p:cNvPr id="23" name="TextBox 22"/>
          <p:cNvSpPr txBox="1"/>
          <p:nvPr/>
        </p:nvSpPr>
        <p:spPr>
          <a:xfrm>
            <a:off x="8234476" y="2496312"/>
            <a:ext cx="3362858" cy="704088"/>
          </a:xfrm>
          <a:prstGeom prst="rect">
            <a:avLst/>
          </a:prstGeom>
          <a:noFill/>
        </p:spPr>
        <p:txBody>
          <a:bodyPr wrap="square" anchor="t" lIns="27432" rIns="27432" tIns="18288" bIns="18288">
            <a:spAutoFit/>
          </a:bodyPr>
          <a:lstStyle/>
          <a:p>
            <a:pPr algn="l"/>
            <a:r>
              <a:rPr sz="800" b="0">
                <a:solidFill>
                  <a:srgbClr val="475569"/>
                </a:solidFill>
                <a:latin typeface="Aptos"/>
              </a:rPr>
              <a:t>- Ask the client privately who they want present
- General survey of client and family
- Hostile or disrespectful interaction is a cue to act on</a:t>
            </a:r>
          </a:p>
        </p:txBody>
      </p:sp>
      <p:sp>
        <p:nvSpPr>
          <p:cNvPr id="24" name="Rounded Rectangle 23"/>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Which single step must happen before any family member is interviewed?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ACTION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Action: sort the cues by what the nurse does next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 to sort</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asks whether spanking is acceptable
- bruises in different stages of healing, inconsistent explanation
- sleeplessness, irritability, dread about the future
- hostility and contempt toward the child during the survey</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response ladder: most to least urgent</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mandated report per state law and agency policy
- notify provider; social work or case management referral
- caregiver role strain: resources and self-care teaching
- teaching moment: positive discipline</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Order the four cues from most to least urgent nursing action.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STRAIN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 the caregiver in the waiting room</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An adult daughter caring for her father with dementia says she has not slept properly in weeks, snaps at him, and 'cannot see how this ends.' What is the nurse's best response?</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Reassure her that all caregivers feel this way and it will pass</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Suggest she try harder to keep a routine at home</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Identify caregiver role strain and offer respite care and support-group information</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Tell her that her father would be safer in a residential facility</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Select 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ACTION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the abdominal pain case, resolved</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S18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During the family history the mother says, in front of the child, that the pain started when his father left and that it is his fault for upsetting everyone.</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nurse's priority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Correct the mother immediately in front of the child so the child hears it is not their fault</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Speak with the child privately, then address the parent's statement and involve social work per policy</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the statement and continue the physical assessment</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File a mandated report for emotional abuse before doing anything else</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Select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five-item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S19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Name the five family functions</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State the one test that separates healthy from unhealthy dynamics</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Why does the number of ACEs matter more than which one?</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Name three caregiver stress signs</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What must the nurse do before interviewing any family member?</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five.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 what the nurse notices, and what the nurse does first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20</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S20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Notice</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roles, functions, interaction patterns, caregiver strain</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Sort</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mandated report, provider and social work referral, resources, teaching</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Protect</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privacy first; ask the client who they want present</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Teach</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protective factors, positive discipline, caregiver self-care</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A safe nurse assesses the family as part of the client, sorts cues by required action, and teaches what protects.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