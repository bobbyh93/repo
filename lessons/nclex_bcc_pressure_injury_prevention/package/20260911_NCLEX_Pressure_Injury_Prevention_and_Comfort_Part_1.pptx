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Pressure Injury Prevention and Comfort. The concept underneath it is mobility and skin integrity, and the module rates its safety risk elevated — below the top rating, but high enough to be singled out from everything else in its category. Here is the whole lesson in one sentence. Identify individual pressure-injury risks and combine repositioning, surface selection, moisture management, nutrition, and skin reassessment. By the end you should be able to do three things: identify modifiable pressure-injury risks; select individualized prevention interventions; and evaluate skin response and update the plan. We get there in three moves, and then spend the second half putting all of them against patient cues, because knowing this and doing it at the bedside are not the same skill.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a cue rather than a definition, because that is the order the unit gives you: the patient arrives first and the explanation catches up later. Here it is. An immobile patient slides down repeatedly in bed. Decide now, before any of this is taught, what you would do and why that thing first. Write it somewhere you will still be able to read at the end, because this exact cue comes back as the first assessment item. Comparing the two answers is most of what the rest of this session is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that follows answers one question. Identify individual pressure-injury risks and combine repositioning, surface selection, moisture management, nutrition, and skin reassessment. Keep that sentence in view for the rest of the session. When a slide stops making sense it is almost always because you have lost which part of this sentence it is working on, and naming the part is the fastest way back. The lesson takes the question in three moves — risk assessment, then prevention bundle, then evaluate — and then asks you to apply all of them to cues you have not seen.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first, detail second. The lanes on the left are the lesson's teaching moves, in the order a nurse actually performs them; apply and evaluate on the right are where you are made to use them. The reason to show this before teaching any of it is orientation: every cue you meet today sits in one of these lanes, and knowing which lane a cue belongs to usually tells you what to do with it before you can explain why. When you get stuck later, come back to this slide rather than to the last one you read.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before any of this is taught. These three headings are the whole lesson in order, but they are shuffled on the slide. Put them in the sequence the nurse actually performs them at the bedside, then compare with a neighbour before the reveal. Getting the order wrong here is more useful than getting it right: it shows you which move you would have skipped under pressure.</a:t>
            </a:r>
          </a:p>
          <a:p/>
          <a:p>
            <a:r>
              <a:t>ANSWER KEY:</a:t>
            </a:r>
          </a:p>
          <a:p>
            <a:r>
              <a:t>- Risk assessment</a:t>
            </a:r>
          </a:p>
          <a:p>
            <a:r>
              <a:t>- Prevention bundle</a:t>
            </a:r>
          </a:p>
          <a:p>
            <a:r>
              <a:t>- Evaluate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assessment. Assess mobility, sensation, moisture, perfusion, nutrition, friction, shear, devices, and current skin findings. This is the first of the three, and the two after it assume it. What you get wrong here does not stay here; it propagates quietly into every decision the rest of the lesson asks you to make. Do not move on until you can say this part back without the slide. The test is the objective: if you can identify modifiable pressure-injury risks, this lane has done its job, and if you cannot, nothing later in the lesson will fix it — it will only hide it.</a:t>
            </a:r>
          </a:p>
          <a:p/>
          <a:p>
            <a:r>
              <a:t>VISUAL NOTES: Section 1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Prevention bundle. Use individualized repositioning, pressure redistribution, heel off-loading, moisture protection, nutrition support, and device checks. This is the middle move, and it is where most of the disagreement in this lesson will sit: the point at which a defensible action and the priority action stop being the same answer. Do not move on until you can say this part back without the slide. The test is the objective: if you can select individualized prevention interventions, this lane has done its job, and if you cannot, nothing later in the lesson will fix it — it will only hide it.</a:t>
            </a:r>
          </a:p>
          <a:p/>
          <a:p>
            <a:r>
              <a:t>VISUAL NOTES: Section 2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Evaluate. Inspect high-risk areas and device contact points, document changes, and revise the prevention plan when skin tolerance worsens. This is the last of the three, and it is the one most often left implicit -- the step learners can describe accurately and then do not actually perform when the first two have gone well. Say it out loud; that is how it survives contact with a busy shift. Do not move on until you can say this part back without the slide. The test is the objective: if you can evaluate skin response and update the plan, this lane has done its job, and if you cannot, nothing later in the lesson will fix it — it will only hide it.</a:t>
            </a:r>
          </a:p>
          <a:p/>
          <a:p>
            <a:r>
              <a:t>VISUAL NOTES: Section 3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in pairs, four minutes. Every cue on the left was written for one of the lesson moves on the right; your job is to say which, and to be able to defend one of the four out loud. Where the two of you match a cue differently, stop and stay there — you have found a cue whose lane is genuinely arguable, and those are worth more than the three you agreed on instantly. Bring one disagreement to the debrief.</a:t>
            </a:r>
          </a:p>
          <a:p/>
          <a:p>
            <a:r>
              <a:t>ANSWER KEY:</a:t>
            </a:r>
          </a:p>
          <a:p>
            <a:r>
              <a:t>- A relates to: Risk assessment</a:t>
            </a:r>
          </a:p>
          <a:p>
            <a:r>
              <a:t>- B relates to: Prevention bundle</a:t>
            </a:r>
          </a:p>
          <a:p>
            <a:r>
              <a:t>- C relates to: Evaluate</a:t>
            </a:r>
          </a:p>
          <a:p>
            <a:r>
              <a:t>- D relates to: Evaluate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four rationales as a set rather than one at a time. They are deliberately repetitive: the same habit of mind is showing up behind four different cues, and that repetition is the teaching point rather than an accident of writing. A learner who memorises four rules will meet a fifth cue and stall. A learner who can name the one habit will handle cues this lesson never showed them. Say the habit out loud in your own words before you leave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and it targets the middle of the lesson. The cue is: Moisture is trapped against the sacral skin. Read all four options and commit to one before the reveal, because the value of a checkpoint is in being wrong out loud rather than quietly. The reasoning you are being tested on is this: Persistent moisture weakens the skin barrier and increases injury risk.</a:t>
            </a:r>
          </a:p>
          <a:p/>
          <a:p>
            <a:r>
              <a:t>CORRECT: C</a:t>
            </a:r>
          </a:p>
          <a:p>
            <a:r>
              <a:t>RATIONALE: Persistent moisture weakens the skin barrier and increases injury risk.</a:t>
            </a:r>
          </a:p>
          <a:p/>
          <a:p>
            <a:r>
              <a:t>ANSWER KEY:</a:t>
            </a:r>
          </a:p>
          <a:p>
            <a:r>
              <a:t>- C. Cleanse gently, manage the moisture source, and apply an appropriate moisture barrier.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bedside moment, and this time you write rather than choose. The situation: A medical device rests tightly against the patient's skin. Write two sentences before the debrief: one naming what you assess, one naming what you do about it. Keep them in that order, because the order is the judgement. The keyed reasoning is: Medical devices can concentrate pressure and conceal evolving injury.</a:t>
            </a:r>
          </a:p>
          <a:p/>
          <a:p>
            <a:r>
              <a:t>ANSWER KEY:</a:t>
            </a:r>
          </a:p>
          <a:p>
            <a:r>
              <a:t>- Inspect beneath and around the device and relieve avoidable pressure.</a:t>
            </a:r>
          </a:p>
          <a:p>
            <a:r>
              <a:t>- Medical devices can concentrate pressure and conceal evolving injury.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and the sorting rule is the point of the slide. Put a cue on the left when delay changes the outcome for the patient, and on the right when the correct action is verification, planning or teaching that a short delay does not worsen. Justify one of your placements aloud. Learners who can sort these reliably are the ones who prioritise well under load.</a:t>
            </a:r>
          </a:p>
          <a:p/>
          <a:p>
            <a:r>
              <a:t>ANSWER KEY:</a:t>
            </a:r>
          </a:p>
          <a:p>
            <a:r>
              <a:t>- Act now: the cues whose keyed action is immediate</a:t>
            </a:r>
          </a:p>
          <a:p>
            <a:r>
              <a:t>- Act in sequence: the cues whose keyed action is verification or planning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 turned into something you can write down. The module asks you to be able to fill every one of these fields for any patient in this situation, and the value is in the blanks: a field you cannot complete is not a documentation gap, it is an assessment you have not done yet. Fill them now for the mini-case patient, and notice which field you reach for last — that one is your weak lane.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question, and the hardest cue the topic carries: A high-risk area shows a new persistent color change. All four options are things a nurse might plausibly do, which is what makes it a capstone rather than a checkpoint. Choose the priority action, not merely a defensible one. The reasoning that separates them: Early recognition and pressure relief help prevent progression.</a:t>
            </a:r>
          </a:p>
          <a:p/>
          <a:p>
            <a:r>
              <a:t>CORRECT: B</a:t>
            </a:r>
          </a:p>
          <a:p>
            <a:r>
              <a:t>RATIONALE: Early recognition and pressure relief help prevent progression.</a:t>
            </a:r>
          </a:p>
          <a:p/>
          <a:p>
            <a:r>
              <a:t>ANSWER KEY:</a:t>
            </a:r>
          </a:p>
          <a:p>
            <a:r>
              <a:t>- B. Relieve pressure, reassess the area, document the finding, and escalate per policy.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with no notes. Answer each of these aloud or on paper, one per lane of the lesson. The answers are on the slides you have just seen and in the facilitator guide, so this is retrieval rather than assessment. If any one of them produces silence across the room, that is the lane to re-teach before this cohort meets the situation on a real unit.</a:t>
            </a:r>
          </a:p>
          <a:p/>
          <a:p>
            <a:r>
              <a:t>ANSWER KEY:</a:t>
            </a:r>
          </a:p>
          <a:p>
            <a:r>
              <a:t>- Prevention is individualized.</a:t>
            </a:r>
          </a:p>
          <a:p>
            <a:r>
              <a:t>- Avoid friction and shear.</a:t>
            </a:r>
          </a:p>
          <a:p>
            <a:r>
              <a:t>- Check beneath devices.</a:t>
            </a:r>
          </a:p>
          <a:p>
            <a:r>
              <a:t>- Escalate new nonblanching or worsening skin changes.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where we opened. The question was: Identify individual pressure-injury risks and combine repositioning, surface selection, moisture management, nutrition, and skin reassessment. The lines on this slide are the module's own answer, and they are what should still be there in a week when the detail has gone. If you keep one, keep the first: Prevention is individualized. Everything else here is that sentence applied to a different cue. Go back now to what you wrote at the opening case and see whether you would still do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02920" y="457200"/>
            <a:ext cx="2194560" cy="182880"/>
          </a:xfrm>
          <a:prstGeom prst="rect">
            <a:avLst/>
          </a:prstGeom>
          <a:noFill/>
        </p:spPr>
        <p:txBody>
          <a:bodyPr wrap="square" anchor="t" lIns="27432" rIns="27432" tIns="18288" bIns="18288">
            <a:spAutoFit/>
          </a:bodyPr>
          <a:lstStyle/>
          <a:p>
            <a:pPr algn="l"/>
            <a:r>
              <a:rPr sz="720" b="1">
                <a:solidFill>
                  <a:srgbClr val="2563EB"/>
                </a:solidFill>
                <a:latin typeface="Aptos"/>
              </a:rPr>
              <a:t>OPEN</a:t>
            </a:r>
          </a:p>
        </p:txBody>
      </p:sp>
      <p:sp>
        <p:nvSpPr>
          <p:cNvPr id="3" name="TextBox 2"/>
          <p:cNvSpPr txBox="1"/>
          <p:nvPr/>
        </p:nvSpPr>
        <p:spPr>
          <a:xfrm>
            <a:off x="502920" y="822960"/>
            <a:ext cx="7498079" cy="548640"/>
          </a:xfrm>
          <a:prstGeom prst="rect">
            <a:avLst/>
          </a:prstGeom>
          <a:noFill/>
        </p:spPr>
        <p:txBody>
          <a:bodyPr wrap="square" anchor="t" lIns="27432" rIns="27432" tIns="18288" bIns="18288">
            <a:spAutoFit/>
          </a:bodyPr>
          <a:lstStyle/>
          <a:p>
            <a:pPr algn="l"/>
            <a:r>
              <a:rPr sz="2800" b="1">
                <a:solidFill>
                  <a:srgbClr val="0F172A"/>
                </a:solidFill>
                <a:latin typeface="Aptos"/>
              </a:rPr>
              <a:t>Pressure Injury Prevention and Comfort</a:t>
            </a:r>
          </a:p>
        </p:txBody>
      </p:sp>
      <p:sp>
        <p:nvSpPr>
          <p:cNvPr id="4" name="TextBox 3"/>
          <p:cNvSpPr txBox="1"/>
          <p:nvPr/>
        </p:nvSpPr>
        <p:spPr>
          <a:xfrm>
            <a:off x="530352" y="1463040"/>
            <a:ext cx="7589520" cy="438912"/>
          </a:xfrm>
          <a:prstGeom prst="rect">
            <a:avLst/>
          </a:prstGeom>
          <a:noFill/>
        </p:spPr>
        <p:txBody>
          <a:bodyPr wrap="square" anchor="t" lIns="27432" rIns="27432" tIns="18288" bIns="18288">
            <a:spAutoFit/>
          </a:bodyPr>
          <a:lstStyle/>
          <a:p>
            <a:pPr algn="l"/>
            <a:r>
              <a:rPr sz="1200" b="0">
                <a:solidFill>
                  <a:srgbClr val="475569"/>
                </a:solidFill>
                <a:latin typeface="Aptos"/>
              </a:rPr>
              <a:t>NCLEX  ·  Basic Care and Comfort  ·  Pressure_Injury_Prevention_and_Comfort</a:t>
            </a:r>
          </a:p>
        </p:txBody>
      </p:sp>
      <p:sp>
        <p:nvSpPr>
          <p:cNvPr id="5" name="Rounded Rectangle 4"/>
          <p:cNvSpPr/>
          <p:nvPr/>
        </p:nvSpPr>
        <p:spPr>
          <a:xfrm>
            <a:off x="502920" y="2331720"/>
            <a:ext cx="5303520" cy="10515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7784" y="2478024"/>
            <a:ext cx="45720" cy="758951"/>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44144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clinical question</a:t>
            </a:r>
          </a:p>
        </p:txBody>
      </p:sp>
      <p:sp>
        <p:nvSpPr>
          <p:cNvPr id="8" name="TextBox 7"/>
          <p:cNvSpPr txBox="1"/>
          <p:nvPr/>
        </p:nvSpPr>
        <p:spPr>
          <a:xfrm>
            <a:off x="667512" y="2770632"/>
            <a:ext cx="5047488" cy="521207"/>
          </a:xfrm>
          <a:prstGeom prst="rect">
            <a:avLst/>
          </a:prstGeom>
          <a:noFill/>
        </p:spPr>
        <p:txBody>
          <a:bodyPr wrap="square" anchor="t" lIns="27432" rIns="27432" tIns="18288" bIns="18288">
            <a:spAutoFit/>
          </a:bodyPr>
          <a:lstStyle/>
          <a:p>
            <a:pPr algn="l"/>
            <a:r>
              <a:rPr sz="900" b="0">
                <a:solidFill>
                  <a:srgbClr val="475569"/>
                </a:solidFill>
                <a:latin typeface="Aptos"/>
              </a:rPr>
              <a:t>Identify individual pressure-injury risks and combine repositioning, surface selection, moisture management, nutrition, and skin reassessment.</a:t>
            </a:r>
          </a:p>
        </p:txBody>
      </p:sp>
      <p:sp>
        <p:nvSpPr>
          <p:cNvPr id="9" name="Rounded Rectangle 8"/>
          <p:cNvSpPr/>
          <p:nvPr/>
        </p:nvSpPr>
        <p:spPr>
          <a:xfrm>
            <a:off x="502920" y="3611880"/>
            <a:ext cx="5303520" cy="132588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3758184"/>
            <a:ext cx="45720" cy="1033271"/>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72160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today is not a vocabulary tour</a:t>
            </a:r>
          </a:p>
        </p:txBody>
      </p:sp>
      <p:sp>
        <p:nvSpPr>
          <p:cNvPr id="12" name="TextBox 11"/>
          <p:cNvSpPr txBox="1"/>
          <p:nvPr/>
        </p:nvSpPr>
        <p:spPr>
          <a:xfrm>
            <a:off x="667512" y="4050791"/>
            <a:ext cx="5047488" cy="795528"/>
          </a:xfrm>
          <a:prstGeom prst="rect">
            <a:avLst/>
          </a:prstGeom>
          <a:noFill/>
        </p:spPr>
        <p:txBody>
          <a:bodyPr wrap="square" anchor="t" lIns="27432" rIns="27432" tIns="18288" bIns="18288">
            <a:spAutoFit/>
          </a:bodyPr>
          <a:lstStyle/>
          <a:p>
            <a:pPr algn="l"/>
            <a:r>
              <a:rPr sz="900" b="0">
                <a:solidFill>
                  <a:srgbClr val="475569"/>
                </a:solidFill>
                <a:latin typeface="Aptos"/>
              </a:rPr>
              <a:t>you will use the science only when it explains a patient question or a safety decision.</a:t>
            </a:r>
          </a:p>
        </p:txBody>
      </p:sp>
      <p:sp>
        <p:nvSpPr>
          <p:cNvPr id="13" name="Rounded Rectangle 12"/>
          <p:cNvSpPr/>
          <p:nvPr/>
        </p:nvSpPr>
        <p:spPr>
          <a:xfrm>
            <a:off x="8458200" y="502920"/>
            <a:ext cx="1965960" cy="19659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914400"/>
            <a:ext cx="1417320" cy="274320"/>
          </a:xfrm>
          <a:prstGeom prst="rect">
            <a:avLst/>
          </a:prstGeom>
          <a:noFill/>
        </p:spPr>
        <p:txBody>
          <a:bodyPr wrap="square" anchor="t" lIns="27432" rIns="27432" tIns="18288" bIns="18288">
            <a:spAutoFit/>
          </a:bodyPr>
          <a:lstStyle/>
          <a:p>
            <a:pPr algn="ctr"/>
            <a:r>
              <a:rPr sz="1300" b="1">
                <a:solidFill>
                  <a:srgbClr val="2563EB"/>
                </a:solidFill>
                <a:latin typeface="Aptos"/>
              </a:rPr>
              <a:t>Nurse lens</a:t>
            </a:r>
          </a:p>
        </p:txBody>
      </p:sp>
      <p:sp>
        <p:nvSpPr>
          <p:cNvPr id="15" name="TextBox 14"/>
          <p:cNvSpPr txBox="1"/>
          <p:nvPr/>
        </p:nvSpPr>
        <p:spPr>
          <a:xfrm>
            <a:off x="8915400" y="1234440"/>
            <a:ext cx="1097280" cy="685800"/>
          </a:xfrm>
          <a:prstGeom prst="rect">
            <a:avLst/>
          </a:prstGeom>
          <a:noFill/>
        </p:spPr>
        <p:txBody>
          <a:bodyPr wrap="square" anchor="t" lIns="27432" rIns="27432" tIns="18288" bIns="18288">
            <a:spAutoFit/>
          </a:bodyPr>
          <a:lstStyle/>
          <a:p>
            <a:pPr algn="ctr"/>
            <a:r>
              <a:rPr sz="1000" b="1">
                <a:solidFill>
                  <a:srgbClr val="0F172A"/>
                </a:solidFill>
                <a:latin typeface="Aptos"/>
              </a:rPr>
              <a:t>TEACH
ASSESS
ESCALATE</a:t>
            </a:r>
          </a:p>
        </p:txBody>
      </p:sp>
      <p:sp>
        <p:nvSpPr>
          <p:cNvPr id="16" name="Rounded Rectangle 15"/>
          <p:cNvSpPr/>
          <p:nvPr/>
        </p:nvSpPr>
        <p:spPr>
          <a:xfrm>
            <a:off x="64008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5404104"/>
            <a:ext cx="45720" cy="365759"/>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1</a:t>
            </a:r>
          </a:p>
        </p:txBody>
      </p:sp>
      <p:sp>
        <p:nvSpPr>
          <p:cNvPr id="19" name="TextBox 18"/>
          <p:cNvSpPr txBox="1"/>
          <p:nvPr/>
        </p:nvSpPr>
        <p:spPr>
          <a:xfrm>
            <a:off x="804671"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Pressure Injury Prevention and Comfort</a:t>
            </a:r>
          </a:p>
        </p:txBody>
      </p:sp>
      <p:sp>
        <p:nvSpPr>
          <p:cNvPr id="20" name="Rounded Rectangle 19"/>
          <p:cNvSpPr/>
          <p:nvPr/>
        </p:nvSpPr>
        <p:spPr>
          <a:xfrm>
            <a:off x="342900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83864" y="5404104"/>
            <a:ext cx="45720" cy="365759"/>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93592"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2</a:t>
            </a:r>
          </a:p>
        </p:txBody>
      </p:sp>
      <p:sp>
        <p:nvSpPr>
          <p:cNvPr id="23" name="TextBox 22"/>
          <p:cNvSpPr txBox="1"/>
          <p:nvPr/>
        </p:nvSpPr>
        <p:spPr>
          <a:xfrm>
            <a:off x="3593592"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Prelicensure RN · Basic Care and Comfort · safety risk: elevated</a:t>
            </a:r>
          </a:p>
        </p:txBody>
      </p:sp>
      <p:sp>
        <p:nvSpPr>
          <p:cNvPr id="24" name="TextBox 23"/>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25" name="TextBox 24"/>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S01  ·  instructor-added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OPEN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Opening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S02  ·  source-aligned</a:t>
            </a:r>
          </a:p>
        </p:txBody>
      </p:sp>
      <p:sp>
        <p:nvSpPr>
          <p:cNvPr id="8" name="Rounded Rectangle 7"/>
          <p:cNvSpPr/>
          <p:nvPr/>
        </p:nvSpPr>
        <p:spPr>
          <a:xfrm>
            <a:off x="548640" y="1097280"/>
            <a:ext cx="5394960" cy="1325880"/>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3503" y="1243584"/>
            <a:ext cx="45720" cy="1033271"/>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207007"/>
            <a:ext cx="5138928" cy="292608"/>
          </a:xfrm>
          <a:prstGeom prst="rect">
            <a:avLst/>
          </a:prstGeom>
          <a:noFill/>
        </p:spPr>
        <p:txBody>
          <a:bodyPr wrap="square" anchor="t" lIns="27432" rIns="27432" tIns="18288" bIns="18288">
            <a:spAutoFit/>
          </a:bodyPr>
          <a:lstStyle/>
          <a:p>
            <a:pPr algn="l"/>
            <a:r>
              <a:rPr sz="1300" b="1">
                <a:solidFill>
                  <a:srgbClr val="0F172A"/>
                </a:solidFill>
                <a:latin typeface="Aptos"/>
              </a:rPr>
              <a:t>patient says</a:t>
            </a:r>
          </a:p>
        </p:txBody>
      </p:sp>
      <p:sp>
        <p:nvSpPr>
          <p:cNvPr id="11" name="TextBox 10"/>
          <p:cNvSpPr txBox="1"/>
          <p:nvPr/>
        </p:nvSpPr>
        <p:spPr>
          <a:xfrm>
            <a:off x="713232" y="1536192"/>
            <a:ext cx="5138928" cy="795528"/>
          </a:xfrm>
          <a:prstGeom prst="rect">
            <a:avLst/>
          </a:prstGeom>
          <a:noFill/>
        </p:spPr>
        <p:txBody>
          <a:bodyPr wrap="square" anchor="t" lIns="27432" rIns="27432" tIns="18288" bIns="18288">
            <a:spAutoFit/>
          </a:bodyPr>
          <a:lstStyle/>
          <a:p>
            <a:pPr algn="l"/>
            <a:r>
              <a:rPr sz="1000" b="0">
                <a:solidFill>
                  <a:srgbClr val="475569"/>
                </a:solidFill>
                <a:latin typeface="Aptos"/>
              </a:rPr>
              <a:t>An immobile patient slides down repeatedly in bed.</a:t>
            </a:r>
          </a:p>
        </p:txBody>
      </p:sp>
      <p:sp>
        <p:nvSpPr>
          <p:cNvPr id="12" name="Rounded Rectangle 11"/>
          <p:cNvSpPr/>
          <p:nvPr/>
        </p:nvSpPr>
        <p:spPr>
          <a:xfrm>
            <a:off x="54864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3" y="2889504"/>
            <a:ext cx="45720" cy="153619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know so far</a:t>
            </a:r>
          </a:p>
        </p:txBody>
      </p:sp>
      <p:sp>
        <p:nvSpPr>
          <p:cNvPr id="15" name="TextBox 14"/>
          <p:cNvSpPr txBox="1"/>
          <p:nvPr/>
        </p:nvSpPr>
        <p:spPr>
          <a:xfrm>
            <a:off x="713232" y="3182112"/>
            <a:ext cx="2395728" cy="1298448"/>
          </a:xfrm>
          <a:prstGeom prst="rect">
            <a:avLst/>
          </a:prstGeom>
          <a:noFill/>
        </p:spPr>
        <p:txBody>
          <a:bodyPr wrap="square" anchor="t" lIns="27432" rIns="27432" tIns="18288" bIns="18288">
            <a:spAutoFit/>
          </a:bodyPr>
          <a:lstStyle/>
          <a:p>
            <a:pPr algn="l"/>
            <a:r>
              <a:rPr sz="850" b="0">
                <a:solidFill>
                  <a:srgbClr val="475569"/>
                </a:solidFill>
                <a:latin typeface="Aptos"/>
              </a:rPr>
              <a:t>- Objective in play: Identify modifiable pressure-injury risks.
- Concept: Mobility and Skin Integrity</a:t>
            </a:r>
          </a:p>
        </p:txBody>
      </p:sp>
      <p:sp>
        <p:nvSpPr>
          <p:cNvPr id="16" name="Rounded Rectangle 15"/>
          <p:cNvSpPr/>
          <p:nvPr/>
        </p:nvSpPr>
        <p:spPr>
          <a:xfrm>
            <a:off x="342900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83864" y="2889504"/>
            <a:ext cx="45720" cy="1536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359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do not know yet</a:t>
            </a:r>
          </a:p>
        </p:txBody>
      </p:sp>
      <p:sp>
        <p:nvSpPr>
          <p:cNvPr id="19" name="Rounded Rectangle 18"/>
          <p:cNvSpPr/>
          <p:nvPr/>
        </p:nvSpPr>
        <p:spPr>
          <a:xfrm>
            <a:off x="6629400" y="1097280"/>
            <a:ext cx="4389120" cy="3520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84264" y="1243584"/>
            <a:ext cx="45720" cy="3227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1207007"/>
            <a:ext cx="4133087" cy="292608"/>
          </a:xfrm>
          <a:prstGeom prst="rect">
            <a:avLst/>
          </a:prstGeom>
          <a:noFill/>
        </p:spPr>
        <p:txBody>
          <a:bodyPr wrap="square" anchor="t" lIns="27432" rIns="27432" tIns="18288" bIns="18288">
            <a:spAutoFit/>
          </a:bodyPr>
          <a:lstStyle/>
          <a:p>
            <a:pPr algn="l"/>
            <a:r>
              <a:rPr sz="1400" b="1">
                <a:solidFill>
                  <a:srgbClr val="0F172A"/>
                </a:solidFill>
                <a:latin typeface="Aptos"/>
              </a:rPr>
              <a:t>your first task</a:t>
            </a:r>
          </a:p>
        </p:txBody>
      </p:sp>
      <p:sp>
        <p:nvSpPr>
          <p:cNvPr id="22" name="TextBox 21"/>
          <p:cNvSpPr txBox="1"/>
          <p:nvPr/>
        </p:nvSpPr>
        <p:spPr>
          <a:xfrm>
            <a:off x="6793992" y="1536192"/>
            <a:ext cx="4133087" cy="2990088"/>
          </a:xfrm>
          <a:prstGeom prst="rect">
            <a:avLst/>
          </a:prstGeom>
          <a:noFill/>
        </p:spPr>
        <p:txBody>
          <a:bodyPr wrap="square" anchor="t" lIns="27432" rIns="27432" tIns="18288" bIns="18288">
            <a:spAutoFit/>
          </a:bodyPr>
          <a:lstStyle/>
          <a:p>
            <a:pPr algn="l"/>
            <a:r>
              <a:rPr sz="1000" b="0">
                <a:solidFill>
                  <a:srgbClr val="475569"/>
                </a:solidFill>
                <a:latin typeface="Aptos"/>
              </a:rPr>
              <a:t>Thirty seconds: what is your first action, and why that one first?</a:t>
            </a:r>
          </a:p>
        </p:txBody>
      </p:sp>
      <p:sp>
        <p:nvSpPr>
          <p:cNvPr id="23" name="Rounded Rectangle 22"/>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Before facts: decide what information is missing and what could be unsafe.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The question this lesson answers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S03  ·  instructor-added</a:t>
            </a:r>
          </a:p>
        </p:txBody>
      </p:sp>
      <p:sp>
        <p:nvSpPr>
          <p:cNvPr id="8" name="Rounded Rectangle 7"/>
          <p:cNvSpPr/>
          <p:nvPr/>
        </p:nvSpPr>
        <p:spPr>
          <a:xfrm>
            <a:off x="1463040" y="960120"/>
            <a:ext cx="9235440" cy="77724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91640" y="1143000"/>
            <a:ext cx="8778240" cy="384048"/>
          </a:xfrm>
          <a:prstGeom prst="rect">
            <a:avLst/>
          </a:prstGeom>
          <a:noFill/>
        </p:spPr>
        <p:txBody>
          <a:bodyPr wrap="square" anchor="ctr" lIns="27432" rIns="27432" tIns="18288" bIns="18288">
            <a:spAutoFit/>
          </a:bodyPr>
          <a:lstStyle/>
          <a:p>
            <a:pPr algn="ctr"/>
            <a:r>
              <a:rPr sz="1600" b="1">
                <a:solidFill>
                  <a:srgbClr val="FFFFFF"/>
                </a:solidFill>
                <a:latin typeface="Aptos"/>
              </a:rPr>
              <a:t>Identify individual pressure-injury risks and combine repositioning, surface selection, moisture management, nutrition, and skin reassessment.</a:t>
            </a:r>
          </a:p>
        </p:txBody>
      </p:sp>
      <p:sp>
        <p:nvSpPr>
          <p:cNvPr id="10" name="Rounded Rectangle 9"/>
          <p:cNvSpPr/>
          <p:nvPr/>
        </p:nvSpPr>
        <p:spPr>
          <a:xfrm>
            <a:off x="594360"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 y="2295144"/>
            <a:ext cx="45720" cy="882396"/>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Risk Assessment</a:t>
            </a:r>
          </a:p>
        </p:txBody>
      </p:sp>
      <p:sp>
        <p:nvSpPr>
          <p:cNvPr id="13" name="TextBox 12"/>
          <p:cNvSpPr txBox="1"/>
          <p:nvPr/>
        </p:nvSpPr>
        <p:spPr>
          <a:xfrm>
            <a:off x="758952"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Risk assessment</a:t>
            </a:r>
          </a:p>
        </p:txBody>
      </p:sp>
      <p:sp>
        <p:nvSpPr>
          <p:cNvPr id="14" name="Rounded Rectangle 13"/>
          <p:cNvSpPr/>
          <p:nvPr/>
        </p:nvSpPr>
        <p:spPr>
          <a:xfrm>
            <a:off x="3386251"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41115" y="2295144"/>
            <a:ext cx="45720" cy="882396"/>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0843"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Prevention Bundle</a:t>
            </a:r>
          </a:p>
        </p:txBody>
      </p:sp>
      <p:sp>
        <p:nvSpPr>
          <p:cNvPr id="17" name="TextBox 16"/>
          <p:cNvSpPr txBox="1"/>
          <p:nvPr/>
        </p:nvSpPr>
        <p:spPr>
          <a:xfrm>
            <a:off x="3550843"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Prevention bundle</a:t>
            </a:r>
          </a:p>
        </p:txBody>
      </p:sp>
      <p:sp>
        <p:nvSpPr>
          <p:cNvPr id="18" name="Rounded Rectangle 17"/>
          <p:cNvSpPr/>
          <p:nvPr/>
        </p:nvSpPr>
        <p:spPr>
          <a:xfrm>
            <a:off x="6178143"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3007" y="2295144"/>
            <a:ext cx="45720" cy="882396"/>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2735"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Evaluate</a:t>
            </a:r>
          </a:p>
        </p:txBody>
      </p:sp>
      <p:sp>
        <p:nvSpPr>
          <p:cNvPr id="21" name="TextBox 20"/>
          <p:cNvSpPr txBox="1"/>
          <p:nvPr/>
        </p:nvSpPr>
        <p:spPr>
          <a:xfrm>
            <a:off x="6342735"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Evaluate</a:t>
            </a:r>
          </a:p>
        </p:txBody>
      </p:sp>
      <p:sp>
        <p:nvSpPr>
          <p:cNvPr id="22" name="Rounded Rectangle 21"/>
          <p:cNvSpPr/>
          <p:nvPr/>
        </p:nvSpPr>
        <p:spPr>
          <a:xfrm>
            <a:off x="8970035"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24899" y="2295144"/>
            <a:ext cx="45720" cy="882396"/>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4627"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Apply</a:t>
            </a:r>
          </a:p>
        </p:txBody>
      </p:sp>
      <p:sp>
        <p:nvSpPr>
          <p:cNvPr id="25" name="TextBox 24"/>
          <p:cNvSpPr txBox="1"/>
          <p:nvPr/>
        </p:nvSpPr>
        <p:spPr>
          <a:xfrm>
            <a:off x="9134627"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case and items</a:t>
            </a:r>
          </a:p>
        </p:txBody>
      </p:sp>
      <p:sp>
        <p:nvSpPr>
          <p:cNvPr id="26" name="Rounded Rectangle 25"/>
          <p:cNvSpPr/>
          <p:nvPr/>
        </p:nvSpPr>
        <p:spPr>
          <a:xfrm>
            <a:off x="594360" y="3488436"/>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 y="3634740"/>
            <a:ext cx="45720" cy="882396"/>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3598164"/>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Evaluate</a:t>
            </a:r>
          </a:p>
        </p:txBody>
      </p:sp>
      <p:sp>
        <p:nvSpPr>
          <p:cNvPr id="29" name="TextBox 28"/>
          <p:cNvSpPr txBox="1"/>
          <p:nvPr/>
        </p:nvSpPr>
        <p:spPr>
          <a:xfrm>
            <a:off x="758952" y="3927348"/>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retrieval; takeaway</a:t>
            </a:r>
          </a:p>
        </p:txBody>
      </p:sp>
      <p:sp>
        <p:nvSpPr>
          <p:cNvPr id="30" name="Rounded Rectangle 2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Every concept must answer: what do I teach, what do I assess, what must I escalate?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Lesson map</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4</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S04  ·  instructor-added</a:t>
            </a:r>
          </a:p>
        </p:txBody>
      </p:sp>
      <p:cxnSp>
        <p:nvCxnSpPr>
          <p:cNvPr id="7" name="Connector 6"/>
          <p:cNvCxnSpPr/>
          <p:nvPr/>
        </p:nvCxnSpPr>
        <p:spPr>
          <a:xfrm>
            <a:off x="1143000" y="2148840"/>
            <a:ext cx="9601200" cy="0"/>
          </a:xfrm>
          <a:prstGeom prst="line">
            <a:avLst/>
          </a:prstGeom>
          <a:ln w="38100">
            <a:solidFill>
              <a:srgbClr val="D7DFE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03503" y="1975104"/>
            <a:ext cx="347472" cy="347472"/>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1</a:t>
            </a:r>
          </a:p>
        </p:txBody>
      </p:sp>
      <p:sp>
        <p:nvSpPr>
          <p:cNvPr id="10" name="TextBox 9"/>
          <p:cNvSpPr txBox="1"/>
          <p:nvPr/>
        </p:nvSpPr>
        <p:spPr>
          <a:xfrm>
            <a:off x="91439"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Risk Assessment</a:t>
            </a:r>
          </a:p>
        </p:txBody>
      </p:sp>
      <p:sp>
        <p:nvSpPr>
          <p:cNvPr id="11" name="TextBox 10"/>
          <p:cNvSpPr txBox="1"/>
          <p:nvPr/>
        </p:nvSpPr>
        <p:spPr>
          <a:xfrm>
            <a:off x="45719"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Risk assessment</a:t>
            </a:r>
          </a:p>
        </p:txBody>
      </p:sp>
      <p:sp>
        <p:nvSpPr>
          <p:cNvPr id="12" name="Rounded Rectangle 11"/>
          <p:cNvSpPr/>
          <p:nvPr/>
        </p:nvSpPr>
        <p:spPr>
          <a:xfrm>
            <a:off x="3186684" y="1975104"/>
            <a:ext cx="347472" cy="347472"/>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5069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2</a:t>
            </a:r>
          </a:p>
        </p:txBody>
      </p:sp>
      <p:sp>
        <p:nvSpPr>
          <p:cNvPr id="14" name="TextBox 13"/>
          <p:cNvSpPr txBox="1"/>
          <p:nvPr/>
        </p:nvSpPr>
        <p:spPr>
          <a:xfrm>
            <a:off x="267462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Prevention Bundle</a:t>
            </a:r>
          </a:p>
        </p:txBody>
      </p:sp>
      <p:sp>
        <p:nvSpPr>
          <p:cNvPr id="15" name="TextBox 14"/>
          <p:cNvSpPr txBox="1"/>
          <p:nvPr/>
        </p:nvSpPr>
        <p:spPr>
          <a:xfrm>
            <a:off x="262890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Prevention bundle</a:t>
            </a:r>
          </a:p>
        </p:txBody>
      </p:sp>
      <p:sp>
        <p:nvSpPr>
          <p:cNvPr id="16" name="Rounded Rectangle 15"/>
          <p:cNvSpPr/>
          <p:nvPr/>
        </p:nvSpPr>
        <p:spPr>
          <a:xfrm>
            <a:off x="5769864" y="1975104"/>
            <a:ext cx="347472" cy="347472"/>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3387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3</a:t>
            </a:r>
          </a:p>
        </p:txBody>
      </p:sp>
      <p:sp>
        <p:nvSpPr>
          <p:cNvPr id="18" name="TextBox 17"/>
          <p:cNvSpPr txBox="1"/>
          <p:nvPr/>
        </p:nvSpPr>
        <p:spPr>
          <a:xfrm>
            <a:off x="525780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Evaluate</a:t>
            </a:r>
          </a:p>
        </p:txBody>
      </p:sp>
      <p:sp>
        <p:nvSpPr>
          <p:cNvPr id="19" name="TextBox 18"/>
          <p:cNvSpPr txBox="1"/>
          <p:nvPr/>
        </p:nvSpPr>
        <p:spPr>
          <a:xfrm>
            <a:off x="521208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Evaluate</a:t>
            </a:r>
          </a:p>
        </p:txBody>
      </p:sp>
      <p:sp>
        <p:nvSpPr>
          <p:cNvPr id="20" name="Rounded Rectangle 19"/>
          <p:cNvSpPr/>
          <p:nvPr/>
        </p:nvSpPr>
        <p:spPr>
          <a:xfrm>
            <a:off x="8353044" y="1975104"/>
            <a:ext cx="347472" cy="347472"/>
          </a:xfrm>
          <a:prstGeom prst="round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705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4</a:t>
            </a:r>
          </a:p>
        </p:txBody>
      </p:sp>
      <p:sp>
        <p:nvSpPr>
          <p:cNvPr id="22" name="TextBox 21"/>
          <p:cNvSpPr txBox="1"/>
          <p:nvPr/>
        </p:nvSpPr>
        <p:spPr>
          <a:xfrm>
            <a:off x="784098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Apply</a:t>
            </a:r>
          </a:p>
        </p:txBody>
      </p:sp>
      <p:sp>
        <p:nvSpPr>
          <p:cNvPr id="23" name="TextBox 22"/>
          <p:cNvSpPr txBox="1"/>
          <p:nvPr/>
        </p:nvSpPr>
        <p:spPr>
          <a:xfrm>
            <a:off x="779526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mini case → capstone</a:t>
            </a:r>
          </a:p>
        </p:txBody>
      </p:sp>
      <p:sp>
        <p:nvSpPr>
          <p:cNvPr id="24" name="Rounded Rectangle 23"/>
          <p:cNvSpPr/>
          <p:nvPr/>
        </p:nvSpPr>
        <p:spPr>
          <a:xfrm>
            <a:off x="10936224" y="1975104"/>
            <a:ext cx="347472" cy="347472"/>
          </a:xfrm>
          <a:prstGeom prst="round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0023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5</a:t>
            </a:r>
          </a:p>
        </p:txBody>
      </p:sp>
      <p:sp>
        <p:nvSpPr>
          <p:cNvPr id="26" name="TextBox 25"/>
          <p:cNvSpPr txBox="1"/>
          <p:nvPr/>
        </p:nvSpPr>
        <p:spPr>
          <a:xfrm>
            <a:off x="1042416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Evaluate</a:t>
            </a:r>
          </a:p>
        </p:txBody>
      </p:sp>
      <p:sp>
        <p:nvSpPr>
          <p:cNvPr id="27" name="TextBox 26"/>
          <p:cNvSpPr txBox="1"/>
          <p:nvPr/>
        </p:nvSpPr>
        <p:spPr>
          <a:xfrm>
            <a:off x="1037844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exit check</a:t>
            </a:r>
          </a:p>
        </p:txBody>
      </p:sp>
      <p:sp>
        <p:nvSpPr>
          <p:cNvPr id="28" name="Rounded Rectangle 27"/>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Map first. Drill down only where the map or performance data shows a weak link.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ACTIVATE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Warm-up: put the three moves in order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S05  ·  instructor-added</a:t>
            </a:r>
          </a:p>
        </p:txBody>
      </p:sp>
      <p:sp>
        <p:nvSpPr>
          <p:cNvPr id="8" name="Rounded Rectangle 7"/>
          <p:cNvSpPr/>
          <p:nvPr/>
        </p:nvSpPr>
        <p:spPr>
          <a:xfrm>
            <a:off x="685800" y="1005840"/>
            <a:ext cx="10789920" cy="685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93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33888" cy="292608"/>
          </a:xfrm>
          <a:prstGeom prst="rect">
            <a:avLst/>
          </a:prstGeom>
          <a:noFill/>
        </p:spPr>
        <p:txBody>
          <a:bodyPr wrap="square" anchor="t" lIns="27432" rIns="27432" tIns="18288" bIns="18288">
            <a:spAutoFit/>
          </a:bodyPr>
          <a:lstStyle/>
          <a:p>
            <a:pPr algn="l"/>
            <a:r>
              <a:rPr sz="1300" b="1">
                <a:solidFill>
                  <a:srgbClr val="0F172A"/>
                </a:solidFill>
                <a:latin typeface="Aptos"/>
              </a:rPr>
              <a:t>learner task</a:t>
            </a:r>
          </a:p>
        </p:txBody>
      </p:sp>
      <p:sp>
        <p:nvSpPr>
          <p:cNvPr id="11" name="TextBox 10"/>
          <p:cNvSpPr txBox="1"/>
          <p:nvPr/>
        </p:nvSpPr>
        <p:spPr>
          <a:xfrm>
            <a:off x="850392" y="1444752"/>
            <a:ext cx="10533888" cy="155448"/>
          </a:xfrm>
          <a:prstGeom prst="rect">
            <a:avLst/>
          </a:prstGeom>
          <a:noFill/>
        </p:spPr>
        <p:txBody>
          <a:bodyPr wrap="square" anchor="t" lIns="27432" rIns="27432" tIns="18288" bIns="18288">
            <a:spAutoFit/>
          </a:bodyPr>
          <a:lstStyle/>
          <a:p>
            <a:pPr algn="l"/>
            <a:r>
              <a:rPr sz="1000" b="0">
                <a:solidFill>
                  <a:srgbClr val="475569"/>
                </a:solidFill>
                <a:latin typeface="Aptos"/>
              </a:rPr>
              <a:t>Order the three.</a:t>
            </a:r>
          </a:p>
        </p:txBody>
      </p:sp>
      <p:sp>
        <p:nvSpPr>
          <p:cNvPr id="12" name="Rounded Rectangle 11"/>
          <p:cNvSpPr/>
          <p:nvPr/>
        </p:nvSpPr>
        <p:spPr>
          <a:xfrm>
            <a:off x="960120" y="1965960"/>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938528"/>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463040" y="2039112"/>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Risk assessment</a:t>
            </a:r>
          </a:p>
        </p:txBody>
      </p:sp>
      <p:sp>
        <p:nvSpPr>
          <p:cNvPr id="15" name="Rounded Rectangle 14"/>
          <p:cNvSpPr/>
          <p:nvPr/>
        </p:nvSpPr>
        <p:spPr>
          <a:xfrm>
            <a:off x="960120" y="2532888"/>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587752"/>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463040" y="2596896"/>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Prevention bundle</a:t>
            </a:r>
          </a:p>
        </p:txBody>
      </p:sp>
      <p:sp>
        <p:nvSpPr>
          <p:cNvPr id="18" name="Rounded Rectangle 17"/>
          <p:cNvSpPr/>
          <p:nvPr/>
        </p:nvSpPr>
        <p:spPr>
          <a:xfrm>
            <a:off x="960120" y="3099815"/>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236976"/>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463040" y="3154680"/>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Evaluate</a:t>
            </a:r>
          </a:p>
        </p:txBody>
      </p:sp>
      <p:sp>
        <p:nvSpPr>
          <p:cNvPr id="21" name="Rounded Rectangle 20"/>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Use sequence misses to identify where the concept chain breaks.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RISK ASSESSMENT</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Risk assessment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S06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Risk assessment</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Assess mobility, sensation, moisture, perfusion, nutrition, friction, shear, devices, and current skin findings.</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Identify modifiable pressure-injury risks.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PREVENTION BUNDLE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Prevention bundle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7</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S07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Prevention bundle</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Use individualized repositioning, pressure redistribution, heel off-loading, moisture protection, nutrition support, and device checks.</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Select individualized prevention interventions.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EVALUATE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Evaluate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8</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S08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Evaluate</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Inspect high-risk areas and device contact points, document changes, and revise the prevention plan when skin tolerance worsens.</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Evaluate skin response and update the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Activity: match the cue to the move it calls for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9</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S09  ·  source-aligned</a:t>
            </a:r>
          </a:p>
        </p:txBody>
      </p:sp>
      <p:sp>
        <p:nvSpPr>
          <p:cNvPr id="8" name="TextBox 7"/>
          <p:cNvSpPr txBox="1"/>
          <p:nvPr/>
        </p:nvSpPr>
        <p:spPr>
          <a:xfrm>
            <a:off x="731520" y="1005840"/>
            <a:ext cx="10698480" cy="256032"/>
          </a:xfrm>
          <a:prstGeom prst="rect">
            <a:avLst/>
          </a:prstGeom>
          <a:noFill/>
        </p:spPr>
        <p:txBody>
          <a:bodyPr wrap="square" anchor="t" lIns="27432" rIns="27432" tIns="18288" bIns="18288">
            <a:spAutoFit/>
          </a:bodyPr>
          <a:lstStyle/>
          <a:p>
            <a:pPr algn="l"/>
            <a:r>
              <a:rPr sz="950" b="1">
                <a:solidFill>
                  <a:srgbClr val="0F172A"/>
                </a:solidFill>
                <a:latin typeface="Aptos"/>
              </a:rPr>
              <a:t>Work with one partner: match each source to the cue or clinical meaning most directly involved.</a:t>
            </a:r>
          </a:p>
        </p:txBody>
      </p:sp>
      <p:sp>
        <p:nvSpPr>
          <p:cNvPr id="9" name="Rounded Rectangle 8"/>
          <p:cNvSpPr/>
          <p:nvPr/>
        </p:nvSpPr>
        <p:spPr>
          <a:xfrm>
            <a:off x="777240" y="1508760"/>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3" y="1655063"/>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1618488"/>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A</a:t>
            </a:r>
          </a:p>
        </p:txBody>
      </p:sp>
      <p:sp>
        <p:nvSpPr>
          <p:cNvPr id="12" name="TextBox 11"/>
          <p:cNvSpPr txBox="1"/>
          <p:nvPr/>
        </p:nvSpPr>
        <p:spPr>
          <a:xfrm>
            <a:off x="941832" y="1947672"/>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A. An immobile patient slides down repeatedly in bed.</a:t>
            </a:r>
          </a:p>
        </p:txBody>
      </p:sp>
      <p:sp>
        <p:nvSpPr>
          <p:cNvPr id="13" name="Rounded Rectangle 12"/>
          <p:cNvSpPr/>
          <p:nvPr/>
        </p:nvSpPr>
        <p:spPr>
          <a:xfrm>
            <a:off x="6537960" y="1508760"/>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92824" y="1655063"/>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02552" y="1618488"/>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1</a:t>
            </a:r>
          </a:p>
        </p:txBody>
      </p:sp>
      <p:sp>
        <p:nvSpPr>
          <p:cNvPr id="16" name="TextBox 15"/>
          <p:cNvSpPr txBox="1"/>
          <p:nvPr/>
        </p:nvSpPr>
        <p:spPr>
          <a:xfrm>
            <a:off x="6702552" y="1947672"/>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1. Risk assessment</a:t>
            </a:r>
          </a:p>
        </p:txBody>
      </p:sp>
      <p:sp>
        <p:nvSpPr>
          <p:cNvPr id="17" name="Rounded Rectangle 16"/>
          <p:cNvSpPr/>
          <p:nvPr/>
        </p:nvSpPr>
        <p:spPr>
          <a:xfrm>
            <a:off x="777240" y="2203704"/>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3" y="2350008"/>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2313432"/>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B</a:t>
            </a:r>
          </a:p>
        </p:txBody>
      </p:sp>
      <p:sp>
        <p:nvSpPr>
          <p:cNvPr id="20" name="TextBox 19"/>
          <p:cNvSpPr txBox="1"/>
          <p:nvPr/>
        </p:nvSpPr>
        <p:spPr>
          <a:xfrm>
            <a:off x="941832" y="2642616"/>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B. Moisture is trapped against the sacral skin.</a:t>
            </a:r>
          </a:p>
        </p:txBody>
      </p:sp>
      <p:sp>
        <p:nvSpPr>
          <p:cNvPr id="21" name="Rounded Rectangle 20"/>
          <p:cNvSpPr/>
          <p:nvPr/>
        </p:nvSpPr>
        <p:spPr>
          <a:xfrm>
            <a:off x="6537960" y="2203704"/>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92824" y="2350008"/>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02552" y="2313432"/>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2</a:t>
            </a:r>
          </a:p>
        </p:txBody>
      </p:sp>
      <p:sp>
        <p:nvSpPr>
          <p:cNvPr id="24" name="TextBox 23"/>
          <p:cNvSpPr txBox="1"/>
          <p:nvPr/>
        </p:nvSpPr>
        <p:spPr>
          <a:xfrm>
            <a:off x="6702552" y="2642616"/>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2. Prevention bundle</a:t>
            </a:r>
          </a:p>
        </p:txBody>
      </p:sp>
      <p:sp>
        <p:nvSpPr>
          <p:cNvPr id="25" name="Rounded Rectangle 24"/>
          <p:cNvSpPr/>
          <p:nvPr/>
        </p:nvSpPr>
        <p:spPr>
          <a:xfrm>
            <a:off x="777240" y="2898648"/>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3" y="3044952"/>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3008376"/>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C</a:t>
            </a:r>
          </a:p>
        </p:txBody>
      </p:sp>
      <p:sp>
        <p:nvSpPr>
          <p:cNvPr id="28" name="TextBox 27"/>
          <p:cNvSpPr txBox="1"/>
          <p:nvPr/>
        </p:nvSpPr>
        <p:spPr>
          <a:xfrm>
            <a:off x="941832" y="3337560"/>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C. A medical device rests tightly against the patient's skin.</a:t>
            </a:r>
          </a:p>
        </p:txBody>
      </p:sp>
      <p:sp>
        <p:nvSpPr>
          <p:cNvPr id="29" name="Rounded Rectangle 28"/>
          <p:cNvSpPr/>
          <p:nvPr/>
        </p:nvSpPr>
        <p:spPr>
          <a:xfrm>
            <a:off x="6537960" y="2898648"/>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92824" y="3044952"/>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2552" y="3008376"/>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3</a:t>
            </a:r>
          </a:p>
        </p:txBody>
      </p:sp>
      <p:sp>
        <p:nvSpPr>
          <p:cNvPr id="32" name="TextBox 31"/>
          <p:cNvSpPr txBox="1"/>
          <p:nvPr/>
        </p:nvSpPr>
        <p:spPr>
          <a:xfrm>
            <a:off x="6702552" y="3337560"/>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3. Evaluate</a:t>
            </a:r>
          </a:p>
        </p:txBody>
      </p:sp>
      <p:sp>
        <p:nvSpPr>
          <p:cNvPr id="33" name="Rounded Rectangle 32"/>
          <p:cNvSpPr/>
          <p:nvPr/>
        </p:nvSpPr>
        <p:spPr>
          <a:xfrm>
            <a:off x="777240" y="3593592"/>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2103" y="3739896"/>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2" y="3703320"/>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D</a:t>
            </a:r>
          </a:p>
        </p:txBody>
      </p:sp>
      <p:sp>
        <p:nvSpPr>
          <p:cNvPr id="36" name="TextBox 35"/>
          <p:cNvSpPr txBox="1"/>
          <p:nvPr/>
        </p:nvSpPr>
        <p:spPr>
          <a:xfrm>
            <a:off x="941832" y="4032504"/>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D. The patient has limited mobility and poor nutritional intake.</a:t>
            </a:r>
          </a:p>
        </p:txBody>
      </p:sp>
      <p:sp>
        <p:nvSpPr>
          <p:cNvPr id="37" name="Rounded Rectangle 36"/>
          <p:cNvSpPr/>
          <p:nvPr/>
        </p:nvSpPr>
        <p:spPr>
          <a:xfrm>
            <a:off x="6537960" y="3593592"/>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92824" y="3739896"/>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02552" y="3703320"/>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4</a:t>
            </a:r>
          </a:p>
        </p:txBody>
      </p:sp>
      <p:sp>
        <p:nvSpPr>
          <p:cNvPr id="40" name="TextBox 39"/>
          <p:cNvSpPr txBox="1"/>
          <p:nvPr/>
        </p:nvSpPr>
        <p:spPr>
          <a:xfrm>
            <a:off x="6702552" y="4032504"/>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4. Evaluate the result</a:t>
            </a:r>
          </a:p>
        </p:txBody>
      </p:sp>
      <p:sp>
        <p:nvSpPr>
          <p:cNvPr id="41" name="Rounded Rectangle 40"/>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Output: write matches and one sentence explaining one match.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Debrief: the reasoning behind each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10</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S10  ·  source-aligned</a:t>
            </a:r>
          </a:p>
        </p:txBody>
      </p:sp>
      <p:sp>
        <p:nvSpPr>
          <p:cNvPr id="8" name="Rounded Rectangle 7"/>
          <p:cNvSpPr/>
          <p:nvPr/>
        </p:nvSpPr>
        <p:spPr>
          <a:xfrm>
            <a:off x="502920"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435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Reposition with lift assistance and reduce shear while sup</a:t>
            </a:r>
          </a:p>
        </p:txBody>
      </p:sp>
      <p:sp>
        <p:nvSpPr>
          <p:cNvPr id="11" name="TextBox 10"/>
          <p:cNvSpPr txBox="1"/>
          <p:nvPr/>
        </p:nvSpPr>
        <p:spPr>
          <a:xfrm>
            <a:off x="667512"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Dragging and sliding increase shear forces that damage tissue.</a:t>
            </a:r>
          </a:p>
        </p:txBody>
      </p:sp>
      <p:sp>
        <p:nvSpPr>
          <p:cNvPr id="12" name="Rounded Rectangle 11"/>
          <p:cNvSpPr/>
          <p:nvPr/>
        </p:nvSpPr>
        <p:spPr>
          <a:xfrm>
            <a:off x="6178143"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435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Cleanse gently, manage the moisture source, and apply an a</a:t>
            </a:r>
          </a:p>
        </p:txBody>
      </p:sp>
      <p:sp>
        <p:nvSpPr>
          <p:cNvPr id="15" name="TextBox 14"/>
          <p:cNvSpPr txBox="1"/>
          <p:nvPr/>
        </p:nvSpPr>
        <p:spPr>
          <a:xfrm>
            <a:off x="6342735"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Persistent moisture weakens the skin barrier and increases injury risk.</a:t>
            </a:r>
          </a:p>
        </p:txBody>
      </p:sp>
      <p:sp>
        <p:nvSpPr>
          <p:cNvPr id="16" name="Rounded Rectangle 15"/>
          <p:cNvSpPr/>
          <p:nvPr/>
        </p:nvSpPr>
        <p:spPr>
          <a:xfrm>
            <a:off x="502920"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7784" y="2642616"/>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Inspect beneath and around the device and relieve avoidabl</a:t>
            </a:r>
          </a:p>
        </p:txBody>
      </p:sp>
      <p:sp>
        <p:nvSpPr>
          <p:cNvPr id="19" name="TextBox 18"/>
          <p:cNvSpPr txBox="1"/>
          <p:nvPr/>
        </p:nvSpPr>
        <p:spPr>
          <a:xfrm>
            <a:off x="667512"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Medical devices can concentrate pressure and conceal evolving injury.</a:t>
            </a:r>
          </a:p>
        </p:txBody>
      </p:sp>
      <p:sp>
        <p:nvSpPr>
          <p:cNvPr id="20" name="Rounded Rectangle 19"/>
          <p:cNvSpPr/>
          <p:nvPr/>
        </p:nvSpPr>
        <p:spPr>
          <a:xfrm>
            <a:off x="6178143"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264261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2735"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Initiate a coordinated prevention plan including mobility </a:t>
            </a:r>
          </a:p>
        </p:txBody>
      </p:sp>
      <p:sp>
        <p:nvSpPr>
          <p:cNvPr id="23" name="TextBox 22"/>
          <p:cNvSpPr txBox="1"/>
          <p:nvPr/>
        </p:nvSpPr>
        <p:spPr>
          <a:xfrm>
            <a:off x="6342735"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Multiple risks require a bundled, interdisciplinary approach.</a:t>
            </a:r>
          </a:p>
        </p:txBody>
      </p:sp>
      <p:sp>
        <p:nvSpPr>
          <p:cNvPr id="24" name="Rounded Rectangle 23"/>
          <p:cNvSpPr/>
          <p:nvPr/>
        </p:nvSpPr>
        <p:spPr>
          <a:xfrm>
            <a:off x="1188720" y="5989320"/>
            <a:ext cx="9784080" cy="41148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EA580C"/>
                </a:solidFill>
                <a:latin typeface="Aptos"/>
              </a:rPr>
              <a:t>Explain why each keyed action follows from its cue.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Checkpoint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11</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S11  ·  source-aligned</a:t>
            </a:r>
          </a:p>
        </p:txBody>
      </p:sp>
      <p:sp>
        <p:nvSpPr>
          <p:cNvPr id="8" name="Rounded Rectangle 7"/>
          <p:cNvSpPr/>
          <p:nvPr/>
        </p:nvSpPr>
        <p:spPr>
          <a:xfrm>
            <a:off x="777240" y="1097280"/>
            <a:ext cx="10698480" cy="868680"/>
          </a:xfrm>
          <a:prstGeom prst="roundRect">
            <a:avLst/>
          </a:prstGeom>
          <a:solidFill>
            <a:srgbClr val="F5F3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3" y="1243584"/>
            <a:ext cx="45720" cy="576071"/>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207007"/>
            <a:ext cx="10442448" cy="292608"/>
          </a:xfrm>
          <a:prstGeom prst="rect">
            <a:avLst/>
          </a:prstGeom>
          <a:noFill/>
        </p:spPr>
        <p:txBody>
          <a:bodyPr wrap="square" anchor="t" lIns="27432" rIns="27432" tIns="18288" bIns="18288">
            <a:spAutoFit/>
          </a:bodyPr>
          <a:lstStyle/>
          <a:p>
            <a:pPr algn="l"/>
            <a:r>
              <a:rPr sz="1300" b="1">
                <a:solidFill>
                  <a:srgbClr val="0F172A"/>
                </a:solidFill>
                <a:latin typeface="Aptos"/>
              </a:rPr>
              <a:t>checkpoint question</a:t>
            </a:r>
          </a:p>
        </p:txBody>
      </p:sp>
      <p:sp>
        <p:nvSpPr>
          <p:cNvPr id="11" name="TextBox 10"/>
          <p:cNvSpPr txBox="1"/>
          <p:nvPr/>
        </p:nvSpPr>
        <p:spPr>
          <a:xfrm>
            <a:off x="941832" y="1536192"/>
            <a:ext cx="10442448" cy="338328"/>
          </a:xfrm>
          <a:prstGeom prst="rect">
            <a:avLst/>
          </a:prstGeom>
          <a:noFill/>
        </p:spPr>
        <p:txBody>
          <a:bodyPr wrap="square" anchor="t" lIns="27432" rIns="27432" tIns="18288" bIns="18288">
            <a:spAutoFit/>
          </a:bodyPr>
          <a:lstStyle/>
          <a:p>
            <a:pPr algn="l"/>
            <a:r>
              <a:rPr sz="1000" b="0">
                <a:solidFill>
                  <a:srgbClr val="475569"/>
                </a:solidFill>
                <a:latin typeface="Aptos"/>
              </a:rPr>
              <a:t>Moisture is trapped against the sacral skin. What should the nurse do?</a:t>
            </a:r>
          </a:p>
        </p:txBody>
      </p:sp>
      <p:sp>
        <p:nvSpPr>
          <p:cNvPr id="12" name="Rounded Rectangle 11"/>
          <p:cNvSpPr/>
          <p:nvPr/>
        </p:nvSpPr>
        <p:spPr>
          <a:xfrm>
            <a:off x="1005840" y="2240280"/>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2359152"/>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554480" y="2340864"/>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A. Delay action until the end of the shift.</a:t>
            </a:r>
          </a:p>
        </p:txBody>
      </p:sp>
      <p:sp>
        <p:nvSpPr>
          <p:cNvPr id="15" name="Rounded Rectangle 14"/>
          <p:cNvSpPr/>
          <p:nvPr/>
        </p:nvSpPr>
        <p:spPr>
          <a:xfrm>
            <a:off x="1005840" y="2807208"/>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2926080"/>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554480" y="2907792"/>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B. Document the finding without reassessment or follow-up.</a:t>
            </a:r>
          </a:p>
        </p:txBody>
      </p:sp>
      <p:sp>
        <p:nvSpPr>
          <p:cNvPr id="18" name="Rounded Rectangle 17"/>
          <p:cNvSpPr/>
          <p:nvPr/>
        </p:nvSpPr>
        <p:spPr>
          <a:xfrm>
            <a:off x="1005840" y="3374136"/>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493008"/>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554480" y="3474720"/>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C. Cleanse gently, manage the moisture source, and apply an appropriate moisture barrier.</a:t>
            </a:r>
          </a:p>
        </p:txBody>
      </p:sp>
      <p:sp>
        <p:nvSpPr>
          <p:cNvPr id="21" name="Rounded Rectangle 20"/>
          <p:cNvSpPr/>
          <p:nvPr/>
        </p:nvSpPr>
        <p:spPr>
          <a:xfrm>
            <a:off x="1005840" y="3941064"/>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4059936"/>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D</a:t>
            </a:r>
          </a:p>
        </p:txBody>
      </p:sp>
      <p:sp>
        <p:nvSpPr>
          <p:cNvPr id="23" name="TextBox 22"/>
          <p:cNvSpPr txBox="1"/>
          <p:nvPr/>
        </p:nvSpPr>
        <p:spPr>
          <a:xfrm>
            <a:off x="1554480" y="4041648"/>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D. Delegate the clinical judgment decision to unlicensed assistive personnel.</a:t>
            </a:r>
          </a:p>
        </p:txBody>
      </p:sp>
      <p:sp>
        <p:nvSpPr>
          <p:cNvPr id="24" name="Rounded Rectangle 23"/>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Choose the best response.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Mini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S12  ·  source-aligned</a:t>
            </a:r>
          </a:p>
        </p:txBody>
      </p:sp>
      <p:sp>
        <p:nvSpPr>
          <p:cNvPr id="8" name="Rounded Rectangle 7"/>
          <p:cNvSpPr/>
          <p:nvPr/>
        </p:nvSpPr>
        <p:spPr>
          <a:xfrm>
            <a:off x="731520" y="1051560"/>
            <a:ext cx="10744200" cy="713232"/>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 y="1197863"/>
            <a:ext cx="45720" cy="420624"/>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161288"/>
            <a:ext cx="10488168" cy="292608"/>
          </a:xfrm>
          <a:prstGeom prst="rect">
            <a:avLst/>
          </a:prstGeom>
          <a:noFill/>
        </p:spPr>
        <p:txBody>
          <a:bodyPr wrap="square" anchor="t" lIns="27432" rIns="27432" tIns="18288" bIns="18288">
            <a:spAutoFit/>
          </a:bodyPr>
          <a:lstStyle/>
          <a:p>
            <a:pPr algn="l"/>
            <a:r>
              <a:rPr sz="1200" b="1">
                <a:solidFill>
                  <a:srgbClr val="0F172A"/>
                </a:solidFill>
                <a:latin typeface="Aptos"/>
              </a:rPr>
              <a:t>mini case</a:t>
            </a:r>
          </a:p>
        </p:txBody>
      </p:sp>
      <p:sp>
        <p:nvSpPr>
          <p:cNvPr id="11" name="TextBox 10"/>
          <p:cNvSpPr txBox="1"/>
          <p:nvPr/>
        </p:nvSpPr>
        <p:spPr>
          <a:xfrm>
            <a:off x="896112" y="1490472"/>
            <a:ext cx="10488168" cy="182880"/>
          </a:xfrm>
          <a:prstGeom prst="rect">
            <a:avLst/>
          </a:prstGeom>
          <a:noFill/>
        </p:spPr>
        <p:txBody>
          <a:bodyPr wrap="square" anchor="t" lIns="27432" rIns="27432" tIns="18288" bIns="18288">
            <a:spAutoFit/>
          </a:bodyPr>
          <a:lstStyle/>
          <a:p>
            <a:pPr algn="l"/>
            <a:r>
              <a:rPr sz="900" b="0">
                <a:solidFill>
                  <a:srgbClr val="475569"/>
                </a:solidFill>
                <a:latin typeface="Aptos"/>
              </a:rPr>
              <a:t>A medical device rests tightly against the patient's skin.</a:t>
            </a:r>
          </a:p>
        </p:txBody>
      </p:sp>
      <p:sp>
        <p:nvSpPr>
          <p:cNvPr id="12" name="Rounded Rectangle 11"/>
          <p:cNvSpPr/>
          <p:nvPr/>
        </p:nvSpPr>
        <p:spPr>
          <a:xfrm>
            <a:off x="502920"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7784" y="22037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cues</a:t>
            </a:r>
          </a:p>
        </p:txBody>
      </p:sp>
      <p:sp>
        <p:nvSpPr>
          <p:cNvPr id="15" name="TextBox 14"/>
          <p:cNvSpPr txBox="1"/>
          <p:nvPr/>
        </p:nvSpPr>
        <p:spPr>
          <a:xfrm>
            <a:off x="667512"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Keyed action: Inspect beneath and around the device and relieve avoidable pressure.
- Because: Medical devices can concentrate pressure and conceal evolving injury.</a:t>
            </a:r>
          </a:p>
        </p:txBody>
      </p:sp>
      <p:sp>
        <p:nvSpPr>
          <p:cNvPr id="16" name="Rounded Rectangle 15"/>
          <p:cNvSpPr/>
          <p:nvPr/>
        </p:nvSpPr>
        <p:spPr>
          <a:xfrm>
            <a:off x="6178143"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22037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your task</a:t>
            </a:r>
          </a:p>
        </p:txBody>
      </p:sp>
      <p:sp>
        <p:nvSpPr>
          <p:cNvPr id="19" name="TextBox 18"/>
          <p:cNvSpPr txBox="1"/>
          <p:nvPr/>
        </p:nvSpPr>
        <p:spPr>
          <a:xfrm>
            <a:off x="6342735"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Write one assessment sentence and one action sentence.</a:t>
            </a:r>
          </a:p>
        </p:txBody>
      </p:sp>
      <p:sp>
        <p:nvSpPr>
          <p:cNvPr id="20" name="Rounded Rectangle 1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Two sentences: what you assess, then what you 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SIGNAL</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Sort by urgency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S13  ·  source-aligned</a:t>
            </a:r>
          </a:p>
        </p:txBody>
      </p:sp>
      <p:sp>
        <p:nvSpPr>
          <p:cNvPr id="8" name="Rounded Rectangle 7"/>
          <p:cNvSpPr/>
          <p:nvPr/>
        </p:nvSpPr>
        <p:spPr>
          <a:xfrm>
            <a:off x="502920"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now</a:t>
            </a:r>
          </a:p>
        </p:txBody>
      </p:sp>
      <p:sp>
        <p:nvSpPr>
          <p:cNvPr id="11" name="TextBox 10"/>
          <p:cNvSpPr txBox="1"/>
          <p:nvPr/>
        </p:nvSpPr>
        <p:spPr>
          <a:xfrm>
            <a:off x="667512"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An immobile patient slides down repeatedly in bed.
- Moisture is trapped against the sacral skin.
- A medical device rests tightly against the patient's skin.</a:t>
            </a:r>
          </a:p>
        </p:txBody>
      </p:sp>
      <p:sp>
        <p:nvSpPr>
          <p:cNvPr id="12" name="Rounded Rectangle 11"/>
          <p:cNvSpPr/>
          <p:nvPr/>
        </p:nvSpPr>
        <p:spPr>
          <a:xfrm>
            <a:off x="6178143"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in sequence</a:t>
            </a:r>
          </a:p>
        </p:txBody>
      </p:sp>
      <p:sp>
        <p:nvSpPr>
          <p:cNvPr id="15" name="TextBox 14"/>
          <p:cNvSpPr txBox="1"/>
          <p:nvPr/>
        </p:nvSpPr>
        <p:spPr>
          <a:xfrm>
            <a:off x="6342735"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The patient has limited mobility and poor nutritional intake.
- A high-risk area shows a new persistent color change.</a:t>
            </a:r>
          </a:p>
        </p:txBody>
      </p:sp>
      <p:sp>
        <p:nvSpPr>
          <p:cNvPr id="16" name="Rounded Rectangle 15"/>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Place each cue and justify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Documentation frame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14</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S14  ·  source-aligned</a:t>
            </a:r>
          </a:p>
        </p:txBody>
      </p:sp>
      <p:sp>
        <p:nvSpPr>
          <p:cNvPr id="8" name="Rounded Rectangle 7"/>
          <p:cNvSpPr/>
          <p:nvPr/>
        </p:nvSpPr>
        <p:spPr>
          <a:xfrm>
            <a:off x="502920"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Mobility risk</a:t>
            </a:r>
          </a:p>
        </p:txBody>
      </p:sp>
      <p:sp>
        <p:nvSpPr>
          <p:cNvPr id="11" name="TextBox 10"/>
          <p:cNvSpPr txBox="1"/>
          <p:nvPr/>
        </p:nvSpPr>
        <p:spPr>
          <a:xfrm>
            <a:off x="667512"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2" name="Rounded Rectangle 11"/>
          <p:cNvSpPr/>
          <p:nvPr/>
        </p:nvSpPr>
        <p:spPr>
          <a:xfrm>
            <a:off x="4286402"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1266"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0994"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Moisture risk</a:t>
            </a:r>
          </a:p>
        </p:txBody>
      </p:sp>
      <p:sp>
        <p:nvSpPr>
          <p:cNvPr id="15" name="TextBox 14"/>
          <p:cNvSpPr txBox="1"/>
          <p:nvPr/>
        </p:nvSpPr>
        <p:spPr>
          <a:xfrm>
            <a:off x="4450994"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6" name="Rounded Rectangle 15"/>
          <p:cNvSpPr/>
          <p:nvPr/>
        </p:nvSpPr>
        <p:spPr>
          <a:xfrm>
            <a:off x="8069884"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4748"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4476"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Pressure point/device</a:t>
            </a:r>
          </a:p>
        </p:txBody>
      </p:sp>
      <p:sp>
        <p:nvSpPr>
          <p:cNvPr id="19" name="TextBox 18"/>
          <p:cNvSpPr txBox="1"/>
          <p:nvPr/>
        </p:nvSpPr>
        <p:spPr>
          <a:xfrm>
            <a:off x="8234476"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0" name="Rounded Rectangle 19"/>
          <p:cNvSpPr/>
          <p:nvPr/>
        </p:nvSpPr>
        <p:spPr>
          <a:xfrm>
            <a:off x="502920"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7784" y="268833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Prevention intervention</a:t>
            </a:r>
          </a:p>
        </p:txBody>
      </p:sp>
      <p:sp>
        <p:nvSpPr>
          <p:cNvPr id="23" name="TextBox 22"/>
          <p:cNvSpPr txBox="1"/>
          <p:nvPr/>
        </p:nvSpPr>
        <p:spPr>
          <a:xfrm>
            <a:off x="667512"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4" name="Rounded Rectangle 23"/>
          <p:cNvSpPr/>
          <p:nvPr/>
        </p:nvSpPr>
        <p:spPr>
          <a:xfrm>
            <a:off x="4286402"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1266" y="2688336"/>
            <a:ext cx="45720" cy="941832"/>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994"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Reassessment finding</a:t>
            </a:r>
          </a:p>
        </p:txBody>
      </p:sp>
      <p:sp>
        <p:nvSpPr>
          <p:cNvPr id="27" name="TextBox 26"/>
          <p:cNvSpPr txBox="1"/>
          <p:nvPr/>
        </p:nvSpPr>
        <p:spPr>
          <a:xfrm>
            <a:off x="4450994"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8" name="Rounded Rectangle 27"/>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Record the lesson's decisions in a reusable frame.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Capstone: choose the next safe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S15  ·  source-aligned</a:t>
            </a:r>
          </a:p>
        </p:txBody>
      </p:sp>
      <p:sp>
        <p:nvSpPr>
          <p:cNvPr id="8" name="Rounded Rectangle 7"/>
          <p:cNvSpPr/>
          <p:nvPr/>
        </p:nvSpPr>
        <p:spPr>
          <a:xfrm>
            <a:off x="685800" y="1005840"/>
            <a:ext cx="10835640" cy="621792"/>
          </a:xfrm>
          <a:prstGeom prst="roundRect">
            <a:avLst/>
          </a:prstGeom>
          <a:solidFill>
            <a:srgbClr val="FEF2F2"/>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29184"/>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79608" cy="292608"/>
          </a:xfrm>
          <a:prstGeom prst="rect">
            <a:avLst/>
          </a:prstGeom>
          <a:noFill/>
        </p:spPr>
        <p:txBody>
          <a:bodyPr wrap="square" anchor="t" lIns="27432" rIns="27432" tIns="18288" bIns="18288">
            <a:spAutoFit/>
          </a:bodyPr>
          <a:lstStyle/>
          <a:p>
            <a:pPr algn="l"/>
            <a:r>
              <a:rPr sz="1150" b="1">
                <a:solidFill>
                  <a:srgbClr val="0F172A"/>
                </a:solidFill>
                <a:latin typeface="Aptos"/>
              </a:rPr>
              <a:t>capstone scenario</a:t>
            </a:r>
          </a:p>
        </p:txBody>
      </p:sp>
      <p:sp>
        <p:nvSpPr>
          <p:cNvPr id="11" name="TextBox 10"/>
          <p:cNvSpPr txBox="1"/>
          <p:nvPr/>
        </p:nvSpPr>
        <p:spPr>
          <a:xfrm>
            <a:off x="850392" y="1444752"/>
            <a:ext cx="10579608" cy="91440"/>
          </a:xfrm>
          <a:prstGeom prst="rect">
            <a:avLst/>
          </a:prstGeom>
          <a:noFill/>
        </p:spPr>
        <p:txBody>
          <a:bodyPr wrap="square" anchor="t" lIns="27432" rIns="27432" tIns="18288" bIns="18288">
            <a:spAutoFit/>
          </a:bodyPr>
          <a:lstStyle/>
          <a:p>
            <a:pPr algn="l"/>
            <a:r>
              <a:rPr sz="850" b="0">
                <a:solidFill>
                  <a:srgbClr val="475569"/>
                </a:solidFill>
                <a:latin typeface="Aptos"/>
              </a:rPr>
              <a:t>A high-risk area shows a new persistent color change.</a:t>
            </a:r>
          </a:p>
        </p:txBody>
      </p:sp>
      <p:sp>
        <p:nvSpPr>
          <p:cNvPr id="12" name="Rounded Rectangle 11"/>
          <p:cNvSpPr/>
          <p:nvPr/>
        </p:nvSpPr>
        <p:spPr>
          <a:xfrm>
            <a:off x="914400" y="1874519"/>
            <a:ext cx="1037844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9264" y="2020824"/>
            <a:ext cx="45720" cy="365759"/>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1984248"/>
            <a:ext cx="10122408" cy="292608"/>
          </a:xfrm>
          <a:prstGeom prst="rect">
            <a:avLst/>
          </a:prstGeom>
          <a:noFill/>
        </p:spPr>
        <p:txBody>
          <a:bodyPr wrap="square" anchor="t" lIns="27432" rIns="27432" tIns="18288" bIns="18288">
            <a:spAutoFit/>
          </a:bodyPr>
          <a:lstStyle/>
          <a:p>
            <a:pPr algn="l"/>
            <a:r>
              <a:rPr sz="1250" b="1">
                <a:solidFill>
                  <a:srgbClr val="0F172A"/>
                </a:solidFill>
                <a:latin typeface="Aptos"/>
              </a:rPr>
              <a:t>priority nursing response</a:t>
            </a:r>
          </a:p>
        </p:txBody>
      </p:sp>
      <p:sp>
        <p:nvSpPr>
          <p:cNvPr id="15" name="TextBox 14"/>
          <p:cNvSpPr txBox="1"/>
          <p:nvPr/>
        </p:nvSpPr>
        <p:spPr>
          <a:xfrm>
            <a:off x="1078992" y="2313432"/>
            <a:ext cx="10122408" cy="128016"/>
          </a:xfrm>
          <a:prstGeom prst="rect">
            <a:avLst/>
          </a:prstGeom>
          <a:noFill/>
        </p:spPr>
        <p:txBody>
          <a:bodyPr wrap="square" anchor="t" lIns="27432" rIns="27432" tIns="18288" bIns="18288">
            <a:spAutoFit/>
          </a:bodyPr>
          <a:lstStyle/>
          <a:p>
            <a:pPr algn="l"/>
            <a:r>
              <a:rPr sz="900" b="0">
                <a:solidFill>
                  <a:srgbClr val="475569"/>
                </a:solidFill>
                <a:latin typeface="Aptos"/>
              </a:rPr>
              <a:t>What is the priority nursing action?</a:t>
            </a:r>
          </a:p>
        </p:txBody>
      </p:sp>
      <p:sp>
        <p:nvSpPr>
          <p:cNvPr id="16" name="Rounded Rectangle 15"/>
          <p:cNvSpPr/>
          <p:nvPr/>
        </p:nvSpPr>
        <p:spPr>
          <a:xfrm>
            <a:off x="1097280" y="2788920"/>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2898648"/>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A</a:t>
            </a:r>
          </a:p>
        </p:txBody>
      </p:sp>
      <p:sp>
        <p:nvSpPr>
          <p:cNvPr id="18" name="TextBox 17"/>
          <p:cNvSpPr txBox="1"/>
          <p:nvPr/>
        </p:nvSpPr>
        <p:spPr>
          <a:xfrm>
            <a:off x="1627632" y="2871215"/>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A. Delay action until the end of the shift.</a:t>
            </a:r>
          </a:p>
        </p:txBody>
      </p:sp>
      <p:sp>
        <p:nvSpPr>
          <p:cNvPr id="19" name="Rounded Rectangle 18"/>
          <p:cNvSpPr/>
          <p:nvPr/>
        </p:nvSpPr>
        <p:spPr>
          <a:xfrm>
            <a:off x="1097280" y="3319272"/>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429000"/>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B</a:t>
            </a:r>
          </a:p>
        </p:txBody>
      </p:sp>
      <p:sp>
        <p:nvSpPr>
          <p:cNvPr id="21" name="TextBox 20"/>
          <p:cNvSpPr txBox="1"/>
          <p:nvPr/>
        </p:nvSpPr>
        <p:spPr>
          <a:xfrm>
            <a:off x="1627632" y="3401568"/>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B. Relieve pressure, reassess the area, document the finding, and escalate per policy.</a:t>
            </a:r>
          </a:p>
        </p:txBody>
      </p:sp>
      <p:sp>
        <p:nvSpPr>
          <p:cNvPr id="22" name="Rounded Rectangle 21"/>
          <p:cNvSpPr/>
          <p:nvPr/>
        </p:nvSpPr>
        <p:spPr>
          <a:xfrm>
            <a:off x="1097280" y="3849624"/>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3959352"/>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C</a:t>
            </a:r>
          </a:p>
        </p:txBody>
      </p:sp>
      <p:sp>
        <p:nvSpPr>
          <p:cNvPr id="24" name="TextBox 23"/>
          <p:cNvSpPr txBox="1"/>
          <p:nvPr/>
        </p:nvSpPr>
        <p:spPr>
          <a:xfrm>
            <a:off x="1627632" y="3931920"/>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C. Document the finding without reassessment or follow-up.</a:t>
            </a:r>
          </a:p>
        </p:txBody>
      </p:sp>
      <p:sp>
        <p:nvSpPr>
          <p:cNvPr id="25" name="Rounded Rectangle 24"/>
          <p:cNvSpPr/>
          <p:nvPr/>
        </p:nvSpPr>
        <p:spPr>
          <a:xfrm>
            <a:off x="1097280" y="4379975"/>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4489703"/>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D</a:t>
            </a:r>
          </a:p>
        </p:txBody>
      </p:sp>
      <p:sp>
        <p:nvSpPr>
          <p:cNvPr id="27" name="TextBox 26"/>
          <p:cNvSpPr txBox="1"/>
          <p:nvPr/>
        </p:nvSpPr>
        <p:spPr>
          <a:xfrm>
            <a:off x="1627632" y="4462271"/>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D. Delegate the clinical judgment decision to unlicensed assistive personnel.</a:t>
            </a:r>
          </a:p>
        </p:txBody>
      </p:sp>
      <p:sp>
        <p:nvSpPr>
          <p:cNvPr id="28" name="Rounded Rectangle 27"/>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Choose the priority action.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Rapid retrieval: exit check</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S16  ·  source-aligned</a:t>
            </a:r>
          </a:p>
        </p:txBody>
      </p:sp>
      <p:sp>
        <p:nvSpPr>
          <p:cNvPr id="8" name="Rounded Rectangle 7"/>
          <p:cNvSpPr/>
          <p:nvPr/>
        </p:nvSpPr>
        <p:spPr>
          <a:xfrm>
            <a:off x="777240" y="1143000"/>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216152"/>
            <a:ext cx="45720" cy="292608"/>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261872"/>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Prevention is individualized.</a:t>
            </a:r>
          </a:p>
        </p:txBody>
      </p:sp>
      <p:sp>
        <p:nvSpPr>
          <p:cNvPr id="11" name="Rounded Rectangle 10"/>
          <p:cNvSpPr/>
          <p:nvPr/>
        </p:nvSpPr>
        <p:spPr>
          <a:xfrm>
            <a:off x="777240" y="1801368"/>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1874519"/>
            <a:ext cx="45720" cy="292608"/>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20240"/>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Avoid friction and shear.</a:t>
            </a:r>
          </a:p>
        </p:txBody>
      </p:sp>
      <p:sp>
        <p:nvSpPr>
          <p:cNvPr id="14" name="Rounded Rectangle 13"/>
          <p:cNvSpPr/>
          <p:nvPr/>
        </p:nvSpPr>
        <p:spPr>
          <a:xfrm>
            <a:off x="777240" y="2459736"/>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2532888"/>
            <a:ext cx="45720" cy="292608"/>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578608"/>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Check beneath devices.</a:t>
            </a:r>
          </a:p>
        </p:txBody>
      </p:sp>
      <p:sp>
        <p:nvSpPr>
          <p:cNvPr id="17" name="Rounded Rectangle 16"/>
          <p:cNvSpPr/>
          <p:nvPr/>
        </p:nvSpPr>
        <p:spPr>
          <a:xfrm>
            <a:off x="777240" y="3118104"/>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3191256"/>
            <a:ext cx="45720" cy="292608"/>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236976"/>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Escalate new nonblanching or worsening skin changes.</a:t>
            </a:r>
          </a:p>
        </p:txBody>
      </p:sp>
      <p:sp>
        <p:nvSpPr>
          <p:cNvPr id="20" name="Rounded Rectangle 19"/>
          <p:cNvSpPr/>
          <p:nvPr/>
        </p:nvSpPr>
        <p:spPr>
          <a:xfrm>
            <a:off x="777240" y="3776472"/>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3849624"/>
            <a:ext cx="45720" cy="292608"/>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895344"/>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Evaluate skin response and update the plan.</a:t>
            </a:r>
          </a:p>
        </p:txBody>
      </p:sp>
      <p:sp>
        <p:nvSpPr>
          <p:cNvPr id="23" name="Rounded Rectangle 22"/>
          <p:cNvSpPr/>
          <p:nvPr/>
        </p:nvSpPr>
        <p:spPr>
          <a:xfrm>
            <a:off x="1188720" y="5989320"/>
            <a:ext cx="9784080" cy="41148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475569"/>
                </a:solidFill>
                <a:latin typeface="Aptos"/>
              </a:rPr>
              <a:t>Answer all of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Takeaway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17</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S17  ·  instructor-added</a:t>
            </a:r>
          </a:p>
        </p:txBody>
      </p:sp>
      <p:sp>
        <p:nvSpPr>
          <p:cNvPr id="7" name="Rounded Rectangle 6"/>
          <p:cNvSpPr/>
          <p:nvPr/>
        </p:nvSpPr>
        <p:spPr>
          <a:xfrm>
            <a:off x="502920"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7784" y="14721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Prevention Is Individualized</a:t>
            </a:r>
          </a:p>
        </p:txBody>
      </p:sp>
      <p:sp>
        <p:nvSpPr>
          <p:cNvPr id="10" name="TextBox 9"/>
          <p:cNvSpPr txBox="1"/>
          <p:nvPr/>
        </p:nvSpPr>
        <p:spPr>
          <a:xfrm>
            <a:off x="667512"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Prevention is individualized.</a:t>
            </a:r>
          </a:p>
        </p:txBody>
      </p:sp>
      <p:sp>
        <p:nvSpPr>
          <p:cNvPr id="11" name="Rounded Rectangle 10"/>
          <p:cNvSpPr/>
          <p:nvPr/>
        </p:nvSpPr>
        <p:spPr>
          <a:xfrm>
            <a:off x="3340531"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5395" y="14721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123"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Avoid Friction And Shear</a:t>
            </a:r>
          </a:p>
        </p:txBody>
      </p:sp>
      <p:sp>
        <p:nvSpPr>
          <p:cNvPr id="14" name="TextBox 13"/>
          <p:cNvSpPr txBox="1"/>
          <p:nvPr/>
        </p:nvSpPr>
        <p:spPr>
          <a:xfrm>
            <a:off x="3505123"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Avoid friction and shear.</a:t>
            </a:r>
          </a:p>
        </p:txBody>
      </p:sp>
      <p:sp>
        <p:nvSpPr>
          <p:cNvPr id="15" name="Rounded Rectangle 14"/>
          <p:cNvSpPr/>
          <p:nvPr/>
        </p:nvSpPr>
        <p:spPr>
          <a:xfrm>
            <a:off x="6178143"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147218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2735"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Check Beneath Devices</a:t>
            </a:r>
          </a:p>
        </p:txBody>
      </p:sp>
      <p:sp>
        <p:nvSpPr>
          <p:cNvPr id="18" name="TextBox 17"/>
          <p:cNvSpPr txBox="1"/>
          <p:nvPr/>
        </p:nvSpPr>
        <p:spPr>
          <a:xfrm>
            <a:off x="6342735"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Check beneath devices.</a:t>
            </a:r>
          </a:p>
        </p:txBody>
      </p:sp>
      <p:sp>
        <p:nvSpPr>
          <p:cNvPr id="19" name="Rounded Rectangle 18"/>
          <p:cNvSpPr/>
          <p:nvPr/>
        </p:nvSpPr>
        <p:spPr>
          <a:xfrm>
            <a:off x="9015755"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70619" y="147218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347"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Escalate New Nonblanching Or Worsening S</a:t>
            </a:r>
          </a:p>
        </p:txBody>
      </p:sp>
      <p:sp>
        <p:nvSpPr>
          <p:cNvPr id="22" name="TextBox 21"/>
          <p:cNvSpPr txBox="1"/>
          <p:nvPr/>
        </p:nvSpPr>
        <p:spPr>
          <a:xfrm>
            <a:off x="9180347"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Escalate new nonblanching or worsening skin changes.</a:t>
            </a:r>
          </a:p>
        </p:txBody>
      </p:sp>
      <p:sp>
        <p:nvSpPr>
          <p:cNvPr id="23" name="Rounded Rectangle 22"/>
          <p:cNvSpPr/>
          <p:nvPr/>
        </p:nvSpPr>
        <p:spPr>
          <a:xfrm>
            <a:off x="1234440" y="4892040"/>
            <a:ext cx="964692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89304" y="5038344"/>
            <a:ext cx="45720" cy="530352"/>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99032" y="5001768"/>
            <a:ext cx="9390888" cy="292608"/>
          </a:xfrm>
          <a:prstGeom prst="rect">
            <a:avLst/>
          </a:prstGeom>
          <a:noFill/>
        </p:spPr>
        <p:txBody>
          <a:bodyPr wrap="square" anchor="t" lIns="27432" rIns="27432" tIns="18288" bIns="18288">
            <a:spAutoFit/>
          </a:bodyPr>
          <a:lstStyle/>
          <a:p>
            <a:pPr algn="l"/>
            <a:r>
              <a:rPr sz="1200" b="1">
                <a:solidFill>
                  <a:srgbClr val="0F172A"/>
                </a:solidFill>
                <a:latin typeface="Aptos"/>
              </a:rPr>
              <a:t>final bedside frame</a:t>
            </a:r>
          </a:p>
        </p:txBody>
      </p:sp>
      <p:sp>
        <p:nvSpPr>
          <p:cNvPr id="26" name="TextBox 25"/>
          <p:cNvSpPr txBox="1"/>
          <p:nvPr/>
        </p:nvSpPr>
        <p:spPr>
          <a:xfrm>
            <a:off x="1399032" y="5330952"/>
            <a:ext cx="9390888" cy="292608"/>
          </a:xfrm>
          <a:prstGeom prst="rect">
            <a:avLst/>
          </a:prstGeom>
          <a:noFill/>
        </p:spPr>
        <p:txBody>
          <a:bodyPr wrap="square" anchor="t" lIns="27432" rIns="27432" tIns="18288" bIns="18288">
            <a:spAutoFit/>
          </a:bodyPr>
          <a:lstStyle/>
          <a:p>
            <a:pPr algn="l"/>
            <a:r>
              <a:rPr sz="800" b="0">
                <a:solidFill>
                  <a:srgbClr val="475569"/>
                </a:solidFill>
                <a:latin typeface="Aptos"/>
              </a:rPr>
              <a:t>Identify individual pressure-injury risks and combine repositioning, surface selection, moisture management, nutrition, and skin reassessment.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