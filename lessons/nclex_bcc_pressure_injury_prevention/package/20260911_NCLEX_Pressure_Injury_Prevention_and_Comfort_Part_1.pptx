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Pressure Injury Prevention and Comfort. Identify individual pressure-injury risks and combine repositioning, surface selection, moisture management, nutrition, and skin reassessment. Five lanes carry the lesson: risk assessment, prevention bundle, evaluate, apply, evaluate.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one cue. An immobile patient slides down repeatedly in bed. Decide what you would do before the lesson tells you, and hold on to it; the same cue returns as the first assessment item.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question organizes the lesson: Identify individual pressure-injury risks and combine repositioning, surface selection, moisture management, nutrition, and skin reassessment.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first. The three teaching lanes are the topic's own sections; apply and evaluate close the loop.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before any of this is taught. These three headings are the whole lesson in order, but they are shuffled on the slide. Put them in the sequence the nurse actually performs them at the bedside, then compare with a neighbour before the reveal. Getting the order wrong here is more useful than getting it right: it shows you which move you would have skipped under pressure.</a:t>
            </a:r>
          </a:p>
          <a:p/>
          <a:p>
            <a:r>
              <a:t>ANSWER KEY:</a:t>
            </a:r>
          </a:p>
          <a:p>
            <a:r>
              <a:t>- Risk assessment</a:t>
            </a:r>
          </a:p>
          <a:p>
            <a:r>
              <a:t>- Prevention bundle</a:t>
            </a:r>
          </a:p>
          <a:p>
            <a:r>
              <a:t>- Evaluate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Risk assessment. Assess mobility, sensation, moisture, perfusion, nutrition, friction, shear, devices, and current skin findings. Everything on this slide is the source topic's own wording; the bullets are that same sentence broken up for the screen. This is lane 1 of 3, and it answers: Identify modifiable pressure-injury risks.</a:t>
            </a:r>
          </a:p>
          <a:p/>
          <a:p>
            <a:r>
              <a:t>VISUAL NOTES: Section 1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Prevention bundle. Use individualized repositioning, pressure redistribution, heel off-loading, moisture protection, nutrition support, and device checks. Everything on this slide is the source topic's own wording; the bullets are that same sentence broken up for the screen. This is lane 2 of 3, and it answers: Select individualized prevention interventions.</a:t>
            </a:r>
          </a:p>
          <a:p/>
          <a:p>
            <a:r>
              <a:t>VISUAL NOTES: Section 2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Evaluate. Inspect high-risk areas and device contact points, document changes, and revise the prevention plan when skin tolerance worsens. Everything on this slide is the source topic's own wording; the bullets are that same sentence broken up for the screen. This is lane 3 of 3, and it answers: Evaluate skin response and update the plan.</a:t>
            </a:r>
          </a:p>
          <a:p/>
          <a:p>
            <a:r>
              <a:t>VISUAL NOTES: Section 3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with one partner. Match each cue to the section of the lesson that tells you what to do with it.</a:t>
            </a:r>
          </a:p>
          <a:p/>
          <a:p>
            <a:r>
              <a:t>ANSWER KEY:</a:t>
            </a:r>
          </a:p>
          <a:p>
            <a:r>
              <a:t>- A relates to: Risk assessment</a:t>
            </a:r>
          </a:p>
          <a:p>
            <a:r>
              <a:t>- B relates to: Prevention bundle</a:t>
            </a:r>
          </a:p>
          <a:p>
            <a:r>
              <a:t>- C relates to: Evaluate</a:t>
            </a:r>
          </a:p>
          <a:p>
            <a:r>
              <a:t>- D relates to: Evaluate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rationale below is the topic's own. Read them as a set: they describe one habit of mind, not five rules.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question, and it targets the middle of the lesson. The cue is: Moisture is trapped against the sacral skin. Read all four options and commit to one before the reveal, because the value of a checkpoint is in being wrong out loud rather than quietly. The reasoning you are being tested on is this: Persistent moisture weakens the skin barrier and increases injury risk.</a:t>
            </a:r>
          </a:p>
          <a:p/>
          <a:p>
            <a:r>
              <a:t>CORRECT: C</a:t>
            </a:r>
          </a:p>
          <a:p>
            <a:r>
              <a:t>RATIONALE: Persistent moisture weakens the skin barrier and increases injury risk.</a:t>
            </a:r>
          </a:p>
          <a:p/>
          <a:p>
            <a:r>
              <a:t>ANSWER KEY:</a:t>
            </a:r>
          </a:p>
          <a:p>
            <a:r>
              <a:t>- C. Cleanse gently, manage the moisture source, and apply an appropriate moisture barrier.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bedside moment, and this time you write rather than choose. The situation: A medical device rests tightly against the patient's skin. Write two sentences before the debrief: one naming what you assess, one naming what you do about it. Keep them in that order, because the order is the judgement. The keyed reasoning is: Medical devices can concentrate pressure and conceal evolving injury.</a:t>
            </a:r>
          </a:p>
          <a:p/>
          <a:p>
            <a:r>
              <a:t>ANSWER KEY:</a:t>
            </a:r>
          </a:p>
          <a:p>
            <a:r>
              <a:t>- Inspect beneath and around the device and relieve avoidable pressure.</a:t>
            </a:r>
          </a:p>
          <a:p>
            <a:r>
              <a:t>- Medical devices can concentrate pressure and conceal evolving injury.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and the sorting rule is the point of the slide. Put a cue on the left when delay changes the outcome for the patient, and on the right when the correct action is verification, planning or teaching that a short delay does not worsen. Justify one of your placements aloud. Learners who can sort these reliably are the ones who prioritise well under load.</a:t>
            </a:r>
          </a:p>
          <a:p/>
          <a:p>
            <a:r>
              <a:t>ANSWER KEY:</a:t>
            </a:r>
          </a:p>
          <a:p>
            <a:r>
              <a:t>- Act now: the cues whose keyed action is immediate</a:t>
            </a:r>
          </a:p>
          <a:p>
            <a:r>
              <a:t>- Act in sequence: the cues whose keyed action is verification or planning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fields the topic asks you to be able to fill in for any patient. If you cannot complete one, that is the part of the assessment still to do.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question, and the hardest cue the topic carries: A high-risk area shows a new persistent color change. All four options are things a nurse might plausibly do, which is what makes it a capstone rather than a checkpoint. Choose the priority action, not merely a defensible one. The reasoning that separates them: Early recognition and pressure relief help prevent progression.</a:t>
            </a:r>
          </a:p>
          <a:p/>
          <a:p>
            <a:r>
              <a:t>CORRECT: B</a:t>
            </a:r>
          </a:p>
          <a:p>
            <a:r>
              <a:t>RATIONALE: Early recognition and pressure relief help prevent progression.</a:t>
            </a:r>
          </a:p>
          <a:p/>
          <a:p>
            <a:r>
              <a:t>ANSWER KEY:</a:t>
            </a:r>
          </a:p>
          <a:p>
            <a:r>
              <a:t>- B. Relieve pressure, reassess the area, document the finding, and escalate per policy.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with no notes. Answer each of these aloud or on paper, one per lane of the lesson. The answers are on the slides you have just seen and in the facilitator guide, so this is retrieval rather than assessment. If any one of them produces silence across the room, that is the lane to re-teach before this cohort meets the situation on a real unit.</a:t>
            </a:r>
          </a:p>
          <a:p/>
          <a:p>
            <a:r>
              <a:t>ANSWER KEY:</a:t>
            </a:r>
          </a:p>
          <a:p>
            <a:r>
              <a:t>- Prevention is individualized.</a:t>
            </a:r>
          </a:p>
          <a:p>
            <a:r>
              <a:t>- Avoid friction and shear.</a:t>
            </a:r>
          </a:p>
          <a:p>
            <a:r>
              <a:t>- Check beneath devices.</a:t>
            </a:r>
          </a:p>
          <a:p>
            <a:r>
              <a:t>- Escalate new nonblanching or worsening skin changes.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frame.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502920" y="457200"/>
            <a:ext cx="2194560" cy="182880"/>
          </a:xfrm>
          <a:prstGeom prst="rect">
            <a:avLst/>
          </a:prstGeom>
          <a:noFill/>
        </p:spPr>
        <p:txBody>
          <a:bodyPr wrap="square" anchor="t" lIns="27432" rIns="27432" tIns="18288" bIns="18288">
            <a:spAutoFit/>
          </a:bodyPr>
          <a:lstStyle/>
          <a:p>
            <a:pPr algn="l"/>
            <a:r>
              <a:rPr sz="720" b="1">
                <a:solidFill>
                  <a:srgbClr val="2563EB"/>
                </a:solidFill>
                <a:latin typeface="Aptos"/>
              </a:rPr>
              <a:t>OPEN</a:t>
            </a:r>
          </a:p>
        </p:txBody>
      </p:sp>
      <p:sp>
        <p:nvSpPr>
          <p:cNvPr id="3" name="TextBox 2"/>
          <p:cNvSpPr txBox="1"/>
          <p:nvPr/>
        </p:nvSpPr>
        <p:spPr>
          <a:xfrm>
            <a:off x="502920" y="822960"/>
            <a:ext cx="7498079" cy="548640"/>
          </a:xfrm>
          <a:prstGeom prst="rect">
            <a:avLst/>
          </a:prstGeom>
          <a:noFill/>
        </p:spPr>
        <p:txBody>
          <a:bodyPr wrap="square" anchor="t" lIns="27432" rIns="27432" tIns="18288" bIns="18288">
            <a:spAutoFit/>
          </a:bodyPr>
          <a:lstStyle/>
          <a:p>
            <a:pPr algn="l"/>
            <a:r>
              <a:rPr sz="2800" b="1">
                <a:solidFill>
                  <a:srgbClr val="0F172A"/>
                </a:solidFill>
                <a:latin typeface="Aptos"/>
              </a:rPr>
              <a:t>Pressure Injury Prevention and Comfort</a:t>
            </a:r>
          </a:p>
        </p:txBody>
      </p:sp>
      <p:sp>
        <p:nvSpPr>
          <p:cNvPr id="4" name="TextBox 3"/>
          <p:cNvSpPr txBox="1"/>
          <p:nvPr/>
        </p:nvSpPr>
        <p:spPr>
          <a:xfrm>
            <a:off x="530352" y="1463040"/>
            <a:ext cx="7589520" cy="438912"/>
          </a:xfrm>
          <a:prstGeom prst="rect">
            <a:avLst/>
          </a:prstGeom>
          <a:noFill/>
        </p:spPr>
        <p:txBody>
          <a:bodyPr wrap="square" anchor="t" lIns="27432" rIns="27432" tIns="18288" bIns="18288">
            <a:spAutoFit/>
          </a:bodyPr>
          <a:lstStyle/>
          <a:p>
            <a:pPr algn="l"/>
            <a:r>
              <a:rPr sz="1200" b="0">
                <a:solidFill>
                  <a:srgbClr val="475569"/>
                </a:solidFill>
                <a:latin typeface="Aptos"/>
              </a:rPr>
              <a:t>NCLEX  ·  Basic Care and Comfort  ·  Pressure_Injury_Prevention_and_Comfort</a:t>
            </a:r>
          </a:p>
        </p:txBody>
      </p:sp>
      <p:sp>
        <p:nvSpPr>
          <p:cNvPr id="5" name="Rounded Rectangle 4"/>
          <p:cNvSpPr/>
          <p:nvPr/>
        </p:nvSpPr>
        <p:spPr>
          <a:xfrm>
            <a:off x="502920" y="2331720"/>
            <a:ext cx="5303520" cy="10515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7784" y="2478024"/>
            <a:ext cx="45720" cy="758951"/>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2441448"/>
            <a:ext cx="5047488" cy="292608"/>
          </a:xfrm>
          <a:prstGeom prst="rect">
            <a:avLst/>
          </a:prstGeom>
          <a:noFill/>
        </p:spPr>
        <p:txBody>
          <a:bodyPr wrap="square" anchor="t" lIns="27432" rIns="27432" tIns="18288" bIns="18288">
            <a:spAutoFit/>
          </a:bodyPr>
          <a:lstStyle/>
          <a:p>
            <a:pPr algn="l"/>
            <a:r>
              <a:rPr sz="1300" b="1">
                <a:solidFill>
                  <a:srgbClr val="0F172A"/>
                </a:solidFill>
                <a:latin typeface="Aptos"/>
              </a:rPr>
              <a:t>clinical question</a:t>
            </a:r>
          </a:p>
        </p:txBody>
      </p:sp>
      <p:sp>
        <p:nvSpPr>
          <p:cNvPr id="8" name="TextBox 7"/>
          <p:cNvSpPr txBox="1"/>
          <p:nvPr/>
        </p:nvSpPr>
        <p:spPr>
          <a:xfrm>
            <a:off x="667512" y="2770632"/>
            <a:ext cx="5047488" cy="521207"/>
          </a:xfrm>
          <a:prstGeom prst="rect">
            <a:avLst/>
          </a:prstGeom>
          <a:noFill/>
        </p:spPr>
        <p:txBody>
          <a:bodyPr wrap="square" anchor="t" lIns="27432" rIns="27432" tIns="18288" bIns="18288">
            <a:spAutoFit/>
          </a:bodyPr>
          <a:lstStyle/>
          <a:p>
            <a:pPr algn="l"/>
            <a:r>
              <a:rPr sz="900" b="0">
                <a:solidFill>
                  <a:srgbClr val="475569"/>
                </a:solidFill>
                <a:latin typeface="Aptos"/>
              </a:rPr>
              <a:t>Identify individual pressure-injury risks and combine repositioning, surface selection, moisture management, nutrition, and skin reassessment.</a:t>
            </a:r>
          </a:p>
        </p:txBody>
      </p:sp>
      <p:sp>
        <p:nvSpPr>
          <p:cNvPr id="9" name="Rounded Rectangle 8"/>
          <p:cNvSpPr/>
          <p:nvPr/>
        </p:nvSpPr>
        <p:spPr>
          <a:xfrm>
            <a:off x="502920" y="3611880"/>
            <a:ext cx="5303520" cy="132588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7784" y="3758184"/>
            <a:ext cx="45720" cy="1033271"/>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3721608"/>
            <a:ext cx="5047488" cy="292608"/>
          </a:xfrm>
          <a:prstGeom prst="rect">
            <a:avLst/>
          </a:prstGeom>
          <a:noFill/>
        </p:spPr>
        <p:txBody>
          <a:bodyPr wrap="square" anchor="t" lIns="27432" rIns="27432" tIns="18288" bIns="18288">
            <a:spAutoFit/>
          </a:bodyPr>
          <a:lstStyle/>
          <a:p>
            <a:pPr algn="l"/>
            <a:r>
              <a:rPr sz="1300" b="1">
                <a:solidFill>
                  <a:srgbClr val="0F172A"/>
                </a:solidFill>
                <a:latin typeface="Aptos"/>
              </a:rPr>
              <a:t>today is not a vocabulary tour</a:t>
            </a:r>
          </a:p>
        </p:txBody>
      </p:sp>
      <p:sp>
        <p:nvSpPr>
          <p:cNvPr id="12" name="TextBox 11"/>
          <p:cNvSpPr txBox="1"/>
          <p:nvPr/>
        </p:nvSpPr>
        <p:spPr>
          <a:xfrm>
            <a:off x="667512" y="4050791"/>
            <a:ext cx="5047488" cy="795528"/>
          </a:xfrm>
          <a:prstGeom prst="rect">
            <a:avLst/>
          </a:prstGeom>
          <a:noFill/>
        </p:spPr>
        <p:txBody>
          <a:bodyPr wrap="square" anchor="t" lIns="27432" rIns="27432" tIns="18288" bIns="18288">
            <a:spAutoFit/>
          </a:bodyPr>
          <a:lstStyle/>
          <a:p>
            <a:pPr algn="l"/>
            <a:r>
              <a:rPr sz="900" b="0">
                <a:solidFill>
                  <a:srgbClr val="475569"/>
                </a:solidFill>
                <a:latin typeface="Aptos"/>
              </a:rPr>
              <a:t>you will use the science only when it explains a patient question or a safety decision.</a:t>
            </a:r>
          </a:p>
        </p:txBody>
      </p:sp>
      <p:sp>
        <p:nvSpPr>
          <p:cNvPr id="13" name="Rounded Rectangle 12"/>
          <p:cNvSpPr/>
          <p:nvPr/>
        </p:nvSpPr>
        <p:spPr>
          <a:xfrm>
            <a:off x="8458200" y="502920"/>
            <a:ext cx="1965960" cy="196596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0" y="914400"/>
            <a:ext cx="1417320" cy="274320"/>
          </a:xfrm>
          <a:prstGeom prst="rect">
            <a:avLst/>
          </a:prstGeom>
          <a:noFill/>
        </p:spPr>
        <p:txBody>
          <a:bodyPr wrap="square" anchor="t" lIns="27432" rIns="27432" tIns="18288" bIns="18288">
            <a:spAutoFit/>
          </a:bodyPr>
          <a:lstStyle/>
          <a:p>
            <a:pPr algn="ctr"/>
            <a:r>
              <a:rPr sz="1300" b="1">
                <a:solidFill>
                  <a:srgbClr val="2563EB"/>
                </a:solidFill>
                <a:latin typeface="Aptos"/>
              </a:rPr>
              <a:t>Nurse lens</a:t>
            </a:r>
          </a:p>
        </p:txBody>
      </p:sp>
      <p:sp>
        <p:nvSpPr>
          <p:cNvPr id="15" name="TextBox 14"/>
          <p:cNvSpPr txBox="1"/>
          <p:nvPr/>
        </p:nvSpPr>
        <p:spPr>
          <a:xfrm>
            <a:off x="8915400" y="1234440"/>
            <a:ext cx="1097280" cy="685800"/>
          </a:xfrm>
          <a:prstGeom prst="rect">
            <a:avLst/>
          </a:prstGeom>
          <a:noFill/>
        </p:spPr>
        <p:txBody>
          <a:bodyPr wrap="square" anchor="t" lIns="27432" rIns="27432" tIns="18288" bIns="18288">
            <a:spAutoFit/>
          </a:bodyPr>
          <a:lstStyle/>
          <a:p>
            <a:pPr algn="ctr"/>
            <a:r>
              <a:rPr sz="1000" b="1">
                <a:solidFill>
                  <a:srgbClr val="0F172A"/>
                </a:solidFill>
                <a:latin typeface="Aptos"/>
              </a:rPr>
              <a:t>TEACH
ASSESS
ESCALATE</a:t>
            </a:r>
          </a:p>
        </p:txBody>
      </p:sp>
      <p:sp>
        <p:nvSpPr>
          <p:cNvPr id="16" name="Rounded Rectangle 15"/>
          <p:cNvSpPr/>
          <p:nvPr/>
        </p:nvSpPr>
        <p:spPr>
          <a:xfrm>
            <a:off x="64008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94944" y="5404104"/>
            <a:ext cx="45720" cy="365759"/>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1"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1</a:t>
            </a:r>
          </a:p>
        </p:txBody>
      </p:sp>
      <p:sp>
        <p:nvSpPr>
          <p:cNvPr id="19" name="TextBox 18"/>
          <p:cNvSpPr txBox="1"/>
          <p:nvPr/>
        </p:nvSpPr>
        <p:spPr>
          <a:xfrm>
            <a:off x="804671"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Pressure Injury Prevention and Comfort</a:t>
            </a:r>
          </a:p>
        </p:txBody>
      </p:sp>
      <p:sp>
        <p:nvSpPr>
          <p:cNvPr id="20" name="Rounded Rectangle 19"/>
          <p:cNvSpPr/>
          <p:nvPr/>
        </p:nvSpPr>
        <p:spPr>
          <a:xfrm>
            <a:off x="342900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83864" y="5404104"/>
            <a:ext cx="45720" cy="365759"/>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93592"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2</a:t>
            </a:r>
          </a:p>
        </p:txBody>
      </p:sp>
      <p:sp>
        <p:nvSpPr>
          <p:cNvPr id="23" name="TextBox 22"/>
          <p:cNvSpPr txBox="1"/>
          <p:nvPr/>
        </p:nvSpPr>
        <p:spPr>
          <a:xfrm>
            <a:off x="3593592"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Prelicensure RN · Basic Care and Comfort · safety risk: elevated</a:t>
            </a:r>
          </a:p>
        </p:txBody>
      </p:sp>
      <p:sp>
        <p:nvSpPr>
          <p:cNvPr id="24" name="TextBox 23"/>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25" name="TextBox 24"/>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S01  ·  instructor-added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OPEN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Opening case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2</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S02  ·  source-aligned</a:t>
            </a:r>
          </a:p>
        </p:txBody>
      </p:sp>
      <p:sp>
        <p:nvSpPr>
          <p:cNvPr id="8" name="Rounded Rectangle 7"/>
          <p:cNvSpPr/>
          <p:nvPr/>
        </p:nvSpPr>
        <p:spPr>
          <a:xfrm>
            <a:off x="548640" y="1097280"/>
            <a:ext cx="5394960" cy="1325880"/>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3503" y="1243584"/>
            <a:ext cx="45720" cy="1033271"/>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7"/>
            <a:ext cx="5138928" cy="292608"/>
          </a:xfrm>
          <a:prstGeom prst="rect">
            <a:avLst/>
          </a:prstGeom>
          <a:noFill/>
        </p:spPr>
        <p:txBody>
          <a:bodyPr wrap="square" anchor="t" lIns="27432" rIns="27432" tIns="18288" bIns="18288">
            <a:spAutoFit/>
          </a:bodyPr>
          <a:lstStyle/>
          <a:p>
            <a:pPr algn="l"/>
            <a:r>
              <a:rPr sz="1300" b="1">
                <a:solidFill>
                  <a:srgbClr val="0F172A"/>
                </a:solidFill>
                <a:latin typeface="Aptos"/>
              </a:rPr>
              <a:t>patient says</a:t>
            </a:r>
          </a:p>
        </p:txBody>
      </p:sp>
      <p:sp>
        <p:nvSpPr>
          <p:cNvPr id="11" name="TextBox 10"/>
          <p:cNvSpPr txBox="1"/>
          <p:nvPr/>
        </p:nvSpPr>
        <p:spPr>
          <a:xfrm>
            <a:off x="713232" y="1536192"/>
            <a:ext cx="5138928" cy="795528"/>
          </a:xfrm>
          <a:prstGeom prst="rect">
            <a:avLst/>
          </a:prstGeom>
          <a:noFill/>
        </p:spPr>
        <p:txBody>
          <a:bodyPr wrap="square" anchor="t" lIns="27432" rIns="27432" tIns="18288" bIns="18288">
            <a:spAutoFit/>
          </a:bodyPr>
          <a:lstStyle/>
          <a:p>
            <a:pPr algn="l"/>
            <a:r>
              <a:rPr sz="1000" b="0">
                <a:solidFill>
                  <a:srgbClr val="475569"/>
                </a:solidFill>
                <a:latin typeface="Aptos"/>
              </a:rPr>
              <a:t>An immobile patient slides down repeatedly in bed.</a:t>
            </a:r>
          </a:p>
        </p:txBody>
      </p:sp>
      <p:sp>
        <p:nvSpPr>
          <p:cNvPr id="12" name="Rounded Rectangle 11"/>
          <p:cNvSpPr/>
          <p:nvPr/>
        </p:nvSpPr>
        <p:spPr>
          <a:xfrm>
            <a:off x="548640" y="2743200"/>
            <a:ext cx="2651760" cy="1828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3503" y="2889504"/>
            <a:ext cx="45720" cy="153619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2852928"/>
            <a:ext cx="2395728" cy="292608"/>
          </a:xfrm>
          <a:prstGeom prst="rect">
            <a:avLst/>
          </a:prstGeom>
          <a:noFill/>
        </p:spPr>
        <p:txBody>
          <a:bodyPr wrap="square" anchor="t" lIns="27432" rIns="27432" tIns="18288" bIns="18288">
            <a:spAutoFit/>
          </a:bodyPr>
          <a:lstStyle/>
          <a:p>
            <a:pPr algn="l"/>
            <a:r>
              <a:rPr sz="1200" b="1">
                <a:solidFill>
                  <a:srgbClr val="0F172A"/>
                </a:solidFill>
                <a:latin typeface="Aptos"/>
              </a:rPr>
              <a:t>what you know so far</a:t>
            </a:r>
          </a:p>
        </p:txBody>
      </p:sp>
      <p:sp>
        <p:nvSpPr>
          <p:cNvPr id="15" name="TextBox 14"/>
          <p:cNvSpPr txBox="1"/>
          <p:nvPr/>
        </p:nvSpPr>
        <p:spPr>
          <a:xfrm>
            <a:off x="713232" y="3182112"/>
            <a:ext cx="2395728" cy="1298448"/>
          </a:xfrm>
          <a:prstGeom prst="rect">
            <a:avLst/>
          </a:prstGeom>
          <a:noFill/>
        </p:spPr>
        <p:txBody>
          <a:bodyPr wrap="square" anchor="t" lIns="27432" rIns="27432" tIns="18288" bIns="18288">
            <a:spAutoFit/>
          </a:bodyPr>
          <a:lstStyle/>
          <a:p>
            <a:pPr algn="l"/>
            <a:r>
              <a:rPr sz="850" b="0">
                <a:solidFill>
                  <a:srgbClr val="475569"/>
                </a:solidFill>
                <a:latin typeface="Aptos"/>
              </a:rPr>
              <a:t>- Objective in play: Identify modifiable pressure-injury risks.
- Concept: Mobility and Skin Integrity</a:t>
            </a:r>
          </a:p>
        </p:txBody>
      </p:sp>
      <p:sp>
        <p:nvSpPr>
          <p:cNvPr id="16" name="Rounded Rectangle 15"/>
          <p:cNvSpPr/>
          <p:nvPr/>
        </p:nvSpPr>
        <p:spPr>
          <a:xfrm>
            <a:off x="3429000" y="2743200"/>
            <a:ext cx="2651760" cy="1828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83864" y="2889504"/>
            <a:ext cx="45720" cy="153619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93592" y="2852928"/>
            <a:ext cx="2395728" cy="292608"/>
          </a:xfrm>
          <a:prstGeom prst="rect">
            <a:avLst/>
          </a:prstGeom>
          <a:noFill/>
        </p:spPr>
        <p:txBody>
          <a:bodyPr wrap="square" anchor="t" lIns="27432" rIns="27432" tIns="18288" bIns="18288">
            <a:spAutoFit/>
          </a:bodyPr>
          <a:lstStyle/>
          <a:p>
            <a:pPr algn="l"/>
            <a:r>
              <a:rPr sz="1200" b="1">
                <a:solidFill>
                  <a:srgbClr val="0F172A"/>
                </a:solidFill>
                <a:latin typeface="Aptos"/>
              </a:rPr>
              <a:t>what you do not know yet</a:t>
            </a:r>
          </a:p>
        </p:txBody>
      </p:sp>
      <p:sp>
        <p:nvSpPr>
          <p:cNvPr id="19" name="Rounded Rectangle 18"/>
          <p:cNvSpPr/>
          <p:nvPr/>
        </p:nvSpPr>
        <p:spPr>
          <a:xfrm>
            <a:off x="6629400" y="1097280"/>
            <a:ext cx="4389120" cy="3520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684264" y="1243584"/>
            <a:ext cx="45720" cy="3227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93992" y="1207007"/>
            <a:ext cx="4133087" cy="292608"/>
          </a:xfrm>
          <a:prstGeom prst="rect">
            <a:avLst/>
          </a:prstGeom>
          <a:noFill/>
        </p:spPr>
        <p:txBody>
          <a:bodyPr wrap="square" anchor="t" lIns="27432" rIns="27432" tIns="18288" bIns="18288">
            <a:spAutoFit/>
          </a:bodyPr>
          <a:lstStyle/>
          <a:p>
            <a:pPr algn="l"/>
            <a:r>
              <a:rPr sz="1400" b="1">
                <a:solidFill>
                  <a:srgbClr val="0F172A"/>
                </a:solidFill>
                <a:latin typeface="Aptos"/>
              </a:rPr>
              <a:t>your first task</a:t>
            </a:r>
          </a:p>
        </p:txBody>
      </p:sp>
      <p:sp>
        <p:nvSpPr>
          <p:cNvPr id="22" name="TextBox 21"/>
          <p:cNvSpPr txBox="1"/>
          <p:nvPr/>
        </p:nvSpPr>
        <p:spPr>
          <a:xfrm>
            <a:off x="6793992" y="1536192"/>
            <a:ext cx="4133087" cy="2990088"/>
          </a:xfrm>
          <a:prstGeom prst="rect">
            <a:avLst/>
          </a:prstGeom>
          <a:noFill/>
        </p:spPr>
        <p:txBody>
          <a:bodyPr wrap="square" anchor="t" lIns="27432" rIns="27432" tIns="18288" bIns="18288">
            <a:spAutoFit/>
          </a:bodyPr>
          <a:lstStyle/>
          <a:p>
            <a:pPr algn="l"/>
            <a:r>
              <a:rPr sz="1000" b="0">
                <a:solidFill>
                  <a:srgbClr val="475569"/>
                </a:solidFill>
                <a:latin typeface="Aptos"/>
              </a:rPr>
              <a:t>Thirty seconds: what is your first action, and why that one first?</a:t>
            </a:r>
          </a:p>
        </p:txBody>
      </p:sp>
      <p:sp>
        <p:nvSpPr>
          <p:cNvPr id="23" name="Rounded Rectangle 22"/>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Before facts: decide what information is missing and what could be unsafe.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MAP</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The question this lesson answers</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3</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S03  ·  instructor-added</a:t>
            </a:r>
          </a:p>
        </p:txBody>
      </p:sp>
      <p:sp>
        <p:nvSpPr>
          <p:cNvPr id="8" name="Rounded Rectangle 7"/>
          <p:cNvSpPr/>
          <p:nvPr/>
        </p:nvSpPr>
        <p:spPr>
          <a:xfrm>
            <a:off x="1463040" y="960120"/>
            <a:ext cx="9235440" cy="777240"/>
          </a:xfrm>
          <a:prstGeom prst="round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91640" y="1143000"/>
            <a:ext cx="8778240" cy="384048"/>
          </a:xfrm>
          <a:prstGeom prst="rect">
            <a:avLst/>
          </a:prstGeom>
          <a:noFill/>
        </p:spPr>
        <p:txBody>
          <a:bodyPr wrap="square" anchor="ctr" lIns="27432" rIns="27432" tIns="18288" bIns="18288">
            <a:spAutoFit/>
          </a:bodyPr>
          <a:lstStyle/>
          <a:p>
            <a:pPr algn="ctr"/>
            <a:r>
              <a:rPr sz="1600" b="1">
                <a:solidFill>
                  <a:srgbClr val="FFFFFF"/>
                </a:solidFill>
                <a:latin typeface="Aptos"/>
              </a:rPr>
              <a:t>Identify individual pressure-injury risks and combine repositioning, surface selection, moisture management, nutrition, and skin reassessment.</a:t>
            </a:r>
          </a:p>
        </p:txBody>
      </p:sp>
      <p:sp>
        <p:nvSpPr>
          <p:cNvPr id="10" name="Rounded Rectangle 9"/>
          <p:cNvSpPr/>
          <p:nvPr/>
        </p:nvSpPr>
        <p:spPr>
          <a:xfrm>
            <a:off x="594360"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9224" y="2295144"/>
            <a:ext cx="45720" cy="882396"/>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Risk Assessment</a:t>
            </a:r>
          </a:p>
        </p:txBody>
      </p:sp>
      <p:sp>
        <p:nvSpPr>
          <p:cNvPr id="13" name="TextBox 12"/>
          <p:cNvSpPr txBox="1"/>
          <p:nvPr/>
        </p:nvSpPr>
        <p:spPr>
          <a:xfrm>
            <a:off x="758952"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Risk assessment</a:t>
            </a:r>
          </a:p>
        </p:txBody>
      </p:sp>
      <p:sp>
        <p:nvSpPr>
          <p:cNvPr id="14" name="Rounded Rectangle 13"/>
          <p:cNvSpPr/>
          <p:nvPr/>
        </p:nvSpPr>
        <p:spPr>
          <a:xfrm>
            <a:off x="3386251"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41115" y="2295144"/>
            <a:ext cx="45720" cy="882396"/>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0843"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Prevention Bundle</a:t>
            </a:r>
          </a:p>
        </p:txBody>
      </p:sp>
      <p:sp>
        <p:nvSpPr>
          <p:cNvPr id="17" name="TextBox 16"/>
          <p:cNvSpPr txBox="1"/>
          <p:nvPr/>
        </p:nvSpPr>
        <p:spPr>
          <a:xfrm>
            <a:off x="3550843"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Prevention bundle</a:t>
            </a:r>
          </a:p>
        </p:txBody>
      </p:sp>
      <p:sp>
        <p:nvSpPr>
          <p:cNvPr id="18" name="Rounded Rectangle 17"/>
          <p:cNvSpPr/>
          <p:nvPr/>
        </p:nvSpPr>
        <p:spPr>
          <a:xfrm>
            <a:off x="6178143"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33007" y="2295144"/>
            <a:ext cx="45720" cy="882396"/>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2735"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Evaluate</a:t>
            </a:r>
          </a:p>
        </p:txBody>
      </p:sp>
      <p:sp>
        <p:nvSpPr>
          <p:cNvPr id="21" name="TextBox 20"/>
          <p:cNvSpPr txBox="1"/>
          <p:nvPr/>
        </p:nvSpPr>
        <p:spPr>
          <a:xfrm>
            <a:off x="6342735"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Evaluate</a:t>
            </a:r>
          </a:p>
        </p:txBody>
      </p:sp>
      <p:sp>
        <p:nvSpPr>
          <p:cNvPr id="22" name="Rounded Rectangle 21"/>
          <p:cNvSpPr/>
          <p:nvPr/>
        </p:nvSpPr>
        <p:spPr>
          <a:xfrm>
            <a:off x="8970035"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24899" y="2295144"/>
            <a:ext cx="45720" cy="882396"/>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34627"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Apply</a:t>
            </a:r>
          </a:p>
        </p:txBody>
      </p:sp>
      <p:sp>
        <p:nvSpPr>
          <p:cNvPr id="25" name="TextBox 24"/>
          <p:cNvSpPr txBox="1"/>
          <p:nvPr/>
        </p:nvSpPr>
        <p:spPr>
          <a:xfrm>
            <a:off x="9134627"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case and items</a:t>
            </a:r>
          </a:p>
        </p:txBody>
      </p:sp>
      <p:sp>
        <p:nvSpPr>
          <p:cNvPr id="26" name="Rounded Rectangle 25"/>
          <p:cNvSpPr/>
          <p:nvPr/>
        </p:nvSpPr>
        <p:spPr>
          <a:xfrm>
            <a:off x="594360" y="3488436"/>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9224" y="3634740"/>
            <a:ext cx="45720" cy="882396"/>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952" y="3598164"/>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Evaluate</a:t>
            </a:r>
          </a:p>
        </p:txBody>
      </p:sp>
      <p:sp>
        <p:nvSpPr>
          <p:cNvPr id="29" name="TextBox 28"/>
          <p:cNvSpPr txBox="1"/>
          <p:nvPr/>
        </p:nvSpPr>
        <p:spPr>
          <a:xfrm>
            <a:off x="758952" y="3927348"/>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retrieval; takeaway</a:t>
            </a:r>
          </a:p>
        </p:txBody>
      </p:sp>
      <p:sp>
        <p:nvSpPr>
          <p:cNvPr id="30" name="Rounded Rectangle 29"/>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Every concept must answer: what do I teach, what do I assess, what must I escalate?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MAP</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Lesson map</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4</a:t>
            </a:r>
          </a:p>
        </p:txBody>
      </p:sp>
      <p:sp>
        <p:nvSpPr>
          <p:cNvPr id="5" name="TextBox 4"/>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6" name="TextBox 5"/>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S04  ·  instructor-added</a:t>
            </a:r>
          </a:p>
        </p:txBody>
      </p:sp>
      <p:cxnSp>
        <p:nvCxnSpPr>
          <p:cNvPr id="7" name="Connector 6"/>
          <p:cNvCxnSpPr/>
          <p:nvPr/>
        </p:nvCxnSpPr>
        <p:spPr>
          <a:xfrm>
            <a:off x="1143000" y="2148840"/>
            <a:ext cx="9601200" cy="0"/>
          </a:xfrm>
          <a:prstGeom prst="line">
            <a:avLst/>
          </a:prstGeom>
          <a:ln w="38100">
            <a:solidFill>
              <a:srgbClr val="D7DFEA"/>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03503" y="1975104"/>
            <a:ext cx="347472" cy="347472"/>
          </a:xfrm>
          <a:prstGeom prst="round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1</a:t>
            </a:r>
          </a:p>
        </p:txBody>
      </p:sp>
      <p:sp>
        <p:nvSpPr>
          <p:cNvPr id="10" name="TextBox 9"/>
          <p:cNvSpPr txBox="1"/>
          <p:nvPr/>
        </p:nvSpPr>
        <p:spPr>
          <a:xfrm>
            <a:off x="91439"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Risk Assessment</a:t>
            </a:r>
          </a:p>
        </p:txBody>
      </p:sp>
      <p:sp>
        <p:nvSpPr>
          <p:cNvPr id="11" name="TextBox 10"/>
          <p:cNvSpPr txBox="1"/>
          <p:nvPr/>
        </p:nvSpPr>
        <p:spPr>
          <a:xfrm>
            <a:off x="45719"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Risk assessment</a:t>
            </a:r>
          </a:p>
        </p:txBody>
      </p:sp>
      <p:sp>
        <p:nvSpPr>
          <p:cNvPr id="12" name="Rounded Rectangle 11"/>
          <p:cNvSpPr/>
          <p:nvPr/>
        </p:nvSpPr>
        <p:spPr>
          <a:xfrm>
            <a:off x="3186684" y="1975104"/>
            <a:ext cx="347472" cy="347472"/>
          </a:xfrm>
          <a:prstGeom prst="round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5069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2</a:t>
            </a:r>
          </a:p>
        </p:txBody>
      </p:sp>
      <p:sp>
        <p:nvSpPr>
          <p:cNvPr id="14" name="TextBox 13"/>
          <p:cNvSpPr txBox="1"/>
          <p:nvPr/>
        </p:nvSpPr>
        <p:spPr>
          <a:xfrm>
            <a:off x="267462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Prevention Bundle</a:t>
            </a:r>
          </a:p>
        </p:txBody>
      </p:sp>
      <p:sp>
        <p:nvSpPr>
          <p:cNvPr id="15" name="TextBox 14"/>
          <p:cNvSpPr txBox="1"/>
          <p:nvPr/>
        </p:nvSpPr>
        <p:spPr>
          <a:xfrm>
            <a:off x="262890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Prevention bundle</a:t>
            </a:r>
          </a:p>
        </p:txBody>
      </p:sp>
      <p:sp>
        <p:nvSpPr>
          <p:cNvPr id="16" name="Rounded Rectangle 15"/>
          <p:cNvSpPr/>
          <p:nvPr/>
        </p:nvSpPr>
        <p:spPr>
          <a:xfrm>
            <a:off x="5769864" y="1975104"/>
            <a:ext cx="347472" cy="347472"/>
          </a:xfrm>
          <a:prstGeom prst="round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3387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3</a:t>
            </a:r>
          </a:p>
        </p:txBody>
      </p:sp>
      <p:sp>
        <p:nvSpPr>
          <p:cNvPr id="18" name="TextBox 17"/>
          <p:cNvSpPr txBox="1"/>
          <p:nvPr/>
        </p:nvSpPr>
        <p:spPr>
          <a:xfrm>
            <a:off x="525780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Evaluate</a:t>
            </a:r>
          </a:p>
        </p:txBody>
      </p:sp>
      <p:sp>
        <p:nvSpPr>
          <p:cNvPr id="19" name="TextBox 18"/>
          <p:cNvSpPr txBox="1"/>
          <p:nvPr/>
        </p:nvSpPr>
        <p:spPr>
          <a:xfrm>
            <a:off x="521208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Evaluate</a:t>
            </a:r>
          </a:p>
        </p:txBody>
      </p:sp>
      <p:sp>
        <p:nvSpPr>
          <p:cNvPr id="20" name="Rounded Rectangle 19"/>
          <p:cNvSpPr/>
          <p:nvPr/>
        </p:nvSpPr>
        <p:spPr>
          <a:xfrm>
            <a:off x="8353044" y="1975104"/>
            <a:ext cx="347472" cy="347472"/>
          </a:xfrm>
          <a:prstGeom prst="round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705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4</a:t>
            </a:r>
          </a:p>
        </p:txBody>
      </p:sp>
      <p:sp>
        <p:nvSpPr>
          <p:cNvPr id="22" name="TextBox 21"/>
          <p:cNvSpPr txBox="1"/>
          <p:nvPr/>
        </p:nvSpPr>
        <p:spPr>
          <a:xfrm>
            <a:off x="784098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Apply</a:t>
            </a:r>
          </a:p>
        </p:txBody>
      </p:sp>
      <p:sp>
        <p:nvSpPr>
          <p:cNvPr id="23" name="TextBox 22"/>
          <p:cNvSpPr txBox="1"/>
          <p:nvPr/>
        </p:nvSpPr>
        <p:spPr>
          <a:xfrm>
            <a:off x="779526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mini case → capstone</a:t>
            </a:r>
          </a:p>
        </p:txBody>
      </p:sp>
      <p:sp>
        <p:nvSpPr>
          <p:cNvPr id="24" name="Rounded Rectangle 23"/>
          <p:cNvSpPr/>
          <p:nvPr/>
        </p:nvSpPr>
        <p:spPr>
          <a:xfrm>
            <a:off x="10936224" y="1975104"/>
            <a:ext cx="347472" cy="347472"/>
          </a:xfrm>
          <a:prstGeom prst="round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0023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5</a:t>
            </a:r>
          </a:p>
        </p:txBody>
      </p:sp>
      <p:sp>
        <p:nvSpPr>
          <p:cNvPr id="26" name="TextBox 25"/>
          <p:cNvSpPr txBox="1"/>
          <p:nvPr/>
        </p:nvSpPr>
        <p:spPr>
          <a:xfrm>
            <a:off x="1042416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Evaluate</a:t>
            </a:r>
          </a:p>
        </p:txBody>
      </p:sp>
      <p:sp>
        <p:nvSpPr>
          <p:cNvPr id="27" name="TextBox 26"/>
          <p:cNvSpPr txBox="1"/>
          <p:nvPr/>
        </p:nvSpPr>
        <p:spPr>
          <a:xfrm>
            <a:off x="1037844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exit check</a:t>
            </a:r>
          </a:p>
        </p:txBody>
      </p:sp>
      <p:sp>
        <p:nvSpPr>
          <p:cNvPr id="28" name="Rounded Rectangle 27"/>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Map first. Drill down only where the map or performance data shows a weak link.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ACTIVATE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Warm-up: put the three moves in order</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5</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S05  ·  instructor-added</a:t>
            </a:r>
          </a:p>
        </p:txBody>
      </p:sp>
      <p:sp>
        <p:nvSpPr>
          <p:cNvPr id="8" name="Rounded Rectangle 7"/>
          <p:cNvSpPr/>
          <p:nvPr/>
        </p:nvSpPr>
        <p:spPr>
          <a:xfrm>
            <a:off x="685800" y="1005840"/>
            <a:ext cx="10789920" cy="685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152144"/>
            <a:ext cx="45720" cy="39319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115568"/>
            <a:ext cx="10533888" cy="292608"/>
          </a:xfrm>
          <a:prstGeom prst="rect">
            <a:avLst/>
          </a:prstGeom>
          <a:noFill/>
        </p:spPr>
        <p:txBody>
          <a:bodyPr wrap="square" anchor="t" lIns="27432" rIns="27432" tIns="18288" bIns="18288">
            <a:spAutoFit/>
          </a:bodyPr>
          <a:lstStyle/>
          <a:p>
            <a:pPr algn="l"/>
            <a:r>
              <a:rPr sz="1300" b="1">
                <a:solidFill>
                  <a:srgbClr val="0F172A"/>
                </a:solidFill>
                <a:latin typeface="Aptos"/>
              </a:rPr>
              <a:t>learner task</a:t>
            </a:r>
          </a:p>
        </p:txBody>
      </p:sp>
      <p:sp>
        <p:nvSpPr>
          <p:cNvPr id="11" name="TextBox 10"/>
          <p:cNvSpPr txBox="1"/>
          <p:nvPr/>
        </p:nvSpPr>
        <p:spPr>
          <a:xfrm>
            <a:off x="850392" y="1444752"/>
            <a:ext cx="10533888" cy="155448"/>
          </a:xfrm>
          <a:prstGeom prst="rect">
            <a:avLst/>
          </a:prstGeom>
          <a:noFill/>
        </p:spPr>
        <p:txBody>
          <a:bodyPr wrap="square" anchor="t" lIns="27432" rIns="27432" tIns="18288" bIns="18288">
            <a:spAutoFit/>
          </a:bodyPr>
          <a:lstStyle/>
          <a:p>
            <a:pPr algn="l"/>
            <a:r>
              <a:rPr sz="1000" b="0">
                <a:solidFill>
                  <a:srgbClr val="475569"/>
                </a:solidFill>
                <a:latin typeface="Aptos"/>
              </a:rPr>
              <a:t>Order the three.</a:t>
            </a:r>
          </a:p>
        </p:txBody>
      </p:sp>
      <p:sp>
        <p:nvSpPr>
          <p:cNvPr id="12" name="Rounded Rectangle 11"/>
          <p:cNvSpPr/>
          <p:nvPr/>
        </p:nvSpPr>
        <p:spPr>
          <a:xfrm>
            <a:off x="960120" y="1965960"/>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1938528"/>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A</a:t>
            </a:r>
          </a:p>
        </p:txBody>
      </p:sp>
      <p:sp>
        <p:nvSpPr>
          <p:cNvPr id="14" name="TextBox 13"/>
          <p:cNvSpPr txBox="1"/>
          <p:nvPr/>
        </p:nvSpPr>
        <p:spPr>
          <a:xfrm>
            <a:off x="1463040" y="2039112"/>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Risk assessment</a:t>
            </a:r>
          </a:p>
        </p:txBody>
      </p:sp>
      <p:sp>
        <p:nvSpPr>
          <p:cNvPr id="15" name="Rounded Rectangle 14"/>
          <p:cNvSpPr/>
          <p:nvPr/>
        </p:nvSpPr>
        <p:spPr>
          <a:xfrm>
            <a:off x="960120" y="2532888"/>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587752"/>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B</a:t>
            </a:r>
          </a:p>
        </p:txBody>
      </p:sp>
      <p:sp>
        <p:nvSpPr>
          <p:cNvPr id="17" name="TextBox 16"/>
          <p:cNvSpPr txBox="1"/>
          <p:nvPr/>
        </p:nvSpPr>
        <p:spPr>
          <a:xfrm>
            <a:off x="1463040" y="2596896"/>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Prevention bundle</a:t>
            </a:r>
          </a:p>
        </p:txBody>
      </p:sp>
      <p:sp>
        <p:nvSpPr>
          <p:cNvPr id="18" name="Rounded Rectangle 17"/>
          <p:cNvSpPr/>
          <p:nvPr/>
        </p:nvSpPr>
        <p:spPr>
          <a:xfrm>
            <a:off x="960120" y="3099815"/>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3236976"/>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C</a:t>
            </a:r>
          </a:p>
        </p:txBody>
      </p:sp>
      <p:sp>
        <p:nvSpPr>
          <p:cNvPr id="20" name="TextBox 19"/>
          <p:cNvSpPr txBox="1"/>
          <p:nvPr/>
        </p:nvSpPr>
        <p:spPr>
          <a:xfrm>
            <a:off x="1463040" y="3154680"/>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Evaluate</a:t>
            </a:r>
          </a:p>
        </p:txBody>
      </p:sp>
      <p:sp>
        <p:nvSpPr>
          <p:cNvPr id="21" name="Rounded Rectangle 20"/>
          <p:cNvSpPr/>
          <p:nvPr/>
        </p:nvSpPr>
        <p:spPr>
          <a:xfrm>
            <a:off x="1188720" y="5989320"/>
            <a:ext cx="9784080" cy="41148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7C3AED"/>
                </a:solidFill>
                <a:latin typeface="Aptos"/>
              </a:rPr>
              <a:t>Use sequence misses to identify where the concept chain breaks.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RISK ASSESSMENT</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Risk assessment</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6</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S06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Risk assessment</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Assess mobility, sensation, moisture, perfusion, nutrition, friction, shear, devices, and current skin findings.</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Identify modifiable pressure-injury risks.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PREVENTION BUNDLE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Prevention bundle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7</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 generate solutions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S07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Prevention bundle</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Use individualized repositioning, pressure redistribution, heel off-loading, moisture protection, nutrition support, and device checks.</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Select individualized prevention interventions.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EVALUATE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Evaluate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8</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take action,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S08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Evaluate</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Inspect high-risk areas and device contact points, document changes, and revise the prevention plan when skin tolerance worsens.</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Evaluate skin response and update the plan.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Activity: match the cue to the move it calls for</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9</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S09  ·  source-aligned</a:t>
            </a:r>
          </a:p>
        </p:txBody>
      </p:sp>
      <p:sp>
        <p:nvSpPr>
          <p:cNvPr id="8" name="TextBox 7"/>
          <p:cNvSpPr txBox="1"/>
          <p:nvPr/>
        </p:nvSpPr>
        <p:spPr>
          <a:xfrm>
            <a:off x="731520" y="1005840"/>
            <a:ext cx="10698480" cy="256032"/>
          </a:xfrm>
          <a:prstGeom prst="rect">
            <a:avLst/>
          </a:prstGeom>
          <a:noFill/>
        </p:spPr>
        <p:txBody>
          <a:bodyPr wrap="square" anchor="t" lIns="27432" rIns="27432" tIns="18288" bIns="18288">
            <a:spAutoFit/>
          </a:bodyPr>
          <a:lstStyle/>
          <a:p>
            <a:pPr algn="l"/>
            <a:r>
              <a:rPr sz="950" b="1">
                <a:solidFill>
                  <a:srgbClr val="0F172A"/>
                </a:solidFill>
                <a:latin typeface="Aptos"/>
              </a:rPr>
              <a:t>Work with one partner: match each source to the cue or clinical meaning most directly involved.</a:t>
            </a:r>
          </a:p>
        </p:txBody>
      </p:sp>
      <p:sp>
        <p:nvSpPr>
          <p:cNvPr id="9" name="Rounded Rectangle 8"/>
          <p:cNvSpPr/>
          <p:nvPr/>
        </p:nvSpPr>
        <p:spPr>
          <a:xfrm>
            <a:off x="777240" y="1508760"/>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32103" y="1655063"/>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618488"/>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A</a:t>
            </a:r>
          </a:p>
        </p:txBody>
      </p:sp>
      <p:sp>
        <p:nvSpPr>
          <p:cNvPr id="12" name="TextBox 11"/>
          <p:cNvSpPr txBox="1"/>
          <p:nvPr/>
        </p:nvSpPr>
        <p:spPr>
          <a:xfrm>
            <a:off x="941832" y="1947672"/>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A. An immobile patient slides down repeatedly in bed.</a:t>
            </a:r>
          </a:p>
        </p:txBody>
      </p:sp>
      <p:sp>
        <p:nvSpPr>
          <p:cNvPr id="13" name="Rounded Rectangle 12"/>
          <p:cNvSpPr/>
          <p:nvPr/>
        </p:nvSpPr>
        <p:spPr>
          <a:xfrm>
            <a:off x="6537960" y="1508760"/>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92824" y="1655063"/>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02552" y="1618488"/>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1</a:t>
            </a:r>
          </a:p>
        </p:txBody>
      </p:sp>
      <p:sp>
        <p:nvSpPr>
          <p:cNvPr id="16" name="TextBox 15"/>
          <p:cNvSpPr txBox="1"/>
          <p:nvPr/>
        </p:nvSpPr>
        <p:spPr>
          <a:xfrm>
            <a:off x="6702552" y="1947672"/>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1. Risk assessment</a:t>
            </a:r>
          </a:p>
        </p:txBody>
      </p:sp>
      <p:sp>
        <p:nvSpPr>
          <p:cNvPr id="17" name="Rounded Rectangle 16"/>
          <p:cNvSpPr/>
          <p:nvPr/>
        </p:nvSpPr>
        <p:spPr>
          <a:xfrm>
            <a:off x="777240" y="2203704"/>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3" y="2350008"/>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2313432"/>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B</a:t>
            </a:r>
          </a:p>
        </p:txBody>
      </p:sp>
      <p:sp>
        <p:nvSpPr>
          <p:cNvPr id="20" name="TextBox 19"/>
          <p:cNvSpPr txBox="1"/>
          <p:nvPr/>
        </p:nvSpPr>
        <p:spPr>
          <a:xfrm>
            <a:off x="941832" y="2642616"/>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B. Moisture is trapped against the sacral skin.</a:t>
            </a:r>
          </a:p>
        </p:txBody>
      </p:sp>
      <p:sp>
        <p:nvSpPr>
          <p:cNvPr id="21" name="Rounded Rectangle 20"/>
          <p:cNvSpPr/>
          <p:nvPr/>
        </p:nvSpPr>
        <p:spPr>
          <a:xfrm>
            <a:off x="6537960" y="2203704"/>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592824" y="2350008"/>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02552" y="2313432"/>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2</a:t>
            </a:r>
          </a:p>
        </p:txBody>
      </p:sp>
      <p:sp>
        <p:nvSpPr>
          <p:cNvPr id="24" name="TextBox 23"/>
          <p:cNvSpPr txBox="1"/>
          <p:nvPr/>
        </p:nvSpPr>
        <p:spPr>
          <a:xfrm>
            <a:off x="6702552" y="2642616"/>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2. Prevention bundle</a:t>
            </a:r>
          </a:p>
        </p:txBody>
      </p:sp>
      <p:sp>
        <p:nvSpPr>
          <p:cNvPr id="25" name="Rounded Rectangle 24"/>
          <p:cNvSpPr/>
          <p:nvPr/>
        </p:nvSpPr>
        <p:spPr>
          <a:xfrm>
            <a:off x="777240" y="2898648"/>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2103" y="3044952"/>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41832" y="3008376"/>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C</a:t>
            </a:r>
          </a:p>
        </p:txBody>
      </p:sp>
      <p:sp>
        <p:nvSpPr>
          <p:cNvPr id="28" name="TextBox 27"/>
          <p:cNvSpPr txBox="1"/>
          <p:nvPr/>
        </p:nvSpPr>
        <p:spPr>
          <a:xfrm>
            <a:off x="941832" y="3337560"/>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C. A medical device rests tightly against the patient's skin.</a:t>
            </a:r>
          </a:p>
        </p:txBody>
      </p:sp>
      <p:sp>
        <p:nvSpPr>
          <p:cNvPr id="29" name="Rounded Rectangle 28"/>
          <p:cNvSpPr/>
          <p:nvPr/>
        </p:nvSpPr>
        <p:spPr>
          <a:xfrm>
            <a:off x="6537960" y="2898648"/>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92824" y="3044952"/>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2552" y="3008376"/>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3</a:t>
            </a:r>
          </a:p>
        </p:txBody>
      </p:sp>
      <p:sp>
        <p:nvSpPr>
          <p:cNvPr id="32" name="TextBox 31"/>
          <p:cNvSpPr txBox="1"/>
          <p:nvPr/>
        </p:nvSpPr>
        <p:spPr>
          <a:xfrm>
            <a:off x="6702552" y="3337560"/>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3. Evaluate</a:t>
            </a:r>
          </a:p>
        </p:txBody>
      </p:sp>
      <p:sp>
        <p:nvSpPr>
          <p:cNvPr id="33" name="Rounded Rectangle 32"/>
          <p:cNvSpPr/>
          <p:nvPr/>
        </p:nvSpPr>
        <p:spPr>
          <a:xfrm>
            <a:off x="777240" y="3593592"/>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32103" y="3739896"/>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41832" y="3703320"/>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D</a:t>
            </a:r>
          </a:p>
        </p:txBody>
      </p:sp>
      <p:sp>
        <p:nvSpPr>
          <p:cNvPr id="36" name="TextBox 35"/>
          <p:cNvSpPr txBox="1"/>
          <p:nvPr/>
        </p:nvSpPr>
        <p:spPr>
          <a:xfrm>
            <a:off x="941832" y="4032504"/>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D. The patient has limited mobility and poor nutritional intake.</a:t>
            </a:r>
          </a:p>
        </p:txBody>
      </p:sp>
      <p:sp>
        <p:nvSpPr>
          <p:cNvPr id="37" name="Rounded Rectangle 36"/>
          <p:cNvSpPr/>
          <p:nvPr/>
        </p:nvSpPr>
        <p:spPr>
          <a:xfrm>
            <a:off x="6537960" y="3593592"/>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592824" y="3739896"/>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02552" y="3703320"/>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4</a:t>
            </a:r>
          </a:p>
        </p:txBody>
      </p:sp>
      <p:sp>
        <p:nvSpPr>
          <p:cNvPr id="40" name="TextBox 39"/>
          <p:cNvSpPr txBox="1"/>
          <p:nvPr/>
        </p:nvSpPr>
        <p:spPr>
          <a:xfrm>
            <a:off x="6702552" y="4032504"/>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4. Evaluate the result</a:t>
            </a:r>
          </a:p>
        </p:txBody>
      </p:sp>
      <p:sp>
        <p:nvSpPr>
          <p:cNvPr id="41" name="Rounded Rectangle 40"/>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Output: write matches and one sentence explaining one match.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Debrief: the reasoning behind each action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10</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S10  ·  source-aligned</a:t>
            </a:r>
          </a:p>
        </p:txBody>
      </p:sp>
      <p:sp>
        <p:nvSpPr>
          <p:cNvPr id="8" name="Rounded Rectangle 7"/>
          <p:cNvSpPr/>
          <p:nvPr/>
        </p:nvSpPr>
        <p:spPr>
          <a:xfrm>
            <a:off x="502920" y="109728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4358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7"/>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Reposition with lift assistance and reduce shear while sup</a:t>
            </a:r>
          </a:p>
        </p:txBody>
      </p:sp>
      <p:sp>
        <p:nvSpPr>
          <p:cNvPr id="11" name="TextBox 10"/>
          <p:cNvSpPr txBox="1"/>
          <p:nvPr/>
        </p:nvSpPr>
        <p:spPr>
          <a:xfrm>
            <a:off x="667512" y="1536192"/>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Dragging and sliding increase shear forces that damage tissue.</a:t>
            </a:r>
          </a:p>
        </p:txBody>
      </p:sp>
      <p:sp>
        <p:nvSpPr>
          <p:cNvPr id="12" name="Rounded Rectangle 11"/>
          <p:cNvSpPr/>
          <p:nvPr/>
        </p:nvSpPr>
        <p:spPr>
          <a:xfrm>
            <a:off x="6178143" y="109728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24358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2735" y="1207007"/>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Cleanse gently, manage the moisture source, and apply an a</a:t>
            </a:r>
          </a:p>
        </p:txBody>
      </p:sp>
      <p:sp>
        <p:nvSpPr>
          <p:cNvPr id="15" name="TextBox 14"/>
          <p:cNvSpPr txBox="1"/>
          <p:nvPr/>
        </p:nvSpPr>
        <p:spPr>
          <a:xfrm>
            <a:off x="6342735" y="1536192"/>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Persistent moisture weakens the skin barrier and increases injury risk.</a:t>
            </a:r>
          </a:p>
        </p:txBody>
      </p:sp>
      <p:sp>
        <p:nvSpPr>
          <p:cNvPr id="16" name="Rounded Rectangle 15"/>
          <p:cNvSpPr/>
          <p:nvPr/>
        </p:nvSpPr>
        <p:spPr>
          <a:xfrm>
            <a:off x="502920" y="2496312"/>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7784" y="2642616"/>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606040"/>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Inspect beneath and around the device and relieve avoidabl</a:t>
            </a:r>
          </a:p>
        </p:txBody>
      </p:sp>
      <p:sp>
        <p:nvSpPr>
          <p:cNvPr id="19" name="TextBox 18"/>
          <p:cNvSpPr txBox="1"/>
          <p:nvPr/>
        </p:nvSpPr>
        <p:spPr>
          <a:xfrm>
            <a:off x="667512" y="2935224"/>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Medical devices can concentrate pressure and conceal evolving injury.</a:t>
            </a:r>
          </a:p>
        </p:txBody>
      </p:sp>
      <p:sp>
        <p:nvSpPr>
          <p:cNvPr id="20" name="Rounded Rectangle 19"/>
          <p:cNvSpPr/>
          <p:nvPr/>
        </p:nvSpPr>
        <p:spPr>
          <a:xfrm>
            <a:off x="6178143" y="2496312"/>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2642616"/>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2735" y="2606040"/>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Initiate a coordinated prevention plan including mobility </a:t>
            </a:r>
          </a:p>
        </p:txBody>
      </p:sp>
      <p:sp>
        <p:nvSpPr>
          <p:cNvPr id="23" name="TextBox 22"/>
          <p:cNvSpPr txBox="1"/>
          <p:nvPr/>
        </p:nvSpPr>
        <p:spPr>
          <a:xfrm>
            <a:off x="6342735" y="2935224"/>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Multiple risks require a bundled, interdisciplinary approach.</a:t>
            </a:r>
          </a:p>
        </p:txBody>
      </p:sp>
      <p:sp>
        <p:nvSpPr>
          <p:cNvPr id="24" name="Rounded Rectangle 23"/>
          <p:cNvSpPr/>
          <p:nvPr/>
        </p:nvSpPr>
        <p:spPr>
          <a:xfrm>
            <a:off x="1188720" y="5989320"/>
            <a:ext cx="9784080" cy="411480"/>
          </a:xfrm>
          <a:prstGeom prst="roundRect">
            <a:avLst/>
          </a:prstGeom>
          <a:solidFill>
            <a:srgbClr val="FFF7ED"/>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EA580C"/>
                </a:solidFill>
                <a:latin typeface="Aptos"/>
              </a:rPr>
              <a:t>Explain why each keyed action follows from its cue.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Checkpoint</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11</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S11  ·  source-aligned</a:t>
            </a:r>
          </a:p>
        </p:txBody>
      </p:sp>
      <p:sp>
        <p:nvSpPr>
          <p:cNvPr id="8" name="Rounded Rectangle 7"/>
          <p:cNvSpPr/>
          <p:nvPr/>
        </p:nvSpPr>
        <p:spPr>
          <a:xfrm>
            <a:off x="777240" y="1097280"/>
            <a:ext cx="10698480" cy="868680"/>
          </a:xfrm>
          <a:prstGeom prst="roundRect">
            <a:avLst/>
          </a:prstGeom>
          <a:solidFill>
            <a:srgbClr val="F5F3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32103" y="1243584"/>
            <a:ext cx="45720" cy="576071"/>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1207007"/>
            <a:ext cx="10442448" cy="292608"/>
          </a:xfrm>
          <a:prstGeom prst="rect">
            <a:avLst/>
          </a:prstGeom>
          <a:noFill/>
        </p:spPr>
        <p:txBody>
          <a:bodyPr wrap="square" anchor="t" lIns="27432" rIns="27432" tIns="18288" bIns="18288">
            <a:spAutoFit/>
          </a:bodyPr>
          <a:lstStyle/>
          <a:p>
            <a:pPr algn="l"/>
            <a:r>
              <a:rPr sz="1300" b="1">
                <a:solidFill>
                  <a:srgbClr val="0F172A"/>
                </a:solidFill>
                <a:latin typeface="Aptos"/>
              </a:rPr>
              <a:t>checkpoint question</a:t>
            </a:r>
          </a:p>
        </p:txBody>
      </p:sp>
      <p:sp>
        <p:nvSpPr>
          <p:cNvPr id="11" name="TextBox 10"/>
          <p:cNvSpPr txBox="1"/>
          <p:nvPr/>
        </p:nvSpPr>
        <p:spPr>
          <a:xfrm>
            <a:off x="941832" y="1536192"/>
            <a:ext cx="10442448" cy="338328"/>
          </a:xfrm>
          <a:prstGeom prst="rect">
            <a:avLst/>
          </a:prstGeom>
          <a:noFill/>
        </p:spPr>
        <p:txBody>
          <a:bodyPr wrap="square" anchor="t" lIns="27432" rIns="27432" tIns="18288" bIns="18288">
            <a:spAutoFit/>
          </a:bodyPr>
          <a:lstStyle/>
          <a:p>
            <a:pPr algn="l"/>
            <a:r>
              <a:rPr sz="1000" b="0">
                <a:solidFill>
                  <a:srgbClr val="475569"/>
                </a:solidFill>
                <a:latin typeface="Aptos"/>
              </a:rPr>
              <a:t>Moisture is trapped against the sacral skin. What should the nurse do?</a:t>
            </a:r>
          </a:p>
        </p:txBody>
      </p:sp>
      <p:sp>
        <p:nvSpPr>
          <p:cNvPr id="12" name="Rounded Rectangle 11"/>
          <p:cNvSpPr/>
          <p:nvPr/>
        </p:nvSpPr>
        <p:spPr>
          <a:xfrm>
            <a:off x="1005840" y="2240280"/>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2359152"/>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A</a:t>
            </a:r>
          </a:p>
        </p:txBody>
      </p:sp>
      <p:sp>
        <p:nvSpPr>
          <p:cNvPr id="14" name="TextBox 13"/>
          <p:cNvSpPr txBox="1"/>
          <p:nvPr/>
        </p:nvSpPr>
        <p:spPr>
          <a:xfrm>
            <a:off x="1554480" y="2340864"/>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A. Delay action until the end of the shift.</a:t>
            </a:r>
          </a:p>
        </p:txBody>
      </p:sp>
      <p:sp>
        <p:nvSpPr>
          <p:cNvPr id="15" name="Rounded Rectangle 14"/>
          <p:cNvSpPr/>
          <p:nvPr/>
        </p:nvSpPr>
        <p:spPr>
          <a:xfrm>
            <a:off x="1005840" y="2807208"/>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 y="2926080"/>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B</a:t>
            </a:r>
          </a:p>
        </p:txBody>
      </p:sp>
      <p:sp>
        <p:nvSpPr>
          <p:cNvPr id="17" name="TextBox 16"/>
          <p:cNvSpPr txBox="1"/>
          <p:nvPr/>
        </p:nvSpPr>
        <p:spPr>
          <a:xfrm>
            <a:off x="1554480" y="2907792"/>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B. Document the finding without reassessment or follow-up.</a:t>
            </a:r>
          </a:p>
        </p:txBody>
      </p:sp>
      <p:sp>
        <p:nvSpPr>
          <p:cNvPr id="18" name="Rounded Rectangle 17"/>
          <p:cNvSpPr/>
          <p:nvPr/>
        </p:nvSpPr>
        <p:spPr>
          <a:xfrm>
            <a:off x="1005840" y="3374136"/>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3000" y="3493008"/>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C</a:t>
            </a:r>
          </a:p>
        </p:txBody>
      </p:sp>
      <p:sp>
        <p:nvSpPr>
          <p:cNvPr id="20" name="TextBox 19"/>
          <p:cNvSpPr txBox="1"/>
          <p:nvPr/>
        </p:nvSpPr>
        <p:spPr>
          <a:xfrm>
            <a:off x="1554480" y="3474720"/>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C. Cleanse gently, manage the moisture source, and apply an appropriate moisture barrier.</a:t>
            </a:r>
          </a:p>
        </p:txBody>
      </p:sp>
      <p:sp>
        <p:nvSpPr>
          <p:cNvPr id="21" name="Rounded Rectangle 20"/>
          <p:cNvSpPr/>
          <p:nvPr/>
        </p:nvSpPr>
        <p:spPr>
          <a:xfrm>
            <a:off x="1005840" y="3941064"/>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43000" y="4059936"/>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D</a:t>
            </a:r>
          </a:p>
        </p:txBody>
      </p:sp>
      <p:sp>
        <p:nvSpPr>
          <p:cNvPr id="23" name="TextBox 22"/>
          <p:cNvSpPr txBox="1"/>
          <p:nvPr/>
        </p:nvSpPr>
        <p:spPr>
          <a:xfrm>
            <a:off x="1554480" y="4041648"/>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D. Delegate the clinical judgment decision to unlicensed assistive personnel.</a:t>
            </a:r>
          </a:p>
        </p:txBody>
      </p:sp>
      <p:sp>
        <p:nvSpPr>
          <p:cNvPr id="24" name="Rounded Rectangle 23"/>
          <p:cNvSpPr/>
          <p:nvPr/>
        </p:nvSpPr>
        <p:spPr>
          <a:xfrm>
            <a:off x="1188720" y="5989320"/>
            <a:ext cx="9784080" cy="41148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7C3AED"/>
                </a:solidFill>
                <a:latin typeface="Aptos"/>
              </a:rPr>
              <a:t>Choose the best response.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Mini case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12</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 take action</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S12  ·  source-aligned</a:t>
            </a:r>
          </a:p>
        </p:txBody>
      </p:sp>
      <p:sp>
        <p:nvSpPr>
          <p:cNvPr id="8" name="Rounded Rectangle 7"/>
          <p:cNvSpPr/>
          <p:nvPr/>
        </p:nvSpPr>
        <p:spPr>
          <a:xfrm>
            <a:off x="731520" y="1051560"/>
            <a:ext cx="10744200" cy="713232"/>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 y="1197863"/>
            <a:ext cx="45720" cy="420624"/>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161288"/>
            <a:ext cx="10488168" cy="292608"/>
          </a:xfrm>
          <a:prstGeom prst="rect">
            <a:avLst/>
          </a:prstGeom>
          <a:noFill/>
        </p:spPr>
        <p:txBody>
          <a:bodyPr wrap="square" anchor="t" lIns="27432" rIns="27432" tIns="18288" bIns="18288">
            <a:spAutoFit/>
          </a:bodyPr>
          <a:lstStyle/>
          <a:p>
            <a:pPr algn="l"/>
            <a:r>
              <a:rPr sz="1200" b="1">
                <a:solidFill>
                  <a:srgbClr val="0F172A"/>
                </a:solidFill>
                <a:latin typeface="Aptos"/>
              </a:rPr>
              <a:t>mini case</a:t>
            </a:r>
          </a:p>
        </p:txBody>
      </p:sp>
      <p:sp>
        <p:nvSpPr>
          <p:cNvPr id="11" name="TextBox 10"/>
          <p:cNvSpPr txBox="1"/>
          <p:nvPr/>
        </p:nvSpPr>
        <p:spPr>
          <a:xfrm>
            <a:off x="896112" y="1490472"/>
            <a:ext cx="10488168" cy="182880"/>
          </a:xfrm>
          <a:prstGeom prst="rect">
            <a:avLst/>
          </a:prstGeom>
          <a:noFill/>
        </p:spPr>
        <p:txBody>
          <a:bodyPr wrap="square" anchor="t" lIns="27432" rIns="27432" tIns="18288" bIns="18288">
            <a:spAutoFit/>
          </a:bodyPr>
          <a:lstStyle/>
          <a:p>
            <a:pPr algn="l"/>
            <a:r>
              <a:rPr sz="900" b="0">
                <a:solidFill>
                  <a:srgbClr val="475569"/>
                </a:solidFill>
                <a:latin typeface="Aptos"/>
              </a:rPr>
              <a:t>A medical device rests tightly against the patient's skin.</a:t>
            </a:r>
          </a:p>
        </p:txBody>
      </p:sp>
      <p:sp>
        <p:nvSpPr>
          <p:cNvPr id="12" name="Rounded Rectangle 11"/>
          <p:cNvSpPr/>
          <p:nvPr/>
        </p:nvSpPr>
        <p:spPr>
          <a:xfrm>
            <a:off x="502920" y="20574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57784" y="220370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21671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cues</a:t>
            </a:r>
          </a:p>
        </p:txBody>
      </p:sp>
      <p:sp>
        <p:nvSpPr>
          <p:cNvPr id="15" name="TextBox 14"/>
          <p:cNvSpPr txBox="1"/>
          <p:nvPr/>
        </p:nvSpPr>
        <p:spPr>
          <a:xfrm>
            <a:off x="667512" y="24963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Keyed action: Inspect beneath and around the device and relieve avoidable pressure.
- Because: Medical devices can concentrate pressure and conceal evolving injury.</a:t>
            </a:r>
          </a:p>
        </p:txBody>
      </p:sp>
      <p:sp>
        <p:nvSpPr>
          <p:cNvPr id="16" name="Rounded Rectangle 15"/>
          <p:cNvSpPr/>
          <p:nvPr/>
        </p:nvSpPr>
        <p:spPr>
          <a:xfrm>
            <a:off x="6178143" y="20574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3007" y="22037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2735" y="21671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your task</a:t>
            </a:r>
          </a:p>
        </p:txBody>
      </p:sp>
      <p:sp>
        <p:nvSpPr>
          <p:cNvPr id="19" name="TextBox 18"/>
          <p:cNvSpPr txBox="1"/>
          <p:nvPr/>
        </p:nvSpPr>
        <p:spPr>
          <a:xfrm>
            <a:off x="6342735" y="24963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Write one assessment sentence and one action sentence.</a:t>
            </a:r>
          </a:p>
        </p:txBody>
      </p:sp>
      <p:sp>
        <p:nvSpPr>
          <p:cNvPr id="20" name="Rounded Rectangle 19"/>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Two sentences: what you assess, then what you do.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SIGNAL</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Sort by urgency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13</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S13  ·  source-aligned</a:t>
            </a:r>
          </a:p>
        </p:txBody>
      </p:sp>
      <p:sp>
        <p:nvSpPr>
          <p:cNvPr id="8" name="Rounded Rectangle 7"/>
          <p:cNvSpPr/>
          <p:nvPr/>
        </p:nvSpPr>
        <p:spPr>
          <a:xfrm>
            <a:off x="502920" y="11430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Act now</a:t>
            </a:r>
          </a:p>
        </p:txBody>
      </p:sp>
      <p:sp>
        <p:nvSpPr>
          <p:cNvPr id="11" name="TextBox 10"/>
          <p:cNvSpPr txBox="1"/>
          <p:nvPr/>
        </p:nvSpPr>
        <p:spPr>
          <a:xfrm>
            <a:off x="667512" y="15819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An immobile patient slides down repeatedly in bed.
- Moisture is trapped against the sacral skin.
- A medical device rests tightly against the patient's skin.</a:t>
            </a:r>
          </a:p>
        </p:txBody>
      </p:sp>
      <p:sp>
        <p:nvSpPr>
          <p:cNvPr id="12" name="Rounded Rectangle 11"/>
          <p:cNvSpPr/>
          <p:nvPr/>
        </p:nvSpPr>
        <p:spPr>
          <a:xfrm>
            <a:off x="6178143" y="11430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2735" y="12527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Act in sequence</a:t>
            </a:r>
          </a:p>
        </p:txBody>
      </p:sp>
      <p:sp>
        <p:nvSpPr>
          <p:cNvPr id="15" name="TextBox 14"/>
          <p:cNvSpPr txBox="1"/>
          <p:nvPr/>
        </p:nvSpPr>
        <p:spPr>
          <a:xfrm>
            <a:off x="6342735" y="15819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The patient has limited mobility and poor nutritional intake.
- A high-risk area shows a new persistent color change.</a:t>
            </a:r>
          </a:p>
        </p:txBody>
      </p:sp>
      <p:sp>
        <p:nvSpPr>
          <p:cNvPr id="16" name="Rounded Rectangle 15"/>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Place each cue and justify 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Documentation frame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14</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generate solutions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S14  ·  source-aligned</a:t>
            </a:r>
          </a:p>
        </p:txBody>
      </p:sp>
      <p:sp>
        <p:nvSpPr>
          <p:cNvPr id="8" name="Rounded Rectangle 7"/>
          <p:cNvSpPr/>
          <p:nvPr/>
        </p:nvSpPr>
        <p:spPr>
          <a:xfrm>
            <a:off x="502920"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Mobility risk</a:t>
            </a:r>
          </a:p>
        </p:txBody>
      </p:sp>
      <p:sp>
        <p:nvSpPr>
          <p:cNvPr id="11" name="TextBox 10"/>
          <p:cNvSpPr txBox="1"/>
          <p:nvPr/>
        </p:nvSpPr>
        <p:spPr>
          <a:xfrm>
            <a:off x="667512"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12" name="Rounded Rectangle 11"/>
          <p:cNvSpPr/>
          <p:nvPr/>
        </p:nvSpPr>
        <p:spPr>
          <a:xfrm>
            <a:off x="4286402"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1266"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0994"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Moisture risk</a:t>
            </a:r>
          </a:p>
        </p:txBody>
      </p:sp>
      <p:sp>
        <p:nvSpPr>
          <p:cNvPr id="15" name="TextBox 14"/>
          <p:cNvSpPr txBox="1"/>
          <p:nvPr/>
        </p:nvSpPr>
        <p:spPr>
          <a:xfrm>
            <a:off x="4450994"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16" name="Rounded Rectangle 15"/>
          <p:cNvSpPr/>
          <p:nvPr/>
        </p:nvSpPr>
        <p:spPr>
          <a:xfrm>
            <a:off x="8069884"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4748" y="128930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4476"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Pressure point/device</a:t>
            </a:r>
          </a:p>
        </p:txBody>
      </p:sp>
      <p:sp>
        <p:nvSpPr>
          <p:cNvPr id="19" name="TextBox 18"/>
          <p:cNvSpPr txBox="1"/>
          <p:nvPr/>
        </p:nvSpPr>
        <p:spPr>
          <a:xfrm>
            <a:off x="8234476"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0" name="Rounded Rectangle 19"/>
          <p:cNvSpPr/>
          <p:nvPr/>
        </p:nvSpPr>
        <p:spPr>
          <a:xfrm>
            <a:off x="502920"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57784" y="2688336"/>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Prevention intervention</a:t>
            </a:r>
          </a:p>
        </p:txBody>
      </p:sp>
      <p:sp>
        <p:nvSpPr>
          <p:cNvPr id="23" name="TextBox 22"/>
          <p:cNvSpPr txBox="1"/>
          <p:nvPr/>
        </p:nvSpPr>
        <p:spPr>
          <a:xfrm>
            <a:off x="667512"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4" name="Rounded Rectangle 23"/>
          <p:cNvSpPr/>
          <p:nvPr/>
        </p:nvSpPr>
        <p:spPr>
          <a:xfrm>
            <a:off x="4286402"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41266" y="2688336"/>
            <a:ext cx="45720" cy="941832"/>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0994"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Reassessment finding</a:t>
            </a:r>
          </a:p>
        </p:txBody>
      </p:sp>
      <p:sp>
        <p:nvSpPr>
          <p:cNvPr id="27" name="TextBox 26"/>
          <p:cNvSpPr txBox="1"/>
          <p:nvPr/>
        </p:nvSpPr>
        <p:spPr>
          <a:xfrm>
            <a:off x="4450994"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8" name="Rounded Rectangle 27"/>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Record the lesson's decisions in a reusable frame.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Capstone: choose the next safe action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15</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take action,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S15  ·  source-aligned</a:t>
            </a:r>
          </a:p>
        </p:txBody>
      </p:sp>
      <p:sp>
        <p:nvSpPr>
          <p:cNvPr id="8" name="Rounded Rectangle 7"/>
          <p:cNvSpPr/>
          <p:nvPr/>
        </p:nvSpPr>
        <p:spPr>
          <a:xfrm>
            <a:off x="685800" y="1005840"/>
            <a:ext cx="10835640" cy="621792"/>
          </a:xfrm>
          <a:prstGeom prst="roundRect">
            <a:avLst/>
          </a:prstGeom>
          <a:solidFill>
            <a:srgbClr val="FEF2F2"/>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152144"/>
            <a:ext cx="45720" cy="329184"/>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115568"/>
            <a:ext cx="10579608" cy="292608"/>
          </a:xfrm>
          <a:prstGeom prst="rect">
            <a:avLst/>
          </a:prstGeom>
          <a:noFill/>
        </p:spPr>
        <p:txBody>
          <a:bodyPr wrap="square" anchor="t" lIns="27432" rIns="27432" tIns="18288" bIns="18288">
            <a:spAutoFit/>
          </a:bodyPr>
          <a:lstStyle/>
          <a:p>
            <a:pPr algn="l"/>
            <a:r>
              <a:rPr sz="1150" b="1">
                <a:solidFill>
                  <a:srgbClr val="0F172A"/>
                </a:solidFill>
                <a:latin typeface="Aptos"/>
              </a:rPr>
              <a:t>capstone scenario</a:t>
            </a:r>
          </a:p>
        </p:txBody>
      </p:sp>
      <p:sp>
        <p:nvSpPr>
          <p:cNvPr id="11" name="TextBox 10"/>
          <p:cNvSpPr txBox="1"/>
          <p:nvPr/>
        </p:nvSpPr>
        <p:spPr>
          <a:xfrm>
            <a:off x="850392" y="1444752"/>
            <a:ext cx="10579608" cy="91440"/>
          </a:xfrm>
          <a:prstGeom prst="rect">
            <a:avLst/>
          </a:prstGeom>
          <a:noFill/>
        </p:spPr>
        <p:txBody>
          <a:bodyPr wrap="square" anchor="t" lIns="27432" rIns="27432" tIns="18288" bIns="18288">
            <a:spAutoFit/>
          </a:bodyPr>
          <a:lstStyle/>
          <a:p>
            <a:pPr algn="l"/>
            <a:r>
              <a:rPr sz="850" b="0">
                <a:solidFill>
                  <a:srgbClr val="475569"/>
                </a:solidFill>
                <a:latin typeface="Aptos"/>
              </a:rPr>
              <a:t>A high-risk area shows a new persistent color change.</a:t>
            </a:r>
          </a:p>
        </p:txBody>
      </p:sp>
      <p:sp>
        <p:nvSpPr>
          <p:cNvPr id="12" name="Rounded Rectangle 11"/>
          <p:cNvSpPr/>
          <p:nvPr/>
        </p:nvSpPr>
        <p:spPr>
          <a:xfrm>
            <a:off x="914400" y="1874519"/>
            <a:ext cx="1037844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69264" y="2020824"/>
            <a:ext cx="45720" cy="365759"/>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8992" y="1984248"/>
            <a:ext cx="10122408" cy="292608"/>
          </a:xfrm>
          <a:prstGeom prst="rect">
            <a:avLst/>
          </a:prstGeom>
          <a:noFill/>
        </p:spPr>
        <p:txBody>
          <a:bodyPr wrap="square" anchor="t" lIns="27432" rIns="27432" tIns="18288" bIns="18288">
            <a:spAutoFit/>
          </a:bodyPr>
          <a:lstStyle/>
          <a:p>
            <a:pPr algn="l"/>
            <a:r>
              <a:rPr sz="1250" b="1">
                <a:solidFill>
                  <a:srgbClr val="0F172A"/>
                </a:solidFill>
                <a:latin typeface="Aptos"/>
              </a:rPr>
              <a:t>priority nursing response</a:t>
            </a:r>
          </a:p>
        </p:txBody>
      </p:sp>
      <p:sp>
        <p:nvSpPr>
          <p:cNvPr id="15" name="TextBox 14"/>
          <p:cNvSpPr txBox="1"/>
          <p:nvPr/>
        </p:nvSpPr>
        <p:spPr>
          <a:xfrm>
            <a:off x="1078992" y="2313432"/>
            <a:ext cx="10122408" cy="128016"/>
          </a:xfrm>
          <a:prstGeom prst="rect">
            <a:avLst/>
          </a:prstGeom>
          <a:noFill/>
        </p:spPr>
        <p:txBody>
          <a:bodyPr wrap="square" anchor="t" lIns="27432" rIns="27432" tIns="18288" bIns="18288">
            <a:spAutoFit/>
          </a:bodyPr>
          <a:lstStyle/>
          <a:p>
            <a:pPr algn="l"/>
            <a:r>
              <a:rPr sz="900" b="0">
                <a:solidFill>
                  <a:srgbClr val="475569"/>
                </a:solidFill>
                <a:latin typeface="Aptos"/>
              </a:rPr>
              <a:t>What is the priority nursing action?</a:t>
            </a:r>
          </a:p>
        </p:txBody>
      </p:sp>
      <p:sp>
        <p:nvSpPr>
          <p:cNvPr id="16" name="Rounded Rectangle 15"/>
          <p:cNvSpPr/>
          <p:nvPr/>
        </p:nvSpPr>
        <p:spPr>
          <a:xfrm>
            <a:off x="1097280" y="2788920"/>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34440" y="2898648"/>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A</a:t>
            </a:r>
          </a:p>
        </p:txBody>
      </p:sp>
      <p:sp>
        <p:nvSpPr>
          <p:cNvPr id="18" name="TextBox 17"/>
          <p:cNvSpPr txBox="1"/>
          <p:nvPr/>
        </p:nvSpPr>
        <p:spPr>
          <a:xfrm>
            <a:off x="1627632" y="2871215"/>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A. Delay action until the end of the shift.</a:t>
            </a:r>
          </a:p>
        </p:txBody>
      </p:sp>
      <p:sp>
        <p:nvSpPr>
          <p:cNvPr id="19" name="Rounded Rectangle 18"/>
          <p:cNvSpPr/>
          <p:nvPr/>
        </p:nvSpPr>
        <p:spPr>
          <a:xfrm>
            <a:off x="1097280" y="3319272"/>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34440" y="3429000"/>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B</a:t>
            </a:r>
          </a:p>
        </p:txBody>
      </p:sp>
      <p:sp>
        <p:nvSpPr>
          <p:cNvPr id="21" name="TextBox 20"/>
          <p:cNvSpPr txBox="1"/>
          <p:nvPr/>
        </p:nvSpPr>
        <p:spPr>
          <a:xfrm>
            <a:off x="1627632" y="3401568"/>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B. Relieve pressure, reassess the area, document the finding, and escalate per policy.</a:t>
            </a:r>
          </a:p>
        </p:txBody>
      </p:sp>
      <p:sp>
        <p:nvSpPr>
          <p:cNvPr id="22" name="Rounded Rectangle 21"/>
          <p:cNvSpPr/>
          <p:nvPr/>
        </p:nvSpPr>
        <p:spPr>
          <a:xfrm>
            <a:off x="1097280" y="3849624"/>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34440" y="3959352"/>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C</a:t>
            </a:r>
          </a:p>
        </p:txBody>
      </p:sp>
      <p:sp>
        <p:nvSpPr>
          <p:cNvPr id="24" name="TextBox 23"/>
          <p:cNvSpPr txBox="1"/>
          <p:nvPr/>
        </p:nvSpPr>
        <p:spPr>
          <a:xfrm>
            <a:off x="1627632" y="3931920"/>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C. Document the finding without reassessment or follow-up.</a:t>
            </a:r>
          </a:p>
        </p:txBody>
      </p:sp>
      <p:sp>
        <p:nvSpPr>
          <p:cNvPr id="25" name="Rounded Rectangle 24"/>
          <p:cNvSpPr/>
          <p:nvPr/>
        </p:nvSpPr>
        <p:spPr>
          <a:xfrm>
            <a:off x="1097280" y="4379975"/>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34440" y="4489703"/>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D</a:t>
            </a:r>
          </a:p>
        </p:txBody>
      </p:sp>
      <p:sp>
        <p:nvSpPr>
          <p:cNvPr id="27" name="TextBox 26"/>
          <p:cNvSpPr txBox="1"/>
          <p:nvPr/>
        </p:nvSpPr>
        <p:spPr>
          <a:xfrm>
            <a:off x="1627632" y="4462271"/>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D. Delegate the clinical judgment decision to unlicensed assistive personnel.</a:t>
            </a:r>
          </a:p>
        </p:txBody>
      </p:sp>
      <p:sp>
        <p:nvSpPr>
          <p:cNvPr id="28" name="Rounded Rectangle 27"/>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Choose the priority action.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CLOSE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Rapid retrieval: exit check</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16</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S16  ·  source-aligned</a:t>
            </a:r>
          </a:p>
        </p:txBody>
      </p:sp>
      <p:sp>
        <p:nvSpPr>
          <p:cNvPr id="8" name="Rounded Rectangle 7"/>
          <p:cNvSpPr/>
          <p:nvPr/>
        </p:nvSpPr>
        <p:spPr>
          <a:xfrm>
            <a:off x="777240" y="1143000"/>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8680" y="1216152"/>
            <a:ext cx="45720" cy="292608"/>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261872"/>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Prevention is individualized.</a:t>
            </a:r>
          </a:p>
        </p:txBody>
      </p:sp>
      <p:sp>
        <p:nvSpPr>
          <p:cNvPr id="11" name="Rounded Rectangle 10"/>
          <p:cNvSpPr/>
          <p:nvPr/>
        </p:nvSpPr>
        <p:spPr>
          <a:xfrm>
            <a:off x="777240" y="1801368"/>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8680" y="1874519"/>
            <a:ext cx="45720" cy="292608"/>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1920240"/>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Avoid friction and shear.</a:t>
            </a:r>
          </a:p>
        </p:txBody>
      </p:sp>
      <p:sp>
        <p:nvSpPr>
          <p:cNvPr id="14" name="Rounded Rectangle 13"/>
          <p:cNvSpPr/>
          <p:nvPr/>
        </p:nvSpPr>
        <p:spPr>
          <a:xfrm>
            <a:off x="777240" y="2459736"/>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8680" y="2532888"/>
            <a:ext cx="45720" cy="292608"/>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578608"/>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Check beneath devices.</a:t>
            </a:r>
          </a:p>
        </p:txBody>
      </p:sp>
      <p:sp>
        <p:nvSpPr>
          <p:cNvPr id="17" name="Rounded Rectangle 16"/>
          <p:cNvSpPr/>
          <p:nvPr/>
        </p:nvSpPr>
        <p:spPr>
          <a:xfrm>
            <a:off x="777240" y="3118104"/>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68680" y="3191256"/>
            <a:ext cx="45720" cy="292608"/>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236976"/>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Escalate new nonblanching or worsening skin changes.</a:t>
            </a:r>
          </a:p>
        </p:txBody>
      </p:sp>
      <p:sp>
        <p:nvSpPr>
          <p:cNvPr id="20" name="Rounded Rectangle 19"/>
          <p:cNvSpPr/>
          <p:nvPr/>
        </p:nvSpPr>
        <p:spPr>
          <a:xfrm>
            <a:off x="777240" y="3776472"/>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68680" y="3849624"/>
            <a:ext cx="45720" cy="292608"/>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3895344"/>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Evaluate skin response and update the plan.</a:t>
            </a:r>
          </a:p>
        </p:txBody>
      </p:sp>
      <p:sp>
        <p:nvSpPr>
          <p:cNvPr id="23" name="Rounded Rectangle 22"/>
          <p:cNvSpPr/>
          <p:nvPr/>
        </p:nvSpPr>
        <p:spPr>
          <a:xfrm>
            <a:off x="1188720" y="5989320"/>
            <a:ext cx="9784080" cy="411480"/>
          </a:xfrm>
          <a:prstGeom prst="roundRect">
            <a:avLst/>
          </a:prstGeom>
          <a:solidFill>
            <a:srgbClr val="FFFFFF"/>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475569"/>
                </a:solidFill>
                <a:latin typeface="Aptos"/>
              </a:rPr>
              <a:t>Answer all of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CLOSE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Takeaway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17</a:t>
            </a:r>
          </a:p>
        </p:txBody>
      </p:sp>
      <p:sp>
        <p:nvSpPr>
          <p:cNvPr id="5" name="TextBox 4"/>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6" name="TextBox 5"/>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S17  ·  instructor-added</a:t>
            </a:r>
          </a:p>
        </p:txBody>
      </p:sp>
      <p:sp>
        <p:nvSpPr>
          <p:cNvPr id="7" name="Rounded Rectangle 6"/>
          <p:cNvSpPr/>
          <p:nvPr/>
        </p:nvSpPr>
        <p:spPr>
          <a:xfrm>
            <a:off x="502920"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57784" y="147218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Prevention Is Individualized</a:t>
            </a:r>
          </a:p>
        </p:txBody>
      </p:sp>
      <p:sp>
        <p:nvSpPr>
          <p:cNvPr id="10" name="TextBox 9"/>
          <p:cNvSpPr txBox="1"/>
          <p:nvPr/>
        </p:nvSpPr>
        <p:spPr>
          <a:xfrm>
            <a:off x="667512"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Prevention is individualized.</a:t>
            </a:r>
          </a:p>
        </p:txBody>
      </p:sp>
      <p:sp>
        <p:nvSpPr>
          <p:cNvPr id="11" name="Rounded Rectangle 10"/>
          <p:cNvSpPr/>
          <p:nvPr/>
        </p:nvSpPr>
        <p:spPr>
          <a:xfrm>
            <a:off x="3340531"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95395" y="147218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05123"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Avoid Friction And Shear</a:t>
            </a:r>
          </a:p>
        </p:txBody>
      </p:sp>
      <p:sp>
        <p:nvSpPr>
          <p:cNvPr id="14" name="TextBox 13"/>
          <p:cNvSpPr txBox="1"/>
          <p:nvPr/>
        </p:nvSpPr>
        <p:spPr>
          <a:xfrm>
            <a:off x="3505123"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Avoid friction and shear.</a:t>
            </a:r>
          </a:p>
        </p:txBody>
      </p:sp>
      <p:sp>
        <p:nvSpPr>
          <p:cNvPr id="15" name="Rounded Rectangle 14"/>
          <p:cNvSpPr/>
          <p:nvPr/>
        </p:nvSpPr>
        <p:spPr>
          <a:xfrm>
            <a:off x="6178143"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3007" y="147218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2735"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Check Beneath Devices</a:t>
            </a:r>
          </a:p>
        </p:txBody>
      </p:sp>
      <p:sp>
        <p:nvSpPr>
          <p:cNvPr id="18" name="TextBox 17"/>
          <p:cNvSpPr txBox="1"/>
          <p:nvPr/>
        </p:nvSpPr>
        <p:spPr>
          <a:xfrm>
            <a:off x="6342735"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Check beneath devices.</a:t>
            </a:r>
          </a:p>
        </p:txBody>
      </p:sp>
      <p:sp>
        <p:nvSpPr>
          <p:cNvPr id="19" name="Rounded Rectangle 18"/>
          <p:cNvSpPr/>
          <p:nvPr/>
        </p:nvSpPr>
        <p:spPr>
          <a:xfrm>
            <a:off x="9015755"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70619" y="147218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0347"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Escalate New Nonblanching Or Worsening S</a:t>
            </a:r>
          </a:p>
        </p:txBody>
      </p:sp>
      <p:sp>
        <p:nvSpPr>
          <p:cNvPr id="22" name="TextBox 21"/>
          <p:cNvSpPr txBox="1"/>
          <p:nvPr/>
        </p:nvSpPr>
        <p:spPr>
          <a:xfrm>
            <a:off x="9180347"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Escalate new nonblanching or worsening skin changes.</a:t>
            </a:r>
          </a:p>
        </p:txBody>
      </p:sp>
      <p:sp>
        <p:nvSpPr>
          <p:cNvPr id="23" name="Rounded Rectangle 22"/>
          <p:cNvSpPr/>
          <p:nvPr/>
        </p:nvSpPr>
        <p:spPr>
          <a:xfrm>
            <a:off x="1234440" y="4892040"/>
            <a:ext cx="964692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289304" y="5038344"/>
            <a:ext cx="45720" cy="530352"/>
          </a:xfrm>
          <a:prstGeom prst="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99032" y="5001768"/>
            <a:ext cx="9390888" cy="292608"/>
          </a:xfrm>
          <a:prstGeom prst="rect">
            <a:avLst/>
          </a:prstGeom>
          <a:noFill/>
        </p:spPr>
        <p:txBody>
          <a:bodyPr wrap="square" anchor="t" lIns="27432" rIns="27432" tIns="18288" bIns="18288">
            <a:spAutoFit/>
          </a:bodyPr>
          <a:lstStyle/>
          <a:p>
            <a:pPr algn="l"/>
            <a:r>
              <a:rPr sz="1200" b="1">
                <a:solidFill>
                  <a:srgbClr val="0F172A"/>
                </a:solidFill>
                <a:latin typeface="Aptos"/>
              </a:rPr>
              <a:t>final bedside frame</a:t>
            </a:r>
          </a:p>
        </p:txBody>
      </p:sp>
      <p:sp>
        <p:nvSpPr>
          <p:cNvPr id="26" name="TextBox 25"/>
          <p:cNvSpPr txBox="1"/>
          <p:nvPr/>
        </p:nvSpPr>
        <p:spPr>
          <a:xfrm>
            <a:off x="1399032" y="5330952"/>
            <a:ext cx="9390888" cy="292608"/>
          </a:xfrm>
          <a:prstGeom prst="rect">
            <a:avLst/>
          </a:prstGeom>
          <a:noFill/>
        </p:spPr>
        <p:txBody>
          <a:bodyPr wrap="square" anchor="t" lIns="27432" rIns="27432" tIns="18288" bIns="18288">
            <a:spAutoFit/>
          </a:bodyPr>
          <a:lstStyle/>
          <a:p>
            <a:pPr algn="l"/>
            <a:r>
              <a:rPr sz="800" b="0">
                <a:solidFill>
                  <a:srgbClr val="475569"/>
                </a:solidFill>
                <a:latin typeface="Aptos"/>
              </a:rPr>
              <a:t>Identify individual pressure-injury risks and combine repositioning, surface selection, moisture management, nutrition, and skin reassessment.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