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Postpartum Discharge Teaching and Warning Signs. The concept underneath it is maternal health promotion, and the module rates its safety risk high — its top rating, so this is one to be able to do under pressure rather than one to recognise on a test. Here is the whole lesson in one sentence. Teach expected recovery, self-care, follow-up, and urgent warning signs using confirmation of understanding. By the end you should be able to do three things: distinguish expected postpartum changes from warning signs; prioritize urgent follow-up instructions; and use teach-back to verify understanding. We get there in three moves, and then spend the second half putting all of them against patient cues, because knowing this and doing it at the bedside are not the same skill.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with a cue rather than a definition, because that is the order the unit gives you: the patient arrives first and the explanation catches up later. Here it is. The patient reports soaking a pad rapidly with ongoing heavy bleeding. Decide now, before any of this is taught, what you would do and why that thing first. Write it somewhere you will still be able to read at the end, because this exact cue comes back as the first assessment item. Comparing the two answers is most of what the rest of this session is for.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that follows answers one question. Teach expected recovery, self-care, follow-up, and urgent warning signs using confirmation of understanding. Keep that sentence in view for the rest of the session. When a slide stops making sense it is almost always because you have lost which part of this sentence it is working on, and naming the part is the fastest way back. The lesson takes the question in three moves — expected recovery, then escalation, then teach-back — and then asks you to apply all of them to cues you have not seen.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first, detail second. The lanes on the left are the lesson's teaching moves, in the order a nurse actually performs them; apply and evaluate on the right are where you are made to use them. The reason to show this before teaching any of it is orientation: every cue you meet today sits in one of these lanes, and knowing which lane a cue belongs to usually tells you what to do with it before you can explain why. When you get stuck later, come back to this slide rather than to the last one you read.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before any of this is taught. These three headings are the whole lesson in order, but they are shuffled on the slide. Put them in the sequence the nurse actually performs them at the bedside, then compare with a neighbour before the reveal. Getting the order wrong here is more useful than getting it right: it shows you which move you would have skipped under pressure.</a:t>
            </a:r>
          </a:p>
          <a:p/>
          <a:p>
            <a:r>
              <a:t>ANSWER KEY:</a:t>
            </a:r>
          </a:p>
          <a:p>
            <a:r>
              <a:t>- Expected recovery</a:t>
            </a:r>
          </a:p>
          <a:p>
            <a:r>
              <a:t>- Escalation</a:t>
            </a:r>
          </a:p>
          <a:p>
            <a:r>
              <a:t>- Teach-back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Expected recovery. Explain the usual progression of lochia, comfort measures, hydration, rest, and follow-up while emphasizing that symptoms must be interpreted with the whole clinical picture. This is the first of the three, and the two after it assume it. What you get wrong here does not stay here; it propagates quietly into every decision the rest of the lesson asks you to make. Do not move on until you can say this part back without the slide. The test is the objective: if you can distinguish expected postpartum changes from warning signs, this lane has done its job, and if you cannot, nothing later in the lesson will fix it — it will only hide it.</a:t>
            </a:r>
          </a:p>
          <a:p/>
          <a:p>
            <a:r>
              <a:t>VISUAL NOTES: Section 1 of 3 from the source topic.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Escalation. Urgent evaluation is needed for heavy bleeding, breathing difficulty, chest pain, seizure, severe headache with concerning features, or thoughts of self-harm or harming the infant. This is the middle move, and it is where most of the disagreement in this lesson will sit: the point at which a defensible action and the priority action stop being the same answer. Do not move on until you can say this part back without the slide. The test is the objective: if you can prioritize urgent follow-up instructions, this lane has done its job, and if you cannot, nothing later in the lesson will fix it — it will only hide it.</a:t>
            </a:r>
          </a:p>
          <a:p/>
          <a:p>
            <a:r>
              <a:t>VISUAL NOTES: Section 2 of 3 from the source topic.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Teach-back. Ask the patient to explain when and how they would obtain help; correct gaps and include the support person when desired. This is the last of the three, and it is the one most often left implicit -- the step learners can describe accurately and then do not actually perform when the first two have gone well. Say it out loud; that is how it survives contact with a busy shift. Do not move on until you can say this part back without the slide. The test is the objective: if you can use teach-back to verify understanding, this lane has done its job, and if you cannot, nothing later in the lesson will fix it — it will only hide it.</a:t>
            </a:r>
          </a:p>
          <a:p/>
          <a:p>
            <a:r>
              <a:t>VISUAL NOTES: Section 3 of 3 from the source topic.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in pairs, four minutes. Every cue on the left was written for one of the lesson moves on the right; your job is to say which, and to be able to defend one of the four out loud. Where the two of you match a cue differently, stop and stay there — you have found a cue whose lane is genuinely arguable, and those are worth more than the three you agreed on instantly. Bring one disagreement to the debrief.</a:t>
            </a:r>
          </a:p>
          <a:p/>
          <a:p>
            <a:r>
              <a:t>ANSWER KEY:</a:t>
            </a:r>
          </a:p>
          <a:p>
            <a:r>
              <a:t>- A relates to: Expected recovery</a:t>
            </a:r>
          </a:p>
          <a:p>
            <a:r>
              <a:t>- B relates to: Escalation</a:t>
            </a:r>
          </a:p>
          <a:p>
            <a:r>
              <a:t>- C relates to: Teach-back</a:t>
            </a:r>
          </a:p>
          <a:p>
            <a:r>
              <a:t>- D relates to: Teach-back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four rationales as a set rather than one at a time. They are deliberately repetitive: the same habit of mind is showing up behind four different cues, and that repetition is the teaching point rather than an accident of writing. A learner who memorises four rules will meet a fifth cue and stall. A learner who can name the one habit will handle cues this lesson never showed them. Say the habit out loud in your own words before you leave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question, and it targets the middle of the lesson. The cue is: The patient reports sudden shortness of breath and chest pain. Read all four options and commit to one before the reveal, because the value of a checkpoint is in being wrong out loud rather than quietly. The reasoning you are being tested on is this: Acute cardiopulmonary symptoms may indicate a life-threatening complication.</a:t>
            </a:r>
          </a:p>
          <a:p/>
          <a:p>
            <a:r>
              <a:t>CORRECT: C</a:t>
            </a:r>
          </a:p>
          <a:p>
            <a:r>
              <a:t>RATIONALE: Acute cardiopulmonary symptoms may indicate a life-threatening complication.</a:t>
            </a:r>
          </a:p>
          <a:p/>
          <a:p>
            <a:r>
              <a:t>ANSWER KEY:</a:t>
            </a:r>
          </a:p>
          <a:p>
            <a:r>
              <a:t>- C. Instruct the patient to activate emergency services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bedside moment, and this time you write rather than choose. The situation: The patient expresses thoughts of harming themself or the infant. Write two sentences before the debrief: one naming what you assess, one naming what you do about it. Keep them in that order, because the order is the judgement. The keyed reasoning is: Thoughts of harm require immediate safety intervention, not routine follow-up.</a:t>
            </a:r>
          </a:p>
          <a:p/>
          <a:p>
            <a:r>
              <a:t>ANSWER KEY:</a:t>
            </a:r>
          </a:p>
          <a:p>
            <a:r>
              <a:t>- Maintain safety and arrange immediate emergency mental-health evaluation.</a:t>
            </a:r>
          </a:p>
          <a:p>
            <a:r>
              <a:t>- Thoughts of harm require immediate safety intervention, not routine follow-up.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columns, and the sorting rule is the point of the slide. Put a cue on the left when delay changes the outcome for the patient, and on the right when the correct action is verification, planning or teaching that a short delay does not worsen. Justify one of your placements aloud. Learners who can sort these reliably are the ones who prioritise well under load.</a:t>
            </a:r>
          </a:p>
          <a:p/>
          <a:p>
            <a:r>
              <a:t>ANSWER KEY:</a:t>
            </a:r>
          </a:p>
          <a:p>
            <a:r>
              <a:t>- Act now: the cues whose keyed action is immediate</a:t>
            </a:r>
          </a:p>
          <a:p>
            <a:r>
              <a:t>- Act in sequence: the cues whose keyed action is verification or planning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lesson turned into something you can write down. The module asks you to be able to fill every one of these fields for any patient in this situation, and the value is in the blanks: a field you cannot complete is not a documentation gap, it is an assessment you have not done yet. Fill them now for the mini-case patient, and notice which field you reach for last — that one is your weak lane.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question, and the hardest cue the topic carries: The patient reports unilateral leg swelling and pain. All four options are things a nurse might plausibly do, which is what makes it a capstone rather than a checkpoint. Choose the priority action, not merely a defensible one. The reasoning that separates them: Unilateral pain and swelling can signal venous thrombosis and require timely assessment.</a:t>
            </a:r>
          </a:p>
          <a:p/>
          <a:p>
            <a:r>
              <a:t>CORRECT: B</a:t>
            </a:r>
          </a:p>
          <a:p>
            <a:r>
              <a:t>RATIONALE: Unilateral pain and swelling can signal venous thrombosis and require timely assessment.</a:t>
            </a:r>
          </a:p>
          <a:p/>
          <a:p>
            <a:r>
              <a:t>ANSWER KEY:</a:t>
            </a:r>
          </a:p>
          <a:p>
            <a:r>
              <a:t>- B. Arrange prompt evaluation for a possible thromboembolic complication.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loop with no notes. Answer each of these aloud or on paper, one per lane of the lesson. The answers are on the slides you have just seen and in the facilitator guide, so this is retrieval rather than assessment. If any one of them produces silence across the room, that is the lane to re-teach before this cohort meets the situation on a real unit.</a:t>
            </a:r>
          </a:p>
          <a:p/>
          <a:p>
            <a:r>
              <a:t>ANSWER KEY:</a:t>
            </a:r>
          </a:p>
          <a:p>
            <a:r>
              <a:t>- Pair self-care with escalation instructions.</a:t>
            </a:r>
          </a:p>
          <a:p>
            <a:r>
              <a:t>- Heavy bleeding and cardiopulmonary symptoms require urgent action.</a:t>
            </a:r>
          </a:p>
          <a:p>
            <a:r>
              <a:t>- Include mental-health safety.</a:t>
            </a:r>
          </a:p>
          <a:p>
            <a:r>
              <a:t>- Verify learning with teach-back.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where we opened. The question was: Teach expected recovery, self-care, follow-up, and urgent warning signs using confirmation of understanding. The lines on this slide are the module's own answer, and they are what should still be there in a week when the detail has gone. If you keep one, keep the first: Pair self-care with escalation instructions. Everything else here is that sentence applied to a different cue. Go back now to what you wrote at the opening case and see whether you would still do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02920" y="457200"/>
            <a:ext cx="2194560" cy="182880"/>
          </a:xfrm>
          <a:prstGeom prst="rect">
            <a:avLst/>
          </a:prstGeom>
          <a:noFill/>
        </p:spPr>
        <p:txBody>
          <a:bodyPr wrap="square" anchor="t" lIns="27432" rIns="27432" tIns="18288" bIns="18288">
            <a:spAutoFit/>
          </a:bodyPr>
          <a:lstStyle/>
          <a:p>
            <a:pPr algn="l"/>
            <a:r>
              <a:rPr sz="720" b="1">
                <a:solidFill>
                  <a:srgbClr val="2563EB"/>
                </a:solidFill>
                <a:latin typeface="Aptos"/>
              </a:rPr>
              <a:t>OPEN</a:t>
            </a:r>
          </a:p>
        </p:txBody>
      </p:sp>
      <p:sp>
        <p:nvSpPr>
          <p:cNvPr id="3" name="TextBox 2"/>
          <p:cNvSpPr txBox="1"/>
          <p:nvPr/>
        </p:nvSpPr>
        <p:spPr>
          <a:xfrm>
            <a:off x="502920" y="822960"/>
            <a:ext cx="7498079" cy="548640"/>
          </a:xfrm>
          <a:prstGeom prst="rect">
            <a:avLst/>
          </a:prstGeom>
          <a:noFill/>
        </p:spPr>
        <p:txBody>
          <a:bodyPr wrap="square" anchor="t" lIns="27432" rIns="27432" tIns="18288" bIns="18288">
            <a:spAutoFit/>
          </a:bodyPr>
          <a:lstStyle/>
          <a:p>
            <a:pPr algn="l"/>
            <a:r>
              <a:rPr sz="2800" b="1">
                <a:solidFill>
                  <a:srgbClr val="0F172A"/>
                </a:solidFill>
                <a:latin typeface="Aptos"/>
              </a:rPr>
              <a:t>Postpartum Discharge Teaching and Warning Signs</a:t>
            </a:r>
          </a:p>
        </p:txBody>
      </p:sp>
      <p:sp>
        <p:nvSpPr>
          <p:cNvPr id="4" name="TextBox 3"/>
          <p:cNvSpPr txBox="1"/>
          <p:nvPr/>
        </p:nvSpPr>
        <p:spPr>
          <a:xfrm>
            <a:off x="530352" y="1463040"/>
            <a:ext cx="7589520" cy="438912"/>
          </a:xfrm>
          <a:prstGeom prst="rect">
            <a:avLst/>
          </a:prstGeom>
          <a:noFill/>
        </p:spPr>
        <p:txBody>
          <a:bodyPr wrap="square" anchor="t" lIns="27432" rIns="27432" tIns="18288" bIns="18288">
            <a:spAutoFit/>
          </a:bodyPr>
          <a:lstStyle/>
          <a:p>
            <a:pPr algn="l"/>
            <a:r>
              <a:rPr sz="1200" b="0">
                <a:solidFill>
                  <a:srgbClr val="475569"/>
                </a:solidFill>
                <a:latin typeface="Aptos"/>
              </a:rPr>
              <a:t>NCLEX  ·  Health Promotion and Maintenance  ·  Postpartum_Discharge_Teaching_and_Warnin</a:t>
            </a:r>
          </a:p>
        </p:txBody>
      </p:sp>
      <p:sp>
        <p:nvSpPr>
          <p:cNvPr id="5" name="Rounded Rectangle 4"/>
          <p:cNvSpPr/>
          <p:nvPr/>
        </p:nvSpPr>
        <p:spPr>
          <a:xfrm>
            <a:off x="502920" y="2331720"/>
            <a:ext cx="5303520" cy="10515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7784" y="2478024"/>
            <a:ext cx="45720" cy="758951"/>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441448"/>
            <a:ext cx="5047488" cy="292608"/>
          </a:xfrm>
          <a:prstGeom prst="rect">
            <a:avLst/>
          </a:prstGeom>
          <a:noFill/>
        </p:spPr>
        <p:txBody>
          <a:bodyPr wrap="square" anchor="t" lIns="27432" rIns="27432" tIns="18288" bIns="18288">
            <a:spAutoFit/>
          </a:bodyPr>
          <a:lstStyle/>
          <a:p>
            <a:pPr algn="l"/>
            <a:r>
              <a:rPr sz="1300" b="1">
                <a:solidFill>
                  <a:srgbClr val="0F172A"/>
                </a:solidFill>
                <a:latin typeface="Aptos"/>
              </a:rPr>
              <a:t>clinical question</a:t>
            </a:r>
          </a:p>
        </p:txBody>
      </p:sp>
      <p:sp>
        <p:nvSpPr>
          <p:cNvPr id="8" name="TextBox 7"/>
          <p:cNvSpPr txBox="1"/>
          <p:nvPr/>
        </p:nvSpPr>
        <p:spPr>
          <a:xfrm>
            <a:off x="667512" y="2770632"/>
            <a:ext cx="5047488" cy="521207"/>
          </a:xfrm>
          <a:prstGeom prst="rect">
            <a:avLst/>
          </a:prstGeom>
          <a:noFill/>
        </p:spPr>
        <p:txBody>
          <a:bodyPr wrap="square" anchor="t" lIns="27432" rIns="27432" tIns="18288" bIns="18288">
            <a:spAutoFit/>
          </a:bodyPr>
          <a:lstStyle/>
          <a:p>
            <a:pPr algn="l"/>
            <a:r>
              <a:rPr sz="900" b="0">
                <a:solidFill>
                  <a:srgbClr val="475569"/>
                </a:solidFill>
                <a:latin typeface="Aptos"/>
              </a:rPr>
              <a:t>Teach expected recovery, self-care, follow-up, and urgent warning signs using confirmation of understanding.</a:t>
            </a:r>
          </a:p>
        </p:txBody>
      </p:sp>
      <p:sp>
        <p:nvSpPr>
          <p:cNvPr id="9" name="Rounded Rectangle 8"/>
          <p:cNvSpPr/>
          <p:nvPr/>
        </p:nvSpPr>
        <p:spPr>
          <a:xfrm>
            <a:off x="502920" y="3611880"/>
            <a:ext cx="5303520" cy="132588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7784" y="3758184"/>
            <a:ext cx="45720" cy="1033271"/>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3721608"/>
            <a:ext cx="5047488" cy="292608"/>
          </a:xfrm>
          <a:prstGeom prst="rect">
            <a:avLst/>
          </a:prstGeom>
          <a:noFill/>
        </p:spPr>
        <p:txBody>
          <a:bodyPr wrap="square" anchor="t" lIns="27432" rIns="27432" tIns="18288" bIns="18288">
            <a:spAutoFit/>
          </a:bodyPr>
          <a:lstStyle/>
          <a:p>
            <a:pPr algn="l"/>
            <a:r>
              <a:rPr sz="1300" b="1">
                <a:solidFill>
                  <a:srgbClr val="0F172A"/>
                </a:solidFill>
                <a:latin typeface="Aptos"/>
              </a:rPr>
              <a:t>today is not a vocabulary tour</a:t>
            </a:r>
          </a:p>
        </p:txBody>
      </p:sp>
      <p:sp>
        <p:nvSpPr>
          <p:cNvPr id="12" name="TextBox 11"/>
          <p:cNvSpPr txBox="1"/>
          <p:nvPr/>
        </p:nvSpPr>
        <p:spPr>
          <a:xfrm>
            <a:off x="667512" y="4050791"/>
            <a:ext cx="5047488" cy="795528"/>
          </a:xfrm>
          <a:prstGeom prst="rect">
            <a:avLst/>
          </a:prstGeom>
          <a:noFill/>
        </p:spPr>
        <p:txBody>
          <a:bodyPr wrap="square" anchor="t" lIns="27432" rIns="27432" tIns="18288" bIns="18288">
            <a:spAutoFit/>
          </a:bodyPr>
          <a:lstStyle/>
          <a:p>
            <a:pPr algn="l"/>
            <a:r>
              <a:rPr sz="900" b="0">
                <a:solidFill>
                  <a:srgbClr val="475569"/>
                </a:solidFill>
                <a:latin typeface="Aptos"/>
              </a:rPr>
              <a:t>you will use the science only when it explains a patient question or a safety decision.</a:t>
            </a:r>
          </a:p>
        </p:txBody>
      </p:sp>
      <p:sp>
        <p:nvSpPr>
          <p:cNvPr id="13" name="Rounded Rectangle 12"/>
          <p:cNvSpPr/>
          <p:nvPr/>
        </p:nvSpPr>
        <p:spPr>
          <a:xfrm>
            <a:off x="8458200" y="502920"/>
            <a:ext cx="1965960" cy="196596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32520" y="914400"/>
            <a:ext cx="1417320" cy="274320"/>
          </a:xfrm>
          <a:prstGeom prst="rect">
            <a:avLst/>
          </a:prstGeom>
          <a:noFill/>
        </p:spPr>
        <p:txBody>
          <a:bodyPr wrap="square" anchor="t" lIns="27432" rIns="27432" tIns="18288" bIns="18288">
            <a:spAutoFit/>
          </a:bodyPr>
          <a:lstStyle/>
          <a:p>
            <a:pPr algn="ctr"/>
            <a:r>
              <a:rPr sz="1300" b="1">
                <a:solidFill>
                  <a:srgbClr val="2563EB"/>
                </a:solidFill>
                <a:latin typeface="Aptos"/>
              </a:rPr>
              <a:t>Nurse lens</a:t>
            </a:r>
          </a:p>
        </p:txBody>
      </p:sp>
      <p:sp>
        <p:nvSpPr>
          <p:cNvPr id="15" name="TextBox 14"/>
          <p:cNvSpPr txBox="1"/>
          <p:nvPr/>
        </p:nvSpPr>
        <p:spPr>
          <a:xfrm>
            <a:off x="8915400" y="1234440"/>
            <a:ext cx="1097280" cy="685800"/>
          </a:xfrm>
          <a:prstGeom prst="rect">
            <a:avLst/>
          </a:prstGeom>
          <a:noFill/>
        </p:spPr>
        <p:txBody>
          <a:bodyPr wrap="square" anchor="t" lIns="27432" rIns="27432" tIns="18288" bIns="18288">
            <a:spAutoFit/>
          </a:bodyPr>
          <a:lstStyle/>
          <a:p>
            <a:pPr algn="ctr"/>
            <a:r>
              <a:rPr sz="1000" b="1">
                <a:solidFill>
                  <a:srgbClr val="0F172A"/>
                </a:solidFill>
                <a:latin typeface="Aptos"/>
              </a:rPr>
              <a:t>TEACH
ASSESS
ESCALATE</a:t>
            </a:r>
          </a:p>
        </p:txBody>
      </p:sp>
      <p:sp>
        <p:nvSpPr>
          <p:cNvPr id="16" name="Rounded Rectangle 15"/>
          <p:cNvSpPr/>
          <p:nvPr/>
        </p:nvSpPr>
        <p:spPr>
          <a:xfrm>
            <a:off x="640080" y="5257800"/>
            <a:ext cx="2423160" cy="65836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94944" y="5404104"/>
            <a:ext cx="45720" cy="365759"/>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1" y="5367528"/>
            <a:ext cx="2167128" cy="292608"/>
          </a:xfrm>
          <a:prstGeom prst="rect">
            <a:avLst/>
          </a:prstGeom>
          <a:noFill/>
        </p:spPr>
        <p:txBody>
          <a:bodyPr wrap="square" anchor="t" lIns="27432" rIns="27432" tIns="18288" bIns="18288">
            <a:spAutoFit/>
          </a:bodyPr>
          <a:lstStyle/>
          <a:p>
            <a:pPr algn="l"/>
            <a:r>
              <a:rPr sz="1200" b="1">
                <a:solidFill>
                  <a:srgbClr val="0F172A"/>
                </a:solidFill>
                <a:latin typeface="Aptos"/>
              </a:rPr>
              <a:t>1</a:t>
            </a:r>
          </a:p>
        </p:txBody>
      </p:sp>
      <p:sp>
        <p:nvSpPr>
          <p:cNvPr id="19" name="TextBox 18"/>
          <p:cNvSpPr txBox="1"/>
          <p:nvPr/>
        </p:nvSpPr>
        <p:spPr>
          <a:xfrm>
            <a:off x="804671" y="5696712"/>
            <a:ext cx="2167128" cy="128016"/>
          </a:xfrm>
          <a:prstGeom prst="rect">
            <a:avLst/>
          </a:prstGeom>
          <a:noFill/>
        </p:spPr>
        <p:txBody>
          <a:bodyPr wrap="square" anchor="t" lIns="27432" rIns="27432" tIns="18288" bIns="18288">
            <a:spAutoFit/>
          </a:bodyPr>
          <a:lstStyle/>
          <a:p>
            <a:pPr algn="l"/>
            <a:r>
              <a:rPr sz="800" b="0">
                <a:solidFill>
                  <a:srgbClr val="475569"/>
                </a:solidFill>
                <a:latin typeface="Aptos"/>
              </a:rPr>
              <a:t>Postpartum Discharge Teaching and Warning Signs</a:t>
            </a:r>
          </a:p>
        </p:txBody>
      </p:sp>
      <p:sp>
        <p:nvSpPr>
          <p:cNvPr id="20" name="Rounded Rectangle 19"/>
          <p:cNvSpPr/>
          <p:nvPr/>
        </p:nvSpPr>
        <p:spPr>
          <a:xfrm>
            <a:off x="3429000" y="5257800"/>
            <a:ext cx="2423160" cy="65836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83864" y="5404104"/>
            <a:ext cx="45720" cy="365759"/>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93592" y="5367528"/>
            <a:ext cx="2167128" cy="292608"/>
          </a:xfrm>
          <a:prstGeom prst="rect">
            <a:avLst/>
          </a:prstGeom>
          <a:noFill/>
        </p:spPr>
        <p:txBody>
          <a:bodyPr wrap="square" anchor="t" lIns="27432" rIns="27432" tIns="18288" bIns="18288">
            <a:spAutoFit/>
          </a:bodyPr>
          <a:lstStyle/>
          <a:p>
            <a:pPr algn="l"/>
            <a:r>
              <a:rPr sz="1200" b="1">
                <a:solidFill>
                  <a:srgbClr val="0F172A"/>
                </a:solidFill>
                <a:latin typeface="Aptos"/>
              </a:rPr>
              <a:t>2</a:t>
            </a:r>
          </a:p>
        </p:txBody>
      </p:sp>
      <p:sp>
        <p:nvSpPr>
          <p:cNvPr id="23" name="TextBox 22"/>
          <p:cNvSpPr txBox="1"/>
          <p:nvPr/>
        </p:nvSpPr>
        <p:spPr>
          <a:xfrm>
            <a:off x="3593592" y="5696712"/>
            <a:ext cx="2167128" cy="128016"/>
          </a:xfrm>
          <a:prstGeom prst="rect">
            <a:avLst/>
          </a:prstGeom>
          <a:noFill/>
        </p:spPr>
        <p:txBody>
          <a:bodyPr wrap="square" anchor="t" lIns="27432" rIns="27432" tIns="18288" bIns="18288">
            <a:spAutoFit/>
          </a:bodyPr>
          <a:lstStyle/>
          <a:p>
            <a:pPr algn="l"/>
            <a:r>
              <a:rPr sz="800" b="0">
                <a:solidFill>
                  <a:srgbClr val="475569"/>
                </a:solidFill>
                <a:latin typeface="Aptos"/>
              </a:rPr>
              <a:t>Prelicensure RN · Health Promotion and Maintenance · safety risk: high</a:t>
            </a:r>
          </a:p>
        </p:txBody>
      </p:sp>
      <p:sp>
        <p:nvSpPr>
          <p:cNvPr id="24" name="TextBox 23"/>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25" name="TextBox 24"/>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S01  ·  instructor-added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OPEN</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Opening case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2</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S02  ·  source-aligned</a:t>
            </a:r>
          </a:p>
        </p:txBody>
      </p:sp>
      <p:sp>
        <p:nvSpPr>
          <p:cNvPr id="8" name="Rounded Rectangle 7"/>
          <p:cNvSpPr/>
          <p:nvPr/>
        </p:nvSpPr>
        <p:spPr>
          <a:xfrm>
            <a:off x="548640" y="1097280"/>
            <a:ext cx="5394960" cy="1325880"/>
          </a:xfrm>
          <a:prstGeom prst="roundRect">
            <a:avLst/>
          </a:prstGeom>
          <a:solidFill>
            <a:srgbClr val="FFF7ED"/>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3503" y="1243584"/>
            <a:ext cx="45720" cy="1033271"/>
          </a:xfrm>
          <a:prstGeom prst="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207007"/>
            <a:ext cx="5138928" cy="292608"/>
          </a:xfrm>
          <a:prstGeom prst="rect">
            <a:avLst/>
          </a:prstGeom>
          <a:noFill/>
        </p:spPr>
        <p:txBody>
          <a:bodyPr wrap="square" anchor="t" lIns="27432" rIns="27432" tIns="18288" bIns="18288">
            <a:spAutoFit/>
          </a:bodyPr>
          <a:lstStyle/>
          <a:p>
            <a:pPr algn="l"/>
            <a:r>
              <a:rPr sz="1300" b="1">
                <a:solidFill>
                  <a:srgbClr val="0F172A"/>
                </a:solidFill>
                <a:latin typeface="Aptos"/>
              </a:rPr>
              <a:t>patient says</a:t>
            </a:r>
          </a:p>
        </p:txBody>
      </p:sp>
      <p:sp>
        <p:nvSpPr>
          <p:cNvPr id="11" name="TextBox 10"/>
          <p:cNvSpPr txBox="1"/>
          <p:nvPr/>
        </p:nvSpPr>
        <p:spPr>
          <a:xfrm>
            <a:off x="713232" y="1536192"/>
            <a:ext cx="5138928" cy="795528"/>
          </a:xfrm>
          <a:prstGeom prst="rect">
            <a:avLst/>
          </a:prstGeom>
          <a:noFill/>
        </p:spPr>
        <p:txBody>
          <a:bodyPr wrap="square" anchor="t" lIns="27432" rIns="27432" tIns="18288" bIns="18288">
            <a:spAutoFit/>
          </a:bodyPr>
          <a:lstStyle/>
          <a:p>
            <a:pPr algn="l"/>
            <a:r>
              <a:rPr sz="1000" b="0">
                <a:solidFill>
                  <a:srgbClr val="475569"/>
                </a:solidFill>
                <a:latin typeface="Aptos"/>
              </a:rPr>
              <a:t>The patient reports soaking a pad rapidly with ongoing heavy bleeding.</a:t>
            </a:r>
          </a:p>
        </p:txBody>
      </p:sp>
      <p:sp>
        <p:nvSpPr>
          <p:cNvPr id="12" name="Rounded Rectangle 11"/>
          <p:cNvSpPr/>
          <p:nvPr/>
        </p:nvSpPr>
        <p:spPr>
          <a:xfrm>
            <a:off x="548640" y="2743200"/>
            <a:ext cx="2651760" cy="182880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3503" y="2889504"/>
            <a:ext cx="45720" cy="153619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852928"/>
            <a:ext cx="2395728" cy="292608"/>
          </a:xfrm>
          <a:prstGeom prst="rect">
            <a:avLst/>
          </a:prstGeom>
          <a:noFill/>
        </p:spPr>
        <p:txBody>
          <a:bodyPr wrap="square" anchor="t" lIns="27432" rIns="27432" tIns="18288" bIns="18288">
            <a:spAutoFit/>
          </a:bodyPr>
          <a:lstStyle/>
          <a:p>
            <a:pPr algn="l"/>
            <a:r>
              <a:rPr sz="1200" b="1">
                <a:solidFill>
                  <a:srgbClr val="0F172A"/>
                </a:solidFill>
                <a:latin typeface="Aptos"/>
              </a:rPr>
              <a:t>what you know so far</a:t>
            </a:r>
          </a:p>
        </p:txBody>
      </p:sp>
      <p:sp>
        <p:nvSpPr>
          <p:cNvPr id="15" name="TextBox 14"/>
          <p:cNvSpPr txBox="1"/>
          <p:nvPr/>
        </p:nvSpPr>
        <p:spPr>
          <a:xfrm>
            <a:off x="713232" y="3182112"/>
            <a:ext cx="2395728" cy="1298448"/>
          </a:xfrm>
          <a:prstGeom prst="rect">
            <a:avLst/>
          </a:prstGeom>
          <a:noFill/>
        </p:spPr>
        <p:txBody>
          <a:bodyPr wrap="square" anchor="t" lIns="27432" rIns="27432" tIns="18288" bIns="18288">
            <a:spAutoFit/>
          </a:bodyPr>
          <a:lstStyle/>
          <a:p>
            <a:pPr algn="l"/>
            <a:r>
              <a:rPr sz="850" b="0">
                <a:solidFill>
                  <a:srgbClr val="475569"/>
                </a:solidFill>
                <a:latin typeface="Aptos"/>
              </a:rPr>
              <a:t>- Objective in play: Distinguish expected postpartum changes from warning signs.
- Concept: Maternal Health Promotion</a:t>
            </a:r>
          </a:p>
        </p:txBody>
      </p:sp>
      <p:sp>
        <p:nvSpPr>
          <p:cNvPr id="16" name="Rounded Rectangle 15"/>
          <p:cNvSpPr/>
          <p:nvPr/>
        </p:nvSpPr>
        <p:spPr>
          <a:xfrm>
            <a:off x="3429000" y="2743200"/>
            <a:ext cx="2651760" cy="182880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83864" y="2889504"/>
            <a:ext cx="45720" cy="153619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93592" y="2852928"/>
            <a:ext cx="2395728" cy="292608"/>
          </a:xfrm>
          <a:prstGeom prst="rect">
            <a:avLst/>
          </a:prstGeom>
          <a:noFill/>
        </p:spPr>
        <p:txBody>
          <a:bodyPr wrap="square" anchor="t" lIns="27432" rIns="27432" tIns="18288" bIns="18288">
            <a:spAutoFit/>
          </a:bodyPr>
          <a:lstStyle/>
          <a:p>
            <a:pPr algn="l"/>
            <a:r>
              <a:rPr sz="1200" b="1">
                <a:solidFill>
                  <a:srgbClr val="0F172A"/>
                </a:solidFill>
                <a:latin typeface="Aptos"/>
              </a:rPr>
              <a:t>what you do not know yet</a:t>
            </a:r>
          </a:p>
        </p:txBody>
      </p:sp>
      <p:sp>
        <p:nvSpPr>
          <p:cNvPr id="19" name="Rounded Rectangle 18"/>
          <p:cNvSpPr/>
          <p:nvPr/>
        </p:nvSpPr>
        <p:spPr>
          <a:xfrm>
            <a:off x="6629400" y="1097280"/>
            <a:ext cx="4389120" cy="3520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684264" y="1243584"/>
            <a:ext cx="45720" cy="3227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93992" y="1207007"/>
            <a:ext cx="4133087" cy="292608"/>
          </a:xfrm>
          <a:prstGeom prst="rect">
            <a:avLst/>
          </a:prstGeom>
          <a:noFill/>
        </p:spPr>
        <p:txBody>
          <a:bodyPr wrap="square" anchor="t" lIns="27432" rIns="27432" tIns="18288" bIns="18288">
            <a:spAutoFit/>
          </a:bodyPr>
          <a:lstStyle/>
          <a:p>
            <a:pPr algn="l"/>
            <a:r>
              <a:rPr sz="1400" b="1">
                <a:solidFill>
                  <a:srgbClr val="0F172A"/>
                </a:solidFill>
                <a:latin typeface="Aptos"/>
              </a:rPr>
              <a:t>your first task</a:t>
            </a:r>
          </a:p>
        </p:txBody>
      </p:sp>
      <p:sp>
        <p:nvSpPr>
          <p:cNvPr id="22" name="TextBox 21"/>
          <p:cNvSpPr txBox="1"/>
          <p:nvPr/>
        </p:nvSpPr>
        <p:spPr>
          <a:xfrm>
            <a:off x="6793992" y="1536192"/>
            <a:ext cx="4133087" cy="2990088"/>
          </a:xfrm>
          <a:prstGeom prst="rect">
            <a:avLst/>
          </a:prstGeom>
          <a:noFill/>
        </p:spPr>
        <p:txBody>
          <a:bodyPr wrap="square" anchor="t" lIns="27432" rIns="27432" tIns="18288" bIns="18288">
            <a:spAutoFit/>
          </a:bodyPr>
          <a:lstStyle/>
          <a:p>
            <a:pPr algn="l"/>
            <a:r>
              <a:rPr sz="1000" b="0">
                <a:solidFill>
                  <a:srgbClr val="475569"/>
                </a:solidFill>
                <a:latin typeface="Aptos"/>
              </a:rPr>
              <a:t>Thirty seconds: what is your first action, and why that one first?</a:t>
            </a:r>
          </a:p>
        </p:txBody>
      </p:sp>
      <p:sp>
        <p:nvSpPr>
          <p:cNvPr id="23" name="Rounded Rectangle 22"/>
          <p:cNvSpPr/>
          <p:nvPr/>
        </p:nvSpPr>
        <p:spPr>
          <a:xfrm>
            <a:off x="1188720" y="5989320"/>
            <a:ext cx="9784080" cy="41148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DC2626"/>
                </a:solidFill>
                <a:latin typeface="Aptos"/>
              </a:rPr>
              <a:t>Before facts: decide what information is missing and what could be unsafe.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MAP</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The question this lesson answers</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3</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S03  ·  instructor-added</a:t>
            </a:r>
          </a:p>
        </p:txBody>
      </p:sp>
      <p:sp>
        <p:nvSpPr>
          <p:cNvPr id="8" name="Rounded Rectangle 7"/>
          <p:cNvSpPr/>
          <p:nvPr/>
        </p:nvSpPr>
        <p:spPr>
          <a:xfrm>
            <a:off x="1463040" y="960120"/>
            <a:ext cx="9235440" cy="777240"/>
          </a:xfrm>
          <a:prstGeom prst="round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91640" y="1143000"/>
            <a:ext cx="8778240" cy="384048"/>
          </a:xfrm>
          <a:prstGeom prst="rect">
            <a:avLst/>
          </a:prstGeom>
          <a:noFill/>
        </p:spPr>
        <p:txBody>
          <a:bodyPr wrap="square" anchor="ctr" lIns="27432" rIns="27432" tIns="18288" bIns="18288">
            <a:spAutoFit/>
          </a:bodyPr>
          <a:lstStyle/>
          <a:p>
            <a:pPr algn="ctr"/>
            <a:r>
              <a:rPr sz="1600" b="1">
                <a:solidFill>
                  <a:srgbClr val="FFFFFF"/>
                </a:solidFill>
                <a:latin typeface="Aptos"/>
              </a:rPr>
              <a:t>Teach expected recovery, self-care, follow-up, and urgent warning signs using confirmation of understanding.</a:t>
            </a:r>
          </a:p>
        </p:txBody>
      </p:sp>
      <p:sp>
        <p:nvSpPr>
          <p:cNvPr id="10" name="Rounded Rectangle 9"/>
          <p:cNvSpPr/>
          <p:nvPr/>
        </p:nvSpPr>
        <p:spPr>
          <a:xfrm>
            <a:off x="594360"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9224" y="2295144"/>
            <a:ext cx="45720" cy="882396"/>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Expected Recovery</a:t>
            </a:r>
          </a:p>
        </p:txBody>
      </p:sp>
      <p:sp>
        <p:nvSpPr>
          <p:cNvPr id="13" name="TextBox 12"/>
          <p:cNvSpPr txBox="1"/>
          <p:nvPr/>
        </p:nvSpPr>
        <p:spPr>
          <a:xfrm>
            <a:off x="758952"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Expected recovery</a:t>
            </a:r>
          </a:p>
        </p:txBody>
      </p:sp>
      <p:sp>
        <p:nvSpPr>
          <p:cNvPr id="14" name="Rounded Rectangle 13"/>
          <p:cNvSpPr/>
          <p:nvPr/>
        </p:nvSpPr>
        <p:spPr>
          <a:xfrm>
            <a:off x="3386251"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41115" y="2295144"/>
            <a:ext cx="45720" cy="882396"/>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0843"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Escalation</a:t>
            </a:r>
          </a:p>
        </p:txBody>
      </p:sp>
      <p:sp>
        <p:nvSpPr>
          <p:cNvPr id="17" name="TextBox 16"/>
          <p:cNvSpPr txBox="1"/>
          <p:nvPr/>
        </p:nvSpPr>
        <p:spPr>
          <a:xfrm>
            <a:off x="3550843"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Escalation</a:t>
            </a:r>
          </a:p>
        </p:txBody>
      </p:sp>
      <p:sp>
        <p:nvSpPr>
          <p:cNvPr id="18" name="Rounded Rectangle 17"/>
          <p:cNvSpPr/>
          <p:nvPr/>
        </p:nvSpPr>
        <p:spPr>
          <a:xfrm>
            <a:off x="6178143"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3007" y="2295144"/>
            <a:ext cx="45720" cy="882396"/>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2735"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Teach Back</a:t>
            </a:r>
          </a:p>
        </p:txBody>
      </p:sp>
      <p:sp>
        <p:nvSpPr>
          <p:cNvPr id="21" name="TextBox 20"/>
          <p:cNvSpPr txBox="1"/>
          <p:nvPr/>
        </p:nvSpPr>
        <p:spPr>
          <a:xfrm>
            <a:off x="6342735"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Teach-back</a:t>
            </a:r>
          </a:p>
        </p:txBody>
      </p:sp>
      <p:sp>
        <p:nvSpPr>
          <p:cNvPr id="22" name="Rounded Rectangle 21"/>
          <p:cNvSpPr/>
          <p:nvPr/>
        </p:nvSpPr>
        <p:spPr>
          <a:xfrm>
            <a:off x="8970035"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24899" y="2295144"/>
            <a:ext cx="45720" cy="882396"/>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34627"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Apply</a:t>
            </a:r>
          </a:p>
        </p:txBody>
      </p:sp>
      <p:sp>
        <p:nvSpPr>
          <p:cNvPr id="25" name="TextBox 24"/>
          <p:cNvSpPr txBox="1"/>
          <p:nvPr/>
        </p:nvSpPr>
        <p:spPr>
          <a:xfrm>
            <a:off x="9134627"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case and items</a:t>
            </a:r>
          </a:p>
        </p:txBody>
      </p:sp>
      <p:sp>
        <p:nvSpPr>
          <p:cNvPr id="26" name="Rounded Rectangle 25"/>
          <p:cNvSpPr/>
          <p:nvPr/>
        </p:nvSpPr>
        <p:spPr>
          <a:xfrm>
            <a:off x="594360" y="3488436"/>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9224" y="3634740"/>
            <a:ext cx="45720" cy="882396"/>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8952" y="3598164"/>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Evaluate</a:t>
            </a:r>
          </a:p>
        </p:txBody>
      </p:sp>
      <p:sp>
        <p:nvSpPr>
          <p:cNvPr id="29" name="TextBox 28"/>
          <p:cNvSpPr txBox="1"/>
          <p:nvPr/>
        </p:nvSpPr>
        <p:spPr>
          <a:xfrm>
            <a:off x="758952" y="3927348"/>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retrieval; takeaway</a:t>
            </a:r>
          </a:p>
        </p:txBody>
      </p:sp>
      <p:sp>
        <p:nvSpPr>
          <p:cNvPr id="30" name="Rounded Rectangle 29"/>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Every concept must answer: what do I teach, what do I assess, what must I escalate?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MAP</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Lesson map</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4</a:t>
            </a:r>
          </a:p>
        </p:txBody>
      </p:sp>
      <p:sp>
        <p:nvSpPr>
          <p:cNvPr id="5" name="TextBox 4"/>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6" name="TextBox 5"/>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S04  ·  instructor-added</a:t>
            </a:r>
          </a:p>
        </p:txBody>
      </p:sp>
      <p:cxnSp>
        <p:nvCxnSpPr>
          <p:cNvPr id="7" name="Connector 6"/>
          <p:cNvCxnSpPr/>
          <p:nvPr/>
        </p:nvCxnSpPr>
        <p:spPr>
          <a:xfrm>
            <a:off x="1143000" y="2148840"/>
            <a:ext cx="9601200" cy="0"/>
          </a:xfrm>
          <a:prstGeom prst="line">
            <a:avLst/>
          </a:prstGeom>
          <a:ln w="38100">
            <a:solidFill>
              <a:srgbClr val="D7DFEA"/>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03503" y="1975104"/>
            <a:ext cx="347472" cy="347472"/>
          </a:xfrm>
          <a:prstGeom prst="round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1</a:t>
            </a:r>
          </a:p>
        </p:txBody>
      </p:sp>
      <p:sp>
        <p:nvSpPr>
          <p:cNvPr id="10" name="TextBox 9"/>
          <p:cNvSpPr txBox="1"/>
          <p:nvPr/>
        </p:nvSpPr>
        <p:spPr>
          <a:xfrm>
            <a:off x="91439"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Expected Recovery</a:t>
            </a:r>
          </a:p>
        </p:txBody>
      </p:sp>
      <p:sp>
        <p:nvSpPr>
          <p:cNvPr id="11" name="TextBox 10"/>
          <p:cNvSpPr txBox="1"/>
          <p:nvPr/>
        </p:nvSpPr>
        <p:spPr>
          <a:xfrm>
            <a:off x="45719"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Expected recovery</a:t>
            </a:r>
          </a:p>
        </p:txBody>
      </p:sp>
      <p:sp>
        <p:nvSpPr>
          <p:cNvPr id="12" name="Rounded Rectangle 11"/>
          <p:cNvSpPr/>
          <p:nvPr/>
        </p:nvSpPr>
        <p:spPr>
          <a:xfrm>
            <a:off x="3186684" y="1975104"/>
            <a:ext cx="347472" cy="347472"/>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5069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2</a:t>
            </a:r>
          </a:p>
        </p:txBody>
      </p:sp>
      <p:sp>
        <p:nvSpPr>
          <p:cNvPr id="14" name="TextBox 13"/>
          <p:cNvSpPr txBox="1"/>
          <p:nvPr/>
        </p:nvSpPr>
        <p:spPr>
          <a:xfrm>
            <a:off x="267462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Escalation</a:t>
            </a:r>
          </a:p>
        </p:txBody>
      </p:sp>
      <p:sp>
        <p:nvSpPr>
          <p:cNvPr id="15" name="TextBox 14"/>
          <p:cNvSpPr txBox="1"/>
          <p:nvPr/>
        </p:nvSpPr>
        <p:spPr>
          <a:xfrm>
            <a:off x="262890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Escalation</a:t>
            </a:r>
          </a:p>
        </p:txBody>
      </p:sp>
      <p:sp>
        <p:nvSpPr>
          <p:cNvPr id="16" name="Rounded Rectangle 15"/>
          <p:cNvSpPr/>
          <p:nvPr/>
        </p:nvSpPr>
        <p:spPr>
          <a:xfrm>
            <a:off x="5769864" y="1975104"/>
            <a:ext cx="347472" cy="347472"/>
          </a:xfrm>
          <a:prstGeom prst="round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3387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3</a:t>
            </a:r>
          </a:p>
        </p:txBody>
      </p:sp>
      <p:sp>
        <p:nvSpPr>
          <p:cNvPr id="18" name="TextBox 17"/>
          <p:cNvSpPr txBox="1"/>
          <p:nvPr/>
        </p:nvSpPr>
        <p:spPr>
          <a:xfrm>
            <a:off x="525780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Teach Back</a:t>
            </a:r>
          </a:p>
        </p:txBody>
      </p:sp>
      <p:sp>
        <p:nvSpPr>
          <p:cNvPr id="19" name="TextBox 18"/>
          <p:cNvSpPr txBox="1"/>
          <p:nvPr/>
        </p:nvSpPr>
        <p:spPr>
          <a:xfrm>
            <a:off x="521208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Teach-back</a:t>
            </a:r>
          </a:p>
        </p:txBody>
      </p:sp>
      <p:sp>
        <p:nvSpPr>
          <p:cNvPr id="20" name="Rounded Rectangle 19"/>
          <p:cNvSpPr/>
          <p:nvPr/>
        </p:nvSpPr>
        <p:spPr>
          <a:xfrm>
            <a:off x="8353044" y="1975104"/>
            <a:ext cx="347472" cy="347472"/>
          </a:xfrm>
          <a:prstGeom prst="round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705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4</a:t>
            </a:r>
          </a:p>
        </p:txBody>
      </p:sp>
      <p:sp>
        <p:nvSpPr>
          <p:cNvPr id="22" name="TextBox 21"/>
          <p:cNvSpPr txBox="1"/>
          <p:nvPr/>
        </p:nvSpPr>
        <p:spPr>
          <a:xfrm>
            <a:off x="784098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Apply</a:t>
            </a:r>
          </a:p>
        </p:txBody>
      </p:sp>
      <p:sp>
        <p:nvSpPr>
          <p:cNvPr id="23" name="TextBox 22"/>
          <p:cNvSpPr txBox="1"/>
          <p:nvPr/>
        </p:nvSpPr>
        <p:spPr>
          <a:xfrm>
            <a:off x="779526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mini case → capstone</a:t>
            </a:r>
          </a:p>
        </p:txBody>
      </p:sp>
      <p:sp>
        <p:nvSpPr>
          <p:cNvPr id="24" name="Rounded Rectangle 23"/>
          <p:cNvSpPr/>
          <p:nvPr/>
        </p:nvSpPr>
        <p:spPr>
          <a:xfrm>
            <a:off x="10936224" y="1975104"/>
            <a:ext cx="347472" cy="347472"/>
          </a:xfrm>
          <a:prstGeom prst="round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00023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5</a:t>
            </a:r>
          </a:p>
        </p:txBody>
      </p:sp>
      <p:sp>
        <p:nvSpPr>
          <p:cNvPr id="26" name="TextBox 25"/>
          <p:cNvSpPr txBox="1"/>
          <p:nvPr/>
        </p:nvSpPr>
        <p:spPr>
          <a:xfrm>
            <a:off x="1042416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Evaluate</a:t>
            </a:r>
          </a:p>
        </p:txBody>
      </p:sp>
      <p:sp>
        <p:nvSpPr>
          <p:cNvPr id="27" name="TextBox 26"/>
          <p:cNvSpPr txBox="1"/>
          <p:nvPr/>
        </p:nvSpPr>
        <p:spPr>
          <a:xfrm>
            <a:off x="1037844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exit check</a:t>
            </a:r>
          </a:p>
        </p:txBody>
      </p:sp>
      <p:sp>
        <p:nvSpPr>
          <p:cNvPr id="28" name="Rounded Rectangle 27"/>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Map first. Drill down only where the map or performance data shows a weak link.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ACTIVATE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Warm-up: put the three moves in order</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5</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S05  ·  instructor-added</a:t>
            </a:r>
          </a:p>
        </p:txBody>
      </p:sp>
      <p:sp>
        <p:nvSpPr>
          <p:cNvPr id="8" name="Rounded Rectangle 7"/>
          <p:cNvSpPr/>
          <p:nvPr/>
        </p:nvSpPr>
        <p:spPr>
          <a:xfrm>
            <a:off x="685800" y="1005840"/>
            <a:ext cx="10789920" cy="68580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0664" y="1152144"/>
            <a:ext cx="45720" cy="39319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115568"/>
            <a:ext cx="10533888" cy="292608"/>
          </a:xfrm>
          <a:prstGeom prst="rect">
            <a:avLst/>
          </a:prstGeom>
          <a:noFill/>
        </p:spPr>
        <p:txBody>
          <a:bodyPr wrap="square" anchor="t" lIns="27432" rIns="27432" tIns="18288" bIns="18288">
            <a:spAutoFit/>
          </a:bodyPr>
          <a:lstStyle/>
          <a:p>
            <a:pPr algn="l"/>
            <a:r>
              <a:rPr sz="1300" b="1">
                <a:solidFill>
                  <a:srgbClr val="0F172A"/>
                </a:solidFill>
                <a:latin typeface="Aptos"/>
              </a:rPr>
              <a:t>learner task</a:t>
            </a:r>
          </a:p>
        </p:txBody>
      </p:sp>
      <p:sp>
        <p:nvSpPr>
          <p:cNvPr id="11" name="TextBox 10"/>
          <p:cNvSpPr txBox="1"/>
          <p:nvPr/>
        </p:nvSpPr>
        <p:spPr>
          <a:xfrm>
            <a:off x="850392" y="1444752"/>
            <a:ext cx="10533888" cy="155448"/>
          </a:xfrm>
          <a:prstGeom prst="rect">
            <a:avLst/>
          </a:prstGeom>
          <a:noFill/>
        </p:spPr>
        <p:txBody>
          <a:bodyPr wrap="square" anchor="t" lIns="27432" rIns="27432" tIns="18288" bIns="18288">
            <a:spAutoFit/>
          </a:bodyPr>
          <a:lstStyle/>
          <a:p>
            <a:pPr algn="l"/>
            <a:r>
              <a:rPr sz="1000" b="0">
                <a:solidFill>
                  <a:srgbClr val="475569"/>
                </a:solidFill>
                <a:latin typeface="Aptos"/>
              </a:rPr>
              <a:t>Order the three.</a:t>
            </a:r>
          </a:p>
        </p:txBody>
      </p:sp>
      <p:sp>
        <p:nvSpPr>
          <p:cNvPr id="12" name="Rounded Rectangle 11"/>
          <p:cNvSpPr/>
          <p:nvPr/>
        </p:nvSpPr>
        <p:spPr>
          <a:xfrm>
            <a:off x="960120" y="1965960"/>
            <a:ext cx="10012680" cy="38404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1938528"/>
            <a:ext cx="274320" cy="146304"/>
          </a:xfrm>
          <a:prstGeom prst="rect">
            <a:avLst/>
          </a:prstGeom>
          <a:noFill/>
        </p:spPr>
        <p:txBody>
          <a:bodyPr wrap="square" anchor="t" lIns="27432" rIns="27432" tIns="18288" bIns="18288">
            <a:spAutoFit/>
          </a:bodyPr>
          <a:lstStyle/>
          <a:p>
            <a:pPr algn="l"/>
            <a:r>
              <a:rPr sz="800" b="1">
                <a:solidFill>
                  <a:srgbClr val="7C3AED"/>
                </a:solidFill>
                <a:latin typeface="Aptos"/>
              </a:rPr>
              <a:t>A</a:t>
            </a:r>
          </a:p>
        </p:txBody>
      </p:sp>
      <p:sp>
        <p:nvSpPr>
          <p:cNvPr id="14" name="TextBox 13"/>
          <p:cNvSpPr txBox="1"/>
          <p:nvPr/>
        </p:nvSpPr>
        <p:spPr>
          <a:xfrm>
            <a:off x="1463040" y="2039112"/>
            <a:ext cx="9144000" cy="164592"/>
          </a:xfrm>
          <a:prstGeom prst="rect">
            <a:avLst/>
          </a:prstGeom>
          <a:noFill/>
        </p:spPr>
        <p:txBody>
          <a:bodyPr wrap="square" anchor="t" lIns="27432" rIns="27432" tIns="18288" bIns="18288">
            <a:spAutoFit/>
          </a:bodyPr>
          <a:lstStyle/>
          <a:p>
            <a:pPr algn="l"/>
            <a:r>
              <a:rPr sz="850" b="0">
                <a:solidFill>
                  <a:srgbClr val="475569"/>
                </a:solidFill>
                <a:latin typeface="Aptos"/>
              </a:rPr>
              <a:t>Expected recovery</a:t>
            </a:r>
          </a:p>
        </p:txBody>
      </p:sp>
      <p:sp>
        <p:nvSpPr>
          <p:cNvPr id="15" name="Rounded Rectangle 14"/>
          <p:cNvSpPr/>
          <p:nvPr/>
        </p:nvSpPr>
        <p:spPr>
          <a:xfrm>
            <a:off x="960120" y="2532888"/>
            <a:ext cx="10012680" cy="38404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2587752"/>
            <a:ext cx="274320" cy="146304"/>
          </a:xfrm>
          <a:prstGeom prst="rect">
            <a:avLst/>
          </a:prstGeom>
          <a:noFill/>
        </p:spPr>
        <p:txBody>
          <a:bodyPr wrap="square" anchor="t" lIns="27432" rIns="27432" tIns="18288" bIns="18288">
            <a:spAutoFit/>
          </a:bodyPr>
          <a:lstStyle/>
          <a:p>
            <a:pPr algn="l"/>
            <a:r>
              <a:rPr sz="800" b="1">
                <a:solidFill>
                  <a:srgbClr val="7C3AED"/>
                </a:solidFill>
                <a:latin typeface="Aptos"/>
              </a:rPr>
              <a:t>B</a:t>
            </a:r>
          </a:p>
        </p:txBody>
      </p:sp>
      <p:sp>
        <p:nvSpPr>
          <p:cNvPr id="17" name="TextBox 16"/>
          <p:cNvSpPr txBox="1"/>
          <p:nvPr/>
        </p:nvSpPr>
        <p:spPr>
          <a:xfrm>
            <a:off x="1463040" y="2596896"/>
            <a:ext cx="9144000" cy="164592"/>
          </a:xfrm>
          <a:prstGeom prst="rect">
            <a:avLst/>
          </a:prstGeom>
          <a:noFill/>
        </p:spPr>
        <p:txBody>
          <a:bodyPr wrap="square" anchor="t" lIns="27432" rIns="27432" tIns="18288" bIns="18288">
            <a:spAutoFit/>
          </a:bodyPr>
          <a:lstStyle/>
          <a:p>
            <a:pPr algn="l"/>
            <a:r>
              <a:rPr sz="850" b="0">
                <a:solidFill>
                  <a:srgbClr val="475569"/>
                </a:solidFill>
                <a:latin typeface="Aptos"/>
              </a:rPr>
              <a:t>Escalation</a:t>
            </a:r>
          </a:p>
        </p:txBody>
      </p:sp>
      <p:sp>
        <p:nvSpPr>
          <p:cNvPr id="18" name="Rounded Rectangle 17"/>
          <p:cNvSpPr/>
          <p:nvPr/>
        </p:nvSpPr>
        <p:spPr>
          <a:xfrm>
            <a:off x="960120" y="3099815"/>
            <a:ext cx="10012680" cy="38404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3236976"/>
            <a:ext cx="274320" cy="146304"/>
          </a:xfrm>
          <a:prstGeom prst="rect">
            <a:avLst/>
          </a:prstGeom>
          <a:noFill/>
        </p:spPr>
        <p:txBody>
          <a:bodyPr wrap="square" anchor="t" lIns="27432" rIns="27432" tIns="18288" bIns="18288">
            <a:spAutoFit/>
          </a:bodyPr>
          <a:lstStyle/>
          <a:p>
            <a:pPr algn="l"/>
            <a:r>
              <a:rPr sz="800" b="1">
                <a:solidFill>
                  <a:srgbClr val="7C3AED"/>
                </a:solidFill>
                <a:latin typeface="Aptos"/>
              </a:rPr>
              <a:t>C</a:t>
            </a:r>
          </a:p>
        </p:txBody>
      </p:sp>
      <p:sp>
        <p:nvSpPr>
          <p:cNvPr id="20" name="TextBox 19"/>
          <p:cNvSpPr txBox="1"/>
          <p:nvPr/>
        </p:nvSpPr>
        <p:spPr>
          <a:xfrm>
            <a:off x="1463040" y="3154680"/>
            <a:ext cx="9144000" cy="164592"/>
          </a:xfrm>
          <a:prstGeom prst="rect">
            <a:avLst/>
          </a:prstGeom>
          <a:noFill/>
        </p:spPr>
        <p:txBody>
          <a:bodyPr wrap="square" anchor="t" lIns="27432" rIns="27432" tIns="18288" bIns="18288">
            <a:spAutoFit/>
          </a:bodyPr>
          <a:lstStyle/>
          <a:p>
            <a:pPr algn="l"/>
            <a:r>
              <a:rPr sz="850" b="0">
                <a:solidFill>
                  <a:srgbClr val="475569"/>
                </a:solidFill>
                <a:latin typeface="Aptos"/>
              </a:rPr>
              <a:t>Teach-back</a:t>
            </a:r>
          </a:p>
        </p:txBody>
      </p:sp>
      <p:sp>
        <p:nvSpPr>
          <p:cNvPr id="21" name="Rounded Rectangle 20"/>
          <p:cNvSpPr/>
          <p:nvPr/>
        </p:nvSpPr>
        <p:spPr>
          <a:xfrm>
            <a:off x="1188720" y="5989320"/>
            <a:ext cx="9784080" cy="41148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7C3AED"/>
                </a:solidFill>
                <a:latin typeface="Aptos"/>
              </a:rPr>
              <a:t>Use sequence misses to identify where the concept chain breaks.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EXPECTED RECOVERY</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Expected recovery</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6</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S06  ·  source-aligned</a:t>
            </a:r>
          </a:p>
        </p:txBody>
      </p:sp>
      <p:sp>
        <p:nvSpPr>
          <p:cNvPr id="8" name="Rounded Rectangle 7"/>
          <p:cNvSpPr/>
          <p:nvPr/>
        </p:nvSpPr>
        <p:spPr>
          <a:xfrm>
            <a:off x="502920" y="1143000"/>
            <a:ext cx="11185855"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10929823" cy="292608"/>
          </a:xfrm>
          <a:prstGeom prst="rect">
            <a:avLst/>
          </a:prstGeom>
          <a:noFill/>
        </p:spPr>
        <p:txBody>
          <a:bodyPr wrap="square" anchor="t" lIns="27432" rIns="27432" tIns="18288" bIns="18288">
            <a:spAutoFit/>
          </a:bodyPr>
          <a:lstStyle/>
          <a:p>
            <a:pPr algn="l"/>
            <a:r>
              <a:rPr sz="1300" b="1">
                <a:solidFill>
                  <a:srgbClr val="0F172A"/>
                </a:solidFill>
                <a:latin typeface="Aptos"/>
              </a:rPr>
              <a:t>Expected recovery</a:t>
            </a:r>
          </a:p>
        </p:txBody>
      </p:sp>
      <p:sp>
        <p:nvSpPr>
          <p:cNvPr id="11" name="TextBox 10"/>
          <p:cNvSpPr txBox="1"/>
          <p:nvPr/>
        </p:nvSpPr>
        <p:spPr>
          <a:xfrm>
            <a:off x="667512" y="1581912"/>
            <a:ext cx="10929823" cy="704088"/>
          </a:xfrm>
          <a:prstGeom prst="rect">
            <a:avLst/>
          </a:prstGeom>
          <a:noFill/>
        </p:spPr>
        <p:txBody>
          <a:bodyPr wrap="square" anchor="t" lIns="27432" rIns="27432" tIns="18288" bIns="18288">
            <a:spAutoFit/>
          </a:bodyPr>
          <a:lstStyle/>
          <a:p>
            <a:pPr algn="l"/>
            <a:r>
              <a:rPr sz="900" b="0">
                <a:solidFill>
                  <a:srgbClr val="475569"/>
                </a:solidFill>
                <a:latin typeface="Aptos"/>
              </a:rPr>
              <a:t>Explain the usual progression of lochia, comfort measures, hydration, rest, and follow-up while emphasizing that symptoms must be interpreted with the whole clinical picture.</a:t>
            </a:r>
          </a:p>
        </p:txBody>
      </p:sp>
      <p:sp>
        <p:nvSpPr>
          <p:cNvPr id="12" name="Rounded Rectangle 11"/>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Distinguish expected postpartum changes from warning signs.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ESCALATION</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Escalation</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7</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prioritize hypotheses, generate solutions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S07  ·  source-aligned</a:t>
            </a:r>
          </a:p>
        </p:txBody>
      </p:sp>
      <p:sp>
        <p:nvSpPr>
          <p:cNvPr id="8" name="Rounded Rectangle 7"/>
          <p:cNvSpPr/>
          <p:nvPr/>
        </p:nvSpPr>
        <p:spPr>
          <a:xfrm>
            <a:off x="502920" y="1143000"/>
            <a:ext cx="11185855"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10929823" cy="292608"/>
          </a:xfrm>
          <a:prstGeom prst="rect">
            <a:avLst/>
          </a:prstGeom>
          <a:noFill/>
        </p:spPr>
        <p:txBody>
          <a:bodyPr wrap="square" anchor="t" lIns="27432" rIns="27432" tIns="18288" bIns="18288">
            <a:spAutoFit/>
          </a:bodyPr>
          <a:lstStyle/>
          <a:p>
            <a:pPr algn="l"/>
            <a:r>
              <a:rPr sz="1300" b="1">
                <a:solidFill>
                  <a:srgbClr val="0F172A"/>
                </a:solidFill>
                <a:latin typeface="Aptos"/>
              </a:rPr>
              <a:t>Escalation</a:t>
            </a:r>
          </a:p>
        </p:txBody>
      </p:sp>
      <p:sp>
        <p:nvSpPr>
          <p:cNvPr id="11" name="TextBox 10"/>
          <p:cNvSpPr txBox="1"/>
          <p:nvPr/>
        </p:nvSpPr>
        <p:spPr>
          <a:xfrm>
            <a:off x="667512" y="1581912"/>
            <a:ext cx="10929823" cy="704088"/>
          </a:xfrm>
          <a:prstGeom prst="rect">
            <a:avLst/>
          </a:prstGeom>
          <a:noFill/>
        </p:spPr>
        <p:txBody>
          <a:bodyPr wrap="square" anchor="t" lIns="27432" rIns="27432" tIns="18288" bIns="18288">
            <a:spAutoFit/>
          </a:bodyPr>
          <a:lstStyle/>
          <a:p>
            <a:pPr algn="l"/>
            <a:r>
              <a:rPr sz="900" b="0">
                <a:solidFill>
                  <a:srgbClr val="475569"/>
                </a:solidFill>
                <a:latin typeface="Aptos"/>
              </a:rPr>
              <a:t>Urgent evaluation is needed for heavy bleeding, breathing difficulty, chest pain, seizure, severe headache with concerning features, or thoughts of self-harm or harming the infant.</a:t>
            </a:r>
          </a:p>
        </p:txBody>
      </p:sp>
      <p:sp>
        <p:nvSpPr>
          <p:cNvPr id="12" name="Rounded Rectangle 11"/>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Prioritize urgent follow-up instructions.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TEACH BACK</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Teach-back</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8</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take action, evaluate outcomes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S08  ·  source-aligned</a:t>
            </a:r>
          </a:p>
        </p:txBody>
      </p:sp>
      <p:sp>
        <p:nvSpPr>
          <p:cNvPr id="8" name="Rounded Rectangle 7"/>
          <p:cNvSpPr/>
          <p:nvPr/>
        </p:nvSpPr>
        <p:spPr>
          <a:xfrm>
            <a:off x="502920" y="1143000"/>
            <a:ext cx="11185855"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10929823" cy="292608"/>
          </a:xfrm>
          <a:prstGeom prst="rect">
            <a:avLst/>
          </a:prstGeom>
          <a:noFill/>
        </p:spPr>
        <p:txBody>
          <a:bodyPr wrap="square" anchor="t" lIns="27432" rIns="27432" tIns="18288" bIns="18288">
            <a:spAutoFit/>
          </a:bodyPr>
          <a:lstStyle/>
          <a:p>
            <a:pPr algn="l"/>
            <a:r>
              <a:rPr sz="1300" b="1">
                <a:solidFill>
                  <a:srgbClr val="0F172A"/>
                </a:solidFill>
                <a:latin typeface="Aptos"/>
              </a:rPr>
              <a:t>Teach-back</a:t>
            </a:r>
          </a:p>
        </p:txBody>
      </p:sp>
      <p:sp>
        <p:nvSpPr>
          <p:cNvPr id="11" name="TextBox 10"/>
          <p:cNvSpPr txBox="1"/>
          <p:nvPr/>
        </p:nvSpPr>
        <p:spPr>
          <a:xfrm>
            <a:off x="667512" y="1581912"/>
            <a:ext cx="10929823" cy="704088"/>
          </a:xfrm>
          <a:prstGeom prst="rect">
            <a:avLst/>
          </a:prstGeom>
          <a:noFill/>
        </p:spPr>
        <p:txBody>
          <a:bodyPr wrap="square" anchor="t" lIns="27432" rIns="27432" tIns="18288" bIns="18288">
            <a:spAutoFit/>
          </a:bodyPr>
          <a:lstStyle/>
          <a:p>
            <a:pPr algn="l"/>
            <a:r>
              <a:rPr sz="900" b="0">
                <a:solidFill>
                  <a:srgbClr val="475569"/>
                </a:solidFill>
                <a:latin typeface="Aptos"/>
              </a:rPr>
              <a:t>Ask the patient to explain when and how they would obtain help; correct gaps and include the support person when desired.</a:t>
            </a:r>
          </a:p>
        </p:txBody>
      </p:sp>
      <p:sp>
        <p:nvSpPr>
          <p:cNvPr id="12" name="Rounded Rectangle 11"/>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Use teach-back to verify understanding.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PRACTICE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Activity: match the cue to the move it calls for</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9</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S09  ·  source-aligned</a:t>
            </a:r>
          </a:p>
        </p:txBody>
      </p:sp>
      <p:sp>
        <p:nvSpPr>
          <p:cNvPr id="8" name="TextBox 7"/>
          <p:cNvSpPr txBox="1"/>
          <p:nvPr/>
        </p:nvSpPr>
        <p:spPr>
          <a:xfrm>
            <a:off x="731520" y="1005840"/>
            <a:ext cx="10698480" cy="256032"/>
          </a:xfrm>
          <a:prstGeom prst="rect">
            <a:avLst/>
          </a:prstGeom>
          <a:noFill/>
        </p:spPr>
        <p:txBody>
          <a:bodyPr wrap="square" anchor="t" lIns="27432" rIns="27432" tIns="18288" bIns="18288">
            <a:spAutoFit/>
          </a:bodyPr>
          <a:lstStyle/>
          <a:p>
            <a:pPr algn="l"/>
            <a:r>
              <a:rPr sz="950" b="1">
                <a:solidFill>
                  <a:srgbClr val="0F172A"/>
                </a:solidFill>
                <a:latin typeface="Aptos"/>
              </a:rPr>
              <a:t>Work with one partner: match each source to the cue or clinical meaning most directly involved.</a:t>
            </a:r>
          </a:p>
        </p:txBody>
      </p:sp>
      <p:sp>
        <p:nvSpPr>
          <p:cNvPr id="9" name="Rounded Rectangle 8"/>
          <p:cNvSpPr/>
          <p:nvPr/>
        </p:nvSpPr>
        <p:spPr>
          <a:xfrm>
            <a:off x="777240" y="1508760"/>
            <a:ext cx="480060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2103" y="1655063"/>
            <a:ext cx="45720" cy="237743"/>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1618488"/>
            <a:ext cx="4544568" cy="292608"/>
          </a:xfrm>
          <a:prstGeom prst="rect">
            <a:avLst/>
          </a:prstGeom>
          <a:noFill/>
        </p:spPr>
        <p:txBody>
          <a:bodyPr wrap="square" anchor="t" lIns="27432" rIns="27432" tIns="18288" bIns="18288">
            <a:spAutoFit/>
          </a:bodyPr>
          <a:lstStyle/>
          <a:p>
            <a:pPr algn="l"/>
            <a:r>
              <a:rPr sz="1050" b="1">
                <a:solidFill>
                  <a:srgbClr val="0F172A"/>
                </a:solidFill>
                <a:latin typeface="Aptos"/>
              </a:rPr>
              <a:t>A</a:t>
            </a:r>
          </a:p>
        </p:txBody>
      </p:sp>
      <p:sp>
        <p:nvSpPr>
          <p:cNvPr id="12" name="TextBox 11"/>
          <p:cNvSpPr txBox="1"/>
          <p:nvPr/>
        </p:nvSpPr>
        <p:spPr>
          <a:xfrm>
            <a:off x="941832" y="1947672"/>
            <a:ext cx="4544568" cy="0"/>
          </a:xfrm>
          <a:prstGeom prst="rect">
            <a:avLst/>
          </a:prstGeom>
          <a:noFill/>
        </p:spPr>
        <p:txBody>
          <a:bodyPr wrap="square" anchor="t" lIns="27432" rIns="27432" tIns="18288" bIns="18288">
            <a:spAutoFit/>
          </a:bodyPr>
          <a:lstStyle/>
          <a:p>
            <a:pPr algn="l"/>
            <a:r>
              <a:rPr sz="750" b="0">
                <a:solidFill>
                  <a:srgbClr val="475569"/>
                </a:solidFill>
                <a:latin typeface="Aptos"/>
              </a:rPr>
              <a:t>A. The patient reports soaking a pad rapidly with ongoing heavy bleeding.</a:t>
            </a:r>
          </a:p>
        </p:txBody>
      </p:sp>
      <p:sp>
        <p:nvSpPr>
          <p:cNvPr id="13" name="Rounded Rectangle 12"/>
          <p:cNvSpPr/>
          <p:nvPr/>
        </p:nvSpPr>
        <p:spPr>
          <a:xfrm>
            <a:off x="6537960" y="1508760"/>
            <a:ext cx="452628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92824" y="1655063"/>
            <a:ext cx="45720" cy="237743"/>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02552" y="1618488"/>
            <a:ext cx="4270248" cy="292608"/>
          </a:xfrm>
          <a:prstGeom prst="rect">
            <a:avLst/>
          </a:prstGeom>
          <a:noFill/>
        </p:spPr>
        <p:txBody>
          <a:bodyPr wrap="square" anchor="t" lIns="27432" rIns="27432" tIns="18288" bIns="18288">
            <a:spAutoFit/>
          </a:bodyPr>
          <a:lstStyle/>
          <a:p>
            <a:pPr algn="l"/>
            <a:r>
              <a:rPr sz="1050" b="1">
                <a:solidFill>
                  <a:srgbClr val="0F172A"/>
                </a:solidFill>
                <a:latin typeface="Aptos"/>
              </a:rPr>
              <a:t>1</a:t>
            </a:r>
          </a:p>
        </p:txBody>
      </p:sp>
      <p:sp>
        <p:nvSpPr>
          <p:cNvPr id="16" name="TextBox 15"/>
          <p:cNvSpPr txBox="1"/>
          <p:nvPr/>
        </p:nvSpPr>
        <p:spPr>
          <a:xfrm>
            <a:off x="6702552" y="1947672"/>
            <a:ext cx="4270248" cy="0"/>
          </a:xfrm>
          <a:prstGeom prst="rect">
            <a:avLst/>
          </a:prstGeom>
          <a:noFill/>
        </p:spPr>
        <p:txBody>
          <a:bodyPr wrap="square" anchor="t" lIns="27432" rIns="27432" tIns="18288" bIns="18288">
            <a:spAutoFit/>
          </a:bodyPr>
          <a:lstStyle/>
          <a:p>
            <a:pPr algn="l"/>
            <a:r>
              <a:rPr sz="750" b="0">
                <a:solidFill>
                  <a:srgbClr val="475569"/>
                </a:solidFill>
                <a:latin typeface="Aptos"/>
              </a:rPr>
              <a:t>1. Expected recovery</a:t>
            </a:r>
          </a:p>
        </p:txBody>
      </p:sp>
      <p:sp>
        <p:nvSpPr>
          <p:cNvPr id="17" name="Rounded Rectangle 16"/>
          <p:cNvSpPr/>
          <p:nvPr/>
        </p:nvSpPr>
        <p:spPr>
          <a:xfrm>
            <a:off x="777240" y="2203704"/>
            <a:ext cx="480060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2103" y="2350008"/>
            <a:ext cx="45720" cy="237743"/>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2313432"/>
            <a:ext cx="4544568" cy="292608"/>
          </a:xfrm>
          <a:prstGeom prst="rect">
            <a:avLst/>
          </a:prstGeom>
          <a:noFill/>
        </p:spPr>
        <p:txBody>
          <a:bodyPr wrap="square" anchor="t" lIns="27432" rIns="27432" tIns="18288" bIns="18288">
            <a:spAutoFit/>
          </a:bodyPr>
          <a:lstStyle/>
          <a:p>
            <a:pPr algn="l"/>
            <a:r>
              <a:rPr sz="1050" b="1">
                <a:solidFill>
                  <a:srgbClr val="0F172A"/>
                </a:solidFill>
                <a:latin typeface="Aptos"/>
              </a:rPr>
              <a:t>B</a:t>
            </a:r>
          </a:p>
        </p:txBody>
      </p:sp>
      <p:sp>
        <p:nvSpPr>
          <p:cNvPr id="20" name="TextBox 19"/>
          <p:cNvSpPr txBox="1"/>
          <p:nvPr/>
        </p:nvSpPr>
        <p:spPr>
          <a:xfrm>
            <a:off x="941832" y="2642616"/>
            <a:ext cx="4544568" cy="0"/>
          </a:xfrm>
          <a:prstGeom prst="rect">
            <a:avLst/>
          </a:prstGeom>
          <a:noFill/>
        </p:spPr>
        <p:txBody>
          <a:bodyPr wrap="square" anchor="t" lIns="27432" rIns="27432" tIns="18288" bIns="18288">
            <a:spAutoFit/>
          </a:bodyPr>
          <a:lstStyle/>
          <a:p>
            <a:pPr algn="l"/>
            <a:r>
              <a:rPr sz="750" b="0">
                <a:solidFill>
                  <a:srgbClr val="475569"/>
                </a:solidFill>
                <a:latin typeface="Aptos"/>
              </a:rPr>
              <a:t>B. The patient reports sudden shortness of breath and chest pain.</a:t>
            </a:r>
          </a:p>
        </p:txBody>
      </p:sp>
      <p:sp>
        <p:nvSpPr>
          <p:cNvPr id="21" name="Rounded Rectangle 20"/>
          <p:cNvSpPr/>
          <p:nvPr/>
        </p:nvSpPr>
        <p:spPr>
          <a:xfrm>
            <a:off x="6537960" y="2203704"/>
            <a:ext cx="452628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92824" y="2350008"/>
            <a:ext cx="45720" cy="237743"/>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02552" y="2313432"/>
            <a:ext cx="4270248" cy="292608"/>
          </a:xfrm>
          <a:prstGeom prst="rect">
            <a:avLst/>
          </a:prstGeom>
          <a:noFill/>
        </p:spPr>
        <p:txBody>
          <a:bodyPr wrap="square" anchor="t" lIns="27432" rIns="27432" tIns="18288" bIns="18288">
            <a:spAutoFit/>
          </a:bodyPr>
          <a:lstStyle/>
          <a:p>
            <a:pPr algn="l"/>
            <a:r>
              <a:rPr sz="1050" b="1">
                <a:solidFill>
                  <a:srgbClr val="0F172A"/>
                </a:solidFill>
                <a:latin typeface="Aptos"/>
              </a:rPr>
              <a:t>2</a:t>
            </a:r>
          </a:p>
        </p:txBody>
      </p:sp>
      <p:sp>
        <p:nvSpPr>
          <p:cNvPr id="24" name="TextBox 23"/>
          <p:cNvSpPr txBox="1"/>
          <p:nvPr/>
        </p:nvSpPr>
        <p:spPr>
          <a:xfrm>
            <a:off x="6702552" y="2642616"/>
            <a:ext cx="4270248" cy="0"/>
          </a:xfrm>
          <a:prstGeom prst="rect">
            <a:avLst/>
          </a:prstGeom>
          <a:noFill/>
        </p:spPr>
        <p:txBody>
          <a:bodyPr wrap="square" anchor="t" lIns="27432" rIns="27432" tIns="18288" bIns="18288">
            <a:spAutoFit/>
          </a:bodyPr>
          <a:lstStyle/>
          <a:p>
            <a:pPr algn="l"/>
            <a:r>
              <a:rPr sz="750" b="0">
                <a:solidFill>
                  <a:srgbClr val="475569"/>
                </a:solidFill>
                <a:latin typeface="Aptos"/>
              </a:rPr>
              <a:t>2. Escalation</a:t>
            </a:r>
          </a:p>
        </p:txBody>
      </p:sp>
      <p:sp>
        <p:nvSpPr>
          <p:cNvPr id="25" name="Rounded Rectangle 24"/>
          <p:cNvSpPr/>
          <p:nvPr/>
        </p:nvSpPr>
        <p:spPr>
          <a:xfrm>
            <a:off x="777240" y="2898648"/>
            <a:ext cx="480060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2103" y="3044952"/>
            <a:ext cx="45720" cy="237743"/>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1832" y="3008376"/>
            <a:ext cx="4544568" cy="292608"/>
          </a:xfrm>
          <a:prstGeom prst="rect">
            <a:avLst/>
          </a:prstGeom>
          <a:noFill/>
        </p:spPr>
        <p:txBody>
          <a:bodyPr wrap="square" anchor="t" lIns="27432" rIns="27432" tIns="18288" bIns="18288">
            <a:spAutoFit/>
          </a:bodyPr>
          <a:lstStyle/>
          <a:p>
            <a:pPr algn="l"/>
            <a:r>
              <a:rPr sz="1050" b="1">
                <a:solidFill>
                  <a:srgbClr val="0F172A"/>
                </a:solidFill>
                <a:latin typeface="Aptos"/>
              </a:rPr>
              <a:t>C</a:t>
            </a:r>
          </a:p>
        </p:txBody>
      </p:sp>
      <p:sp>
        <p:nvSpPr>
          <p:cNvPr id="28" name="TextBox 27"/>
          <p:cNvSpPr txBox="1"/>
          <p:nvPr/>
        </p:nvSpPr>
        <p:spPr>
          <a:xfrm>
            <a:off x="941832" y="3337560"/>
            <a:ext cx="4544568" cy="0"/>
          </a:xfrm>
          <a:prstGeom prst="rect">
            <a:avLst/>
          </a:prstGeom>
          <a:noFill/>
        </p:spPr>
        <p:txBody>
          <a:bodyPr wrap="square" anchor="t" lIns="27432" rIns="27432" tIns="18288" bIns="18288">
            <a:spAutoFit/>
          </a:bodyPr>
          <a:lstStyle/>
          <a:p>
            <a:pPr algn="l"/>
            <a:r>
              <a:rPr sz="750" b="0">
                <a:solidFill>
                  <a:srgbClr val="475569"/>
                </a:solidFill>
                <a:latin typeface="Aptos"/>
              </a:rPr>
              <a:t>C. The patient expresses thoughts of harming themself or the infant.</a:t>
            </a:r>
          </a:p>
        </p:txBody>
      </p:sp>
      <p:sp>
        <p:nvSpPr>
          <p:cNvPr id="29" name="Rounded Rectangle 28"/>
          <p:cNvSpPr/>
          <p:nvPr/>
        </p:nvSpPr>
        <p:spPr>
          <a:xfrm>
            <a:off x="6537960" y="2898648"/>
            <a:ext cx="452628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92824" y="3044952"/>
            <a:ext cx="45720" cy="237743"/>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02552" y="3008376"/>
            <a:ext cx="4270248" cy="292608"/>
          </a:xfrm>
          <a:prstGeom prst="rect">
            <a:avLst/>
          </a:prstGeom>
          <a:noFill/>
        </p:spPr>
        <p:txBody>
          <a:bodyPr wrap="square" anchor="t" lIns="27432" rIns="27432" tIns="18288" bIns="18288">
            <a:spAutoFit/>
          </a:bodyPr>
          <a:lstStyle/>
          <a:p>
            <a:pPr algn="l"/>
            <a:r>
              <a:rPr sz="1050" b="1">
                <a:solidFill>
                  <a:srgbClr val="0F172A"/>
                </a:solidFill>
                <a:latin typeface="Aptos"/>
              </a:rPr>
              <a:t>3</a:t>
            </a:r>
          </a:p>
        </p:txBody>
      </p:sp>
      <p:sp>
        <p:nvSpPr>
          <p:cNvPr id="32" name="TextBox 31"/>
          <p:cNvSpPr txBox="1"/>
          <p:nvPr/>
        </p:nvSpPr>
        <p:spPr>
          <a:xfrm>
            <a:off x="6702552" y="3337560"/>
            <a:ext cx="4270248" cy="0"/>
          </a:xfrm>
          <a:prstGeom prst="rect">
            <a:avLst/>
          </a:prstGeom>
          <a:noFill/>
        </p:spPr>
        <p:txBody>
          <a:bodyPr wrap="square" anchor="t" lIns="27432" rIns="27432" tIns="18288" bIns="18288">
            <a:spAutoFit/>
          </a:bodyPr>
          <a:lstStyle/>
          <a:p>
            <a:pPr algn="l"/>
            <a:r>
              <a:rPr sz="750" b="0">
                <a:solidFill>
                  <a:srgbClr val="475569"/>
                </a:solidFill>
                <a:latin typeface="Aptos"/>
              </a:rPr>
              <a:t>3. Teach-back</a:t>
            </a:r>
          </a:p>
        </p:txBody>
      </p:sp>
      <p:sp>
        <p:nvSpPr>
          <p:cNvPr id="33" name="Rounded Rectangle 32"/>
          <p:cNvSpPr/>
          <p:nvPr/>
        </p:nvSpPr>
        <p:spPr>
          <a:xfrm>
            <a:off x="777240" y="3593592"/>
            <a:ext cx="480060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32103" y="3739896"/>
            <a:ext cx="45720" cy="237743"/>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1832" y="3703320"/>
            <a:ext cx="4544568" cy="292608"/>
          </a:xfrm>
          <a:prstGeom prst="rect">
            <a:avLst/>
          </a:prstGeom>
          <a:noFill/>
        </p:spPr>
        <p:txBody>
          <a:bodyPr wrap="square" anchor="t" lIns="27432" rIns="27432" tIns="18288" bIns="18288">
            <a:spAutoFit/>
          </a:bodyPr>
          <a:lstStyle/>
          <a:p>
            <a:pPr algn="l"/>
            <a:r>
              <a:rPr sz="1050" b="1">
                <a:solidFill>
                  <a:srgbClr val="0F172A"/>
                </a:solidFill>
                <a:latin typeface="Aptos"/>
              </a:rPr>
              <a:t>D</a:t>
            </a:r>
          </a:p>
        </p:txBody>
      </p:sp>
      <p:sp>
        <p:nvSpPr>
          <p:cNvPr id="36" name="TextBox 35"/>
          <p:cNvSpPr txBox="1"/>
          <p:nvPr/>
        </p:nvSpPr>
        <p:spPr>
          <a:xfrm>
            <a:off x="941832" y="4032504"/>
            <a:ext cx="4544568" cy="0"/>
          </a:xfrm>
          <a:prstGeom prst="rect">
            <a:avLst/>
          </a:prstGeom>
          <a:noFill/>
        </p:spPr>
        <p:txBody>
          <a:bodyPr wrap="square" anchor="t" lIns="27432" rIns="27432" tIns="18288" bIns="18288">
            <a:spAutoFit/>
          </a:bodyPr>
          <a:lstStyle/>
          <a:p>
            <a:pPr algn="l"/>
            <a:r>
              <a:rPr sz="750" b="0">
                <a:solidFill>
                  <a:srgbClr val="475569"/>
                </a:solidFill>
                <a:latin typeface="Aptos"/>
              </a:rPr>
              <a:t>D. The patient cannot state whom to contact for worsening symptoms.</a:t>
            </a:r>
          </a:p>
        </p:txBody>
      </p:sp>
      <p:sp>
        <p:nvSpPr>
          <p:cNvPr id="37" name="Rounded Rectangle 36"/>
          <p:cNvSpPr/>
          <p:nvPr/>
        </p:nvSpPr>
        <p:spPr>
          <a:xfrm>
            <a:off x="6537960" y="3593592"/>
            <a:ext cx="452628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592824" y="3739896"/>
            <a:ext cx="45720" cy="237743"/>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02552" y="3703320"/>
            <a:ext cx="4270248" cy="292608"/>
          </a:xfrm>
          <a:prstGeom prst="rect">
            <a:avLst/>
          </a:prstGeom>
          <a:noFill/>
        </p:spPr>
        <p:txBody>
          <a:bodyPr wrap="square" anchor="t" lIns="27432" rIns="27432" tIns="18288" bIns="18288">
            <a:spAutoFit/>
          </a:bodyPr>
          <a:lstStyle/>
          <a:p>
            <a:pPr algn="l"/>
            <a:r>
              <a:rPr sz="1050" b="1">
                <a:solidFill>
                  <a:srgbClr val="0F172A"/>
                </a:solidFill>
                <a:latin typeface="Aptos"/>
              </a:rPr>
              <a:t>4</a:t>
            </a:r>
          </a:p>
        </p:txBody>
      </p:sp>
      <p:sp>
        <p:nvSpPr>
          <p:cNvPr id="40" name="TextBox 39"/>
          <p:cNvSpPr txBox="1"/>
          <p:nvPr/>
        </p:nvSpPr>
        <p:spPr>
          <a:xfrm>
            <a:off x="6702552" y="4032504"/>
            <a:ext cx="4270248" cy="0"/>
          </a:xfrm>
          <a:prstGeom prst="rect">
            <a:avLst/>
          </a:prstGeom>
          <a:noFill/>
        </p:spPr>
        <p:txBody>
          <a:bodyPr wrap="square" anchor="t" lIns="27432" rIns="27432" tIns="18288" bIns="18288">
            <a:spAutoFit/>
          </a:bodyPr>
          <a:lstStyle/>
          <a:p>
            <a:pPr algn="l"/>
            <a:r>
              <a:rPr sz="750" b="0">
                <a:solidFill>
                  <a:srgbClr val="475569"/>
                </a:solidFill>
                <a:latin typeface="Aptos"/>
              </a:rPr>
              <a:t>4. Evaluate the result</a:t>
            </a:r>
          </a:p>
        </p:txBody>
      </p:sp>
      <p:sp>
        <p:nvSpPr>
          <p:cNvPr id="41" name="Rounded Rectangle 40"/>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Output: write matches and one sentence explaining one match.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PRACTICE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Debrief: the reasoning behind each action</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10</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S10  ·  source-aligned</a:t>
            </a:r>
          </a:p>
        </p:txBody>
      </p:sp>
      <p:sp>
        <p:nvSpPr>
          <p:cNvPr id="8" name="Rounded Rectangle 7"/>
          <p:cNvSpPr/>
          <p:nvPr/>
        </p:nvSpPr>
        <p:spPr>
          <a:xfrm>
            <a:off x="502920" y="109728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4358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07007"/>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Direct the patient to obtain urgent evaluation for possibl</a:t>
            </a:r>
          </a:p>
        </p:txBody>
      </p:sp>
      <p:sp>
        <p:nvSpPr>
          <p:cNvPr id="11" name="TextBox 10"/>
          <p:cNvSpPr txBox="1"/>
          <p:nvPr/>
        </p:nvSpPr>
        <p:spPr>
          <a:xfrm>
            <a:off x="667512" y="1536192"/>
            <a:ext cx="5254599" cy="704088"/>
          </a:xfrm>
          <a:prstGeom prst="rect">
            <a:avLst/>
          </a:prstGeom>
          <a:noFill/>
        </p:spPr>
        <p:txBody>
          <a:bodyPr wrap="square" anchor="t" lIns="27432" rIns="27432" tIns="18288" bIns="18288">
            <a:spAutoFit/>
          </a:bodyPr>
          <a:lstStyle/>
          <a:p>
            <a:pPr algn="l"/>
            <a:r>
              <a:rPr sz="819" b="0">
                <a:solidFill>
                  <a:srgbClr val="475569"/>
                </a:solidFill>
                <a:latin typeface="Aptos"/>
              </a:rPr>
              <a:t>Heavy postpartum bleeding can represent a time-sensitive maternal emergency.</a:t>
            </a:r>
          </a:p>
        </p:txBody>
      </p:sp>
      <p:sp>
        <p:nvSpPr>
          <p:cNvPr id="12" name="Rounded Rectangle 11"/>
          <p:cNvSpPr/>
          <p:nvPr/>
        </p:nvSpPr>
        <p:spPr>
          <a:xfrm>
            <a:off x="6178143" y="109728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24358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2735" y="1207007"/>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Instruct the patient to activate emergency services immedi</a:t>
            </a:r>
          </a:p>
        </p:txBody>
      </p:sp>
      <p:sp>
        <p:nvSpPr>
          <p:cNvPr id="15" name="TextBox 14"/>
          <p:cNvSpPr txBox="1"/>
          <p:nvPr/>
        </p:nvSpPr>
        <p:spPr>
          <a:xfrm>
            <a:off x="6342735" y="1536192"/>
            <a:ext cx="5254599" cy="704088"/>
          </a:xfrm>
          <a:prstGeom prst="rect">
            <a:avLst/>
          </a:prstGeom>
          <a:noFill/>
        </p:spPr>
        <p:txBody>
          <a:bodyPr wrap="square" anchor="t" lIns="27432" rIns="27432" tIns="18288" bIns="18288">
            <a:spAutoFit/>
          </a:bodyPr>
          <a:lstStyle/>
          <a:p>
            <a:pPr algn="l"/>
            <a:r>
              <a:rPr sz="819" b="0">
                <a:solidFill>
                  <a:srgbClr val="475569"/>
                </a:solidFill>
                <a:latin typeface="Aptos"/>
              </a:rPr>
              <a:t>Acute cardiopulmonary symptoms may indicate a life-threatening complication.</a:t>
            </a:r>
          </a:p>
        </p:txBody>
      </p:sp>
      <p:sp>
        <p:nvSpPr>
          <p:cNvPr id="16" name="Rounded Rectangle 15"/>
          <p:cNvSpPr/>
          <p:nvPr/>
        </p:nvSpPr>
        <p:spPr>
          <a:xfrm>
            <a:off x="502920" y="2496312"/>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57784" y="2642616"/>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2606040"/>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Maintain safety and arrange immediate emergency mental-hea</a:t>
            </a:r>
          </a:p>
        </p:txBody>
      </p:sp>
      <p:sp>
        <p:nvSpPr>
          <p:cNvPr id="19" name="TextBox 18"/>
          <p:cNvSpPr txBox="1"/>
          <p:nvPr/>
        </p:nvSpPr>
        <p:spPr>
          <a:xfrm>
            <a:off x="667512" y="2935224"/>
            <a:ext cx="5254599" cy="704088"/>
          </a:xfrm>
          <a:prstGeom prst="rect">
            <a:avLst/>
          </a:prstGeom>
          <a:noFill/>
        </p:spPr>
        <p:txBody>
          <a:bodyPr wrap="square" anchor="t" lIns="27432" rIns="27432" tIns="18288" bIns="18288">
            <a:spAutoFit/>
          </a:bodyPr>
          <a:lstStyle/>
          <a:p>
            <a:pPr algn="l"/>
            <a:r>
              <a:rPr sz="819" b="0">
                <a:solidFill>
                  <a:srgbClr val="475569"/>
                </a:solidFill>
                <a:latin typeface="Aptos"/>
              </a:rPr>
              <a:t>Thoughts of harm require immediate safety intervention, not routine follow-up.</a:t>
            </a:r>
          </a:p>
        </p:txBody>
      </p:sp>
      <p:sp>
        <p:nvSpPr>
          <p:cNvPr id="20" name="Rounded Rectangle 19"/>
          <p:cNvSpPr/>
          <p:nvPr/>
        </p:nvSpPr>
        <p:spPr>
          <a:xfrm>
            <a:off x="6178143" y="2496312"/>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3007" y="2642616"/>
            <a:ext cx="45720" cy="94183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2735" y="2606040"/>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Repeat the escalation plan and use teach-back before disch</a:t>
            </a:r>
          </a:p>
        </p:txBody>
      </p:sp>
      <p:sp>
        <p:nvSpPr>
          <p:cNvPr id="23" name="TextBox 22"/>
          <p:cNvSpPr txBox="1"/>
          <p:nvPr/>
        </p:nvSpPr>
        <p:spPr>
          <a:xfrm>
            <a:off x="6342735" y="2935224"/>
            <a:ext cx="5254599" cy="704088"/>
          </a:xfrm>
          <a:prstGeom prst="rect">
            <a:avLst/>
          </a:prstGeom>
          <a:noFill/>
        </p:spPr>
        <p:txBody>
          <a:bodyPr wrap="square" anchor="t" lIns="27432" rIns="27432" tIns="18288" bIns="18288">
            <a:spAutoFit/>
          </a:bodyPr>
          <a:lstStyle/>
          <a:p>
            <a:pPr algn="l"/>
            <a:r>
              <a:rPr sz="819" b="0">
                <a:solidFill>
                  <a:srgbClr val="475569"/>
                </a:solidFill>
                <a:latin typeface="Aptos"/>
              </a:rPr>
              <a:t>Teach-back identifies and corrects gaps in actionable discharge knowledge.</a:t>
            </a:r>
          </a:p>
        </p:txBody>
      </p:sp>
      <p:sp>
        <p:nvSpPr>
          <p:cNvPr id="24" name="Rounded Rectangle 23"/>
          <p:cNvSpPr/>
          <p:nvPr/>
        </p:nvSpPr>
        <p:spPr>
          <a:xfrm>
            <a:off x="1188720" y="5989320"/>
            <a:ext cx="9784080" cy="411480"/>
          </a:xfrm>
          <a:prstGeom prst="roundRect">
            <a:avLst/>
          </a:prstGeom>
          <a:solidFill>
            <a:srgbClr val="FFF7ED"/>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EA580C"/>
                </a:solidFill>
                <a:latin typeface="Aptos"/>
              </a:rPr>
              <a:t>Explain why each keyed action follows from its cue.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PRACTICE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Checkpoint</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11</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S11  ·  source-aligned</a:t>
            </a:r>
          </a:p>
        </p:txBody>
      </p:sp>
      <p:sp>
        <p:nvSpPr>
          <p:cNvPr id="8" name="Rounded Rectangle 7"/>
          <p:cNvSpPr/>
          <p:nvPr/>
        </p:nvSpPr>
        <p:spPr>
          <a:xfrm>
            <a:off x="777240" y="1097280"/>
            <a:ext cx="10698480" cy="868680"/>
          </a:xfrm>
          <a:prstGeom prst="roundRect">
            <a:avLst/>
          </a:prstGeom>
          <a:solidFill>
            <a:srgbClr val="F5F3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2103" y="1243584"/>
            <a:ext cx="45720" cy="576071"/>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1207007"/>
            <a:ext cx="10442448" cy="292608"/>
          </a:xfrm>
          <a:prstGeom prst="rect">
            <a:avLst/>
          </a:prstGeom>
          <a:noFill/>
        </p:spPr>
        <p:txBody>
          <a:bodyPr wrap="square" anchor="t" lIns="27432" rIns="27432" tIns="18288" bIns="18288">
            <a:spAutoFit/>
          </a:bodyPr>
          <a:lstStyle/>
          <a:p>
            <a:pPr algn="l"/>
            <a:r>
              <a:rPr sz="1300" b="1">
                <a:solidFill>
                  <a:srgbClr val="0F172A"/>
                </a:solidFill>
                <a:latin typeface="Aptos"/>
              </a:rPr>
              <a:t>checkpoint question</a:t>
            </a:r>
          </a:p>
        </p:txBody>
      </p:sp>
      <p:sp>
        <p:nvSpPr>
          <p:cNvPr id="11" name="TextBox 10"/>
          <p:cNvSpPr txBox="1"/>
          <p:nvPr/>
        </p:nvSpPr>
        <p:spPr>
          <a:xfrm>
            <a:off x="941832" y="1536192"/>
            <a:ext cx="10442448" cy="338328"/>
          </a:xfrm>
          <a:prstGeom prst="rect">
            <a:avLst/>
          </a:prstGeom>
          <a:noFill/>
        </p:spPr>
        <p:txBody>
          <a:bodyPr wrap="square" anchor="t" lIns="27432" rIns="27432" tIns="18288" bIns="18288">
            <a:spAutoFit/>
          </a:bodyPr>
          <a:lstStyle/>
          <a:p>
            <a:pPr algn="l"/>
            <a:r>
              <a:rPr sz="1000" b="0">
                <a:solidFill>
                  <a:srgbClr val="475569"/>
                </a:solidFill>
                <a:latin typeface="Aptos"/>
              </a:rPr>
              <a:t>The patient reports sudden shortness of breath and chest pain. What should the nurse do?</a:t>
            </a:r>
          </a:p>
        </p:txBody>
      </p:sp>
      <p:sp>
        <p:nvSpPr>
          <p:cNvPr id="12" name="Rounded Rectangle 11"/>
          <p:cNvSpPr/>
          <p:nvPr/>
        </p:nvSpPr>
        <p:spPr>
          <a:xfrm>
            <a:off x="1005840" y="2240280"/>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2359152"/>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A</a:t>
            </a:r>
          </a:p>
        </p:txBody>
      </p:sp>
      <p:sp>
        <p:nvSpPr>
          <p:cNvPr id="14" name="TextBox 13"/>
          <p:cNvSpPr txBox="1"/>
          <p:nvPr/>
        </p:nvSpPr>
        <p:spPr>
          <a:xfrm>
            <a:off x="1554480" y="2340864"/>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A. Delay action until the end of the shift.</a:t>
            </a:r>
          </a:p>
        </p:txBody>
      </p:sp>
      <p:sp>
        <p:nvSpPr>
          <p:cNvPr id="15" name="Rounded Rectangle 14"/>
          <p:cNvSpPr/>
          <p:nvPr/>
        </p:nvSpPr>
        <p:spPr>
          <a:xfrm>
            <a:off x="1005840" y="2807208"/>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3000" y="2926080"/>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B</a:t>
            </a:r>
          </a:p>
        </p:txBody>
      </p:sp>
      <p:sp>
        <p:nvSpPr>
          <p:cNvPr id="17" name="TextBox 16"/>
          <p:cNvSpPr txBox="1"/>
          <p:nvPr/>
        </p:nvSpPr>
        <p:spPr>
          <a:xfrm>
            <a:off x="1554480" y="2907792"/>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B. Document the finding without reassessment or follow-up.</a:t>
            </a:r>
          </a:p>
        </p:txBody>
      </p:sp>
      <p:sp>
        <p:nvSpPr>
          <p:cNvPr id="18" name="Rounded Rectangle 17"/>
          <p:cNvSpPr/>
          <p:nvPr/>
        </p:nvSpPr>
        <p:spPr>
          <a:xfrm>
            <a:off x="1005840" y="3374136"/>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3493008"/>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C</a:t>
            </a:r>
          </a:p>
        </p:txBody>
      </p:sp>
      <p:sp>
        <p:nvSpPr>
          <p:cNvPr id="20" name="TextBox 19"/>
          <p:cNvSpPr txBox="1"/>
          <p:nvPr/>
        </p:nvSpPr>
        <p:spPr>
          <a:xfrm>
            <a:off x="1554480" y="3474720"/>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C. Instruct the patient to activate emergency services immediately.</a:t>
            </a:r>
          </a:p>
        </p:txBody>
      </p:sp>
      <p:sp>
        <p:nvSpPr>
          <p:cNvPr id="21" name="Rounded Rectangle 20"/>
          <p:cNvSpPr/>
          <p:nvPr/>
        </p:nvSpPr>
        <p:spPr>
          <a:xfrm>
            <a:off x="1005840" y="3941064"/>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43000" y="4059936"/>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D</a:t>
            </a:r>
          </a:p>
        </p:txBody>
      </p:sp>
      <p:sp>
        <p:nvSpPr>
          <p:cNvPr id="23" name="TextBox 22"/>
          <p:cNvSpPr txBox="1"/>
          <p:nvPr/>
        </p:nvSpPr>
        <p:spPr>
          <a:xfrm>
            <a:off x="1554480" y="4041648"/>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D. Delegate the clinical judgment decision to unlicensed assistive personnel.</a:t>
            </a:r>
          </a:p>
        </p:txBody>
      </p:sp>
      <p:sp>
        <p:nvSpPr>
          <p:cNvPr id="24" name="Rounded Rectangle 23"/>
          <p:cNvSpPr/>
          <p:nvPr/>
        </p:nvSpPr>
        <p:spPr>
          <a:xfrm>
            <a:off x="1188720" y="5989320"/>
            <a:ext cx="9784080" cy="41148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7C3AED"/>
                </a:solidFill>
                <a:latin typeface="Aptos"/>
              </a:rPr>
              <a:t>Choose the best response.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APPLY</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Mini case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12</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prioritize hypotheses, take action</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S12  ·  source-aligned</a:t>
            </a:r>
          </a:p>
        </p:txBody>
      </p:sp>
      <p:sp>
        <p:nvSpPr>
          <p:cNvPr id="8" name="Rounded Rectangle 7"/>
          <p:cNvSpPr/>
          <p:nvPr/>
        </p:nvSpPr>
        <p:spPr>
          <a:xfrm>
            <a:off x="731520" y="1051560"/>
            <a:ext cx="10744200" cy="713232"/>
          </a:xfrm>
          <a:prstGeom prst="roundRect">
            <a:avLst/>
          </a:prstGeom>
          <a:solidFill>
            <a:srgbClr val="FFF7ED"/>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6384" y="1197863"/>
            <a:ext cx="45720" cy="420624"/>
          </a:xfrm>
          <a:prstGeom prst="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161288"/>
            <a:ext cx="10488168" cy="292608"/>
          </a:xfrm>
          <a:prstGeom prst="rect">
            <a:avLst/>
          </a:prstGeom>
          <a:noFill/>
        </p:spPr>
        <p:txBody>
          <a:bodyPr wrap="square" anchor="t" lIns="27432" rIns="27432" tIns="18288" bIns="18288">
            <a:spAutoFit/>
          </a:bodyPr>
          <a:lstStyle/>
          <a:p>
            <a:pPr algn="l"/>
            <a:r>
              <a:rPr sz="1200" b="1">
                <a:solidFill>
                  <a:srgbClr val="0F172A"/>
                </a:solidFill>
                <a:latin typeface="Aptos"/>
              </a:rPr>
              <a:t>mini case</a:t>
            </a:r>
          </a:p>
        </p:txBody>
      </p:sp>
      <p:sp>
        <p:nvSpPr>
          <p:cNvPr id="11" name="TextBox 10"/>
          <p:cNvSpPr txBox="1"/>
          <p:nvPr/>
        </p:nvSpPr>
        <p:spPr>
          <a:xfrm>
            <a:off x="896112" y="1490472"/>
            <a:ext cx="10488168" cy="182880"/>
          </a:xfrm>
          <a:prstGeom prst="rect">
            <a:avLst/>
          </a:prstGeom>
          <a:noFill/>
        </p:spPr>
        <p:txBody>
          <a:bodyPr wrap="square" anchor="t" lIns="27432" rIns="27432" tIns="18288" bIns="18288">
            <a:spAutoFit/>
          </a:bodyPr>
          <a:lstStyle/>
          <a:p>
            <a:pPr algn="l"/>
            <a:r>
              <a:rPr sz="900" b="0">
                <a:solidFill>
                  <a:srgbClr val="475569"/>
                </a:solidFill>
                <a:latin typeface="Aptos"/>
              </a:rPr>
              <a:t>The patient expresses thoughts of harming themself or the infant.</a:t>
            </a:r>
          </a:p>
        </p:txBody>
      </p:sp>
      <p:sp>
        <p:nvSpPr>
          <p:cNvPr id="12" name="Rounded Rectangle 11"/>
          <p:cNvSpPr/>
          <p:nvPr/>
        </p:nvSpPr>
        <p:spPr>
          <a:xfrm>
            <a:off x="502920" y="20574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57784" y="2203704"/>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21671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cues</a:t>
            </a:r>
          </a:p>
        </p:txBody>
      </p:sp>
      <p:sp>
        <p:nvSpPr>
          <p:cNvPr id="15" name="TextBox 14"/>
          <p:cNvSpPr txBox="1"/>
          <p:nvPr/>
        </p:nvSpPr>
        <p:spPr>
          <a:xfrm>
            <a:off x="667512" y="24963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 Keyed action: Maintain safety and arrange immediate emergency mental-health evaluation.
- Because: Thoughts of harm require immediate safety intervention, not routine follow-up.</a:t>
            </a:r>
          </a:p>
        </p:txBody>
      </p:sp>
      <p:sp>
        <p:nvSpPr>
          <p:cNvPr id="16" name="Rounded Rectangle 15"/>
          <p:cNvSpPr/>
          <p:nvPr/>
        </p:nvSpPr>
        <p:spPr>
          <a:xfrm>
            <a:off x="6178143" y="20574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3007" y="22037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2735" y="21671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your task</a:t>
            </a:r>
          </a:p>
        </p:txBody>
      </p:sp>
      <p:sp>
        <p:nvSpPr>
          <p:cNvPr id="19" name="TextBox 18"/>
          <p:cNvSpPr txBox="1"/>
          <p:nvPr/>
        </p:nvSpPr>
        <p:spPr>
          <a:xfrm>
            <a:off x="6342735" y="24963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Write one assessment sentence and one action sentence.</a:t>
            </a:r>
          </a:p>
        </p:txBody>
      </p:sp>
      <p:sp>
        <p:nvSpPr>
          <p:cNvPr id="20" name="Rounded Rectangle 19"/>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Two sentences: what you assess, then what you do.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SIGNAL</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Sort by urgency</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13</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prioritize hypotheses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S13  ·  source-aligned</a:t>
            </a:r>
          </a:p>
        </p:txBody>
      </p:sp>
      <p:sp>
        <p:nvSpPr>
          <p:cNvPr id="8" name="Rounded Rectangle 7"/>
          <p:cNvSpPr/>
          <p:nvPr/>
        </p:nvSpPr>
        <p:spPr>
          <a:xfrm>
            <a:off x="502920" y="11430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Act now</a:t>
            </a:r>
          </a:p>
        </p:txBody>
      </p:sp>
      <p:sp>
        <p:nvSpPr>
          <p:cNvPr id="11" name="TextBox 10"/>
          <p:cNvSpPr txBox="1"/>
          <p:nvPr/>
        </p:nvSpPr>
        <p:spPr>
          <a:xfrm>
            <a:off x="667512" y="15819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 The patient reports soaking a pad rapidly with ongoing heavy bleeding.
- The patient reports sudden shortness of breath and chest pain.
- The patient expresses thoughts of harming themself or the infant.</a:t>
            </a:r>
          </a:p>
        </p:txBody>
      </p:sp>
      <p:sp>
        <p:nvSpPr>
          <p:cNvPr id="12" name="Rounded Rectangle 11"/>
          <p:cNvSpPr/>
          <p:nvPr/>
        </p:nvSpPr>
        <p:spPr>
          <a:xfrm>
            <a:off x="6178143" y="11430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2735" y="12527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Act in sequence</a:t>
            </a:r>
          </a:p>
        </p:txBody>
      </p:sp>
      <p:sp>
        <p:nvSpPr>
          <p:cNvPr id="15" name="TextBox 14"/>
          <p:cNvSpPr txBox="1"/>
          <p:nvPr/>
        </p:nvSpPr>
        <p:spPr>
          <a:xfrm>
            <a:off x="6342735" y="15819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 The patient cannot state whom to contact for worsening symptoms.
- The patient reports unilateral leg swelling and pain.</a:t>
            </a:r>
          </a:p>
        </p:txBody>
      </p:sp>
      <p:sp>
        <p:nvSpPr>
          <p:cNvPr id="16" name="Rounded Rectangle 15"/>
          <p:cNvSpPr/>
          <p:nvPr/>
        </p:nvSpPr>
        <p:spPr>
          <a:xfrm>
            <a:off x="1188720" y="5989320"/>
            <a:ext cx="9784080" cy="41148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DC2626"/>
                </a:solidFill>
                <a:latin typeface="Aptos"/>
              </a:rPr>
              <a:t>Place each cue and justify 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APPLY</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Documentation frame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14</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generate solutions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S14  ·  source-aligned</a:t>
            </a:r>
          </a:p>
        </p:txBody>
      </p:sp>
      <p:sp>
        <p:nvSpPr>
          <p:cNvPr id="8" name="Rounded Rectangle 7"/>
          <p:cNvSpPr/>
          <p:nvPr/>
        </p:nvSpPr>
        <p:spPr>
          <a:xfrm>
            <a:off x="502920"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Expected finding</a:t>
            </a:r>
          </a:p>
        </p:txBody>
      </p:sp>
      <p:sp>
        <p:nvSpPr>
          <p:cNvPr id="11" name="TextBox 10"/>
          <p:cNvSpPr txBox="1"/>
          <p:nvPr/>
        </p:nvSpPr>
        <p:spPr>
          <a:xfrm>
            <a:off x="667512" y="1581912"/>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12" name="Rounded Rectangle 11"/>
          <p:cNvSpPr/>
          <p:nvPr/>
        </p:nvSpPr>
        <p:spPr>
          <a:xfrm>
            <a:off x="4286402"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1266" y="128930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0994" y="125272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Urgent warning sign</a:t>
            </a:r>
          </a:p>
        </p:txBody>
      </p:sp>
      <p:sp>
        <p:nvSpPr>
          <p:cNvPr id="15" name="TextBox 14"/>
          <p:cNvSpPr txBox="1"/>
          <p:nvPr/>
        </p:nvSpPr>
        <p:spPr>
          <a:xfrm>
            <a:off x="4450994" y="1581912"/>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16" name="Rounded Rectangle 15"/>
          <p:cNvSpPr/>
          <p:nvPr/>
        </p:nvSpPr>
        <p:spPr>
          <a:xfrm>
            <a:off x="8069884"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24748" y="1289304"/>
            <a:ext cx="45720" cy="941832"/>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4476" y="125272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Who to call</a:t>
            </a:r>
          </a:p>
        </p:txBody>
      </p:sp>
      <p:sp>
        <p:nvSpPr>
          <p:cNvPr id="19" name="TextBox 18"/>
          <p:cNvSpPr txBox="1"/>
          <p:nvPr/>
        </p:nvSpPr>
        <p:spPr>
          <a:xfrm>
            <a:off x="8234476" y="1581912"/>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20" name="Rounded Rectangle 19"/>
          <p:cNvSpPr/>
          <p:nvPr/>
        </p:nvSpPr>
        <p:spPr>
          <a:xfrm>
            <a:off x="502920" y="2542032"/>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57784" y="2688336"/>
            <a:ext cx="45720" cy="94183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2651760"/>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Follow-up appointment</a:t>
            </a:r>
          </a:p>
        </p:txBody>
      </p:sp>
      <p:sp>
        <p:nvSpPr>
          <p:cNvPr id="23" name="TextBox 22"/>
          <p:cNvSpPr txBox="1"/>
          <p:nvPr/>
        </p:nvSpPr>
        <p:spPr>
          <a:xfrm>
            <a:off x="667512" y="2980944"/>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24" name="Rounded Rectangle 23"/>
          <p:cNvSpPr/>
          <p:nvPr/>
        </p:nvSpPr>
        <p:spPr>
          <a:xfrm>
            <a:off x="4286402" y="2542032"/>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41266" y="2688336"/>
            <a:ext cx="45720" cy="941832"/>
          </a:xfrm>
          <a:prstGeom prst="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50994" y="2651760"/>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Teach-back response</a:t>
            </a:r>
          </a:p>
        </p:txBody>
      </p:sp>
      <p:sp>
        <p:nvSpPr>
          <p:cNvPr id="27" name="TextBox 26"/>
          <p:cNvSpPr txBox="1"/>
          <p:nvPr/>
        </p:nvSpPr>
        <p:spPr>
          <a:xfrm>
            <a:off x="4450994" y="2980944"/>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28" name="Rounded Rectangle 27"/>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Record the lesson's decisions in a reusable frame.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APPLY</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Capstone: choose the next safe action</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15</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take action, evaluate outcomes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S15  ·  source-aligned</a:t>
            </a:r>
          </a:p>
        </p:txBody>
      </p:sp>
      <p:sp>
        <p:nvSpPr>
          <p:cNvPr id="8" name="Rounded Rectangle 7"/>
          <p:cNvSpPr/>
          <p:nvPr/>
        </p:nvSpPr>
        <p:spPr>
          <a:xfrm>
            <a:off x="685800" y="1005840"/>
            <a:ext cx="10835640" cy="621792"/>
          </a:xfrm>
          <a:prstGeom prst="roundRect">
            <a:avLst/>
          </a:prstGeom>
          <a:solidFill>
            <a:srgbClr val="FEF2F2"/>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0664" y="1152144"/>
            <a:ext cx="45720" cy="329184"/>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115568"/>
            <a:ext cx="10579608" cy="292608"/>
          </a:xfrm>
          <a:prstGeom prst="rect">
            <a:avLst/>
          </a:prstGeom>
          <a:noFill/>
        </p:spPr>
        <p:txBody>
          <a:bodyPr wrap="square" anchor="t" lIns="27432" rIns="27432" tIns="18288" bIns="18288">
            <a:spAutoFit/>
          </a:bodyPr>
          <a:lstStyle/>
          <a:p>
            <a:pPr algn="l"/>
            <a:r>
              <a:rPr sz="1150" b="1">
                <a:solidFill>
                  <a:srgbClr val="0F172A"/>
                </a:solidFill>
                <a:latin typeface="Aptos"/>
              </a:rPr>
              <a:t>capstone scenario</a:t>
            </a:r>
          </a:p>
        </p:txBody>
      </p:sp>
      <p:sp>
        <p:nvSpPr>
          <p:cNvPr id="11" name="TextBox 10"/>
          <p:cNvSpPr txBox="1"/>
          <p:nvPr/>
        </p:nvSpPr>
        <p:spPr>
          <a:xfrm>
            <a:off x="850392" y="1444752"/>
            <a:ext cx="10579608" cy="91440"/>
          </a:xfrm>
          <a:prstGeom prst="rect">
            <a:avLst/>
          </a:prstGeom>
          <a:noFill/>
        </p:spPr>
        <p:txBody>
          <a:bodyPr wrap="square" anchor="t" lIns="27432" rIns="27432" tIns="18288" bIns="18288">
            <a:spAutoFit/>
          </a:bodyPr>
          <a:lstStyle/>
          <a:p>
            <a:pPr algn="l"/>
            <a:r>
              <a:rPr sz="850" b="0">
                <a:solidFill>
                  <a:srgbClr val="475569"/>
                </a:solidFill>
                <a:latin typeface="Aptos"/>
              </a:rPr>
              <a:t>The patient reports unilateral leg swelling and pain.</a:t>
            </a:r>
          </a:p>
        </p:txBody>
      </p:sp>
      <p:sp>
        <p:nvSpPr>
          <p:cNvPr id="12" name="Rounded Rectangle 11"/>
          <p:cNvSpPr/>
          <p:nvPr/>
        </p:nvSpPr>
        <p:spPr>
          <a:xfrm>
            <a:off x="914400" y="1874519"/>
            <a:ext cx="10378440" cy="65836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69264" y="2020824"/>
            <a:ext cx="45720" cy="365759"/>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1984248"/>
            <a:ext cx="10122408" cy="292608"/>
          </a:xfrm>
          <a:prstGeom prst="rect">
            <a:avLst/>
          </a:prstGeom>
          <a:noFill/>
        </p:spPr>
        <p:txBody>
          <a:bodyPr wrap="square" anchor="t" lIns="27432" rIns="27432" tIns="18288" bIns="18288">
            <a:spAutoFit/>
          </a:bodyPr>
          <a:lstStyle/>
          <a:p>
            <a:pPr algn="l"/>
            <a:r>
              <a:rPr sz="1250" b="1">
                <a:solidFill>
                  <a:srgbClr val="0F172A"/>
                </a:solidFill>
                <a:latin typeface="Aptos"/>
              </a:rPr>
              <a:t>priority nursing response</a:t>
            </a:r>
          </a:p>
        </p:txBody>
      </p:sp>
      <p:sp>
        <p:nvSpPr>
          <p:cNvPr id="15" name="TextBox 14"/>
          <p:cNvSpPr txBox="1"/>
          <p:nvPr/>
        </p:nvSpPr>
        <p:spPr>
          <a:xfrm>
            <a:off x="1078992" y="2313432"/>
            <a:ext cx="10122408" cy="128016"/>
          </a:xfrm>
          <a:prstGeom prst="rect">
            <a:avLst/>
          </a:prstGeom>
          <a:noFill/>
        </p:spPr>
        <p:txBody>
          <a:bodyPr wrap="square" anchor="t" lIns="27432" rIns="27432" tIns="18288" bIns="18288">
            <a:spAutoFit/>
          </a:bodyPr>
          <a:lstStyle/>
          <a:p>
            <a:pPr algn="l"/>
            <a:r>
              <a:rPr sz="900" b="0">
                <a:solidFill>
                  <a:srgbClr val="475569"/>
                </a:solidFill>
                <a:latin typeface="Aptos"/>
              </a:rPr>
              <a:t>What is the priority nursing action?</a:t>
            </a:r>
          </a:p>
        </p:txBody>
      </p:sp>
      <p:sp>
        <p:nvSpPr>
          <p:cNvPr id="16" name="Rounded Rectangle 15"/>
          <p:cNvSpPr/>
          <p:nvPr/>
        </p:nvSpPr>
        <p:spPr>
          <a:xfrm>
            <a:off x="1097280" y="2788920"/>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34440" y="2898648"/>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A</a:t>
            </a:r>
          </a:p>
        </p:txBody>
      </p:sp>
      <p:sp>
        <p:nvSpPr>
          <p:cNvPr id="18" name="TextBox 17"/>
          <p:cNvSpPr txBox="1"/>
          <p:nvPr/>
        </p:nvSpPr>
        <p:spPr>
          <a:xfrm>
            <a:off x="1627632" y="2871215"/>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A. Delay action until the end of the shift.</a:t>
            </a:r>
          </a:p>
        </p:txBody>
      </p:sp>
      <p:sp>
        <p:nvSpPr>
          <p:cNvPr id="19" name="Rounded Rectangle 18"/>
          <p:cNvSpPr/>
          <p:nvPr/>
        </p:nvSpPr>
        <p:spPr>
          <a:xfrm>
            <a:off x="1097280" y="3319272"/>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34440" y="3429000"/>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B</a:t>
            </a:r>
          </a:p>
        </p:txBody>
      </p:sp>
      <p:sp>
        <p:nvSpPr>
          <p:cNvPr id="21" name="TextBox 20"/>
          <p:cNvSpPr txBox="1"/>
          <p:nvPr/>
        </p:nvSpPr>
        <p:spPr>
          <a:xfrm>
            <a:off x="1627632" y="3401568"/>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B. Arrange prompt evaluation for a possible thromboembolic complication.</a:t>
            </a:r>
          </a:p>
        </p:txBody>
      </p:sp>
      <p:sp>
        <p:nvSpPr>
          <p:cNvPr id="22" name="Rounded Rectangle 21"/>
          <p:cNvSpPr/>
          <p:nvPr/>
        </p:nvSpPr>
        <p:spPr>
          <a:xfrm>
            <a:off x="1097280" y="3849624"/>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34440" y="3959352"/>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C</a:t>
            </a:r>
          </a:p>
        </p:txBody>
      </p:sp>
      <p:sp>
        <p:nvSpPr>
          <p:cNvPr id="24" name="TextBox 23"/>
          <p:cNvSpPr txBox="1"/>
          <p:nvPr/>
        </p:nvSpPr>
        <p:spPr>
          <a:xfrm>
            <a:off x="1627632" y="3931920"/>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C. Document the finding without reassessment or follow-up.</a:t>
            </a:r>
          </a:p>
        </p:txBody>
      </p:sp>
      <p:sp>
        <p:nvSpPr>
          <p:cNvPr id="25" name="Rounded Rectangle 24"/>
          <p:cNvSpPr/>
          <p:nvPr/>
        </p:nvSpPr>
        <p:spPr>
          <a:xfrm>
            <a:off x="1097280" y="4379975"/>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34440" y="4489703"/>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D</a:t>
            </a:r>
          </a:p>
        </p:txBody>
      </p:sp>
      <p:sp>
        <p:nvSpPr>
          <p:cNvPr id="27" name="TextBox 26"/>
          <p:cNvSpPr txBox="1"/>
          <p:nvPr/>
        </p:nvSpPr>
        <p:spPr>
          <a:xfrm>
            <a:off x="1627632" y="4462271"/>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D. Delegate the clinical judgment decision to unlicensed assistive personnel.</a:t>
            </a:r>
          </a:p>
        </p:txBody>
      </p:sp>
      <p:sp>
        <p:nvSpPr>
          <p:cNvPr id="28" name="Rounded Rectangle 27"/>
          <p:cNvSpPr/>
          <p:nvPr/>
        </p:nvSpPr>
        <p:spPr>
          <a:xfrm>
            <a:off x="1188720" y="5989320"/>
            <a:ext cx="9784080" cy="41148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DC2626"/>
                </a:solidFill>
                <a:latin typeface="Aptos"/>
              </a:rPr>
              <a:t>Choose the priority action.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CLOSE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Rapid retrieval: exit check</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16</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evaluate outcomes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S16  ·  source-aligned</a:t>
            </a:r>
          </a:p>
        </p:txBody>
      </p:sp>
      <p:sp>
        <p:nvSpPr>
          <p:cNvPr id="8" name="Rounded Rectangle 7"/>
          <p:cNvSpPr/>
          <p:nvPr/>
        </p:nvSpPr>
        <p:spPr>
          <a:xfrm>
            <a:off x="777240" y="1143000"/>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8680" y="1216152"/>
            <a:ext cx="45720" cy="292608"/>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261872"/>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Pair self-care with escalation instructions.</a:t>
            </a:r>
          </a:p>
        </p:txBody>
      </p:sp>
      <p:sp>
        <p:nvSpPr>
          <p:cNvPr id="11" name="Rounded Rectangle 10"/>
          <p:cNvSpPr/>
          <p:nvPr/>
        </p:nvSpPr>
        <p:spPr>
          <a:xfrm>
            <a:off x="777240" y="1801368"/>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8680" y="1874519"/>
            <a:ext cx="45720" cy="292608"/>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1920240"/>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Heavy bleeding and cardiopulmonary symptoms require urgent action.</a:t>
            </a:r>
          </a:p>
        </p:txBody>
      </p:sp>
      <p:sp>
        <p:nvSpPr>
          <p:cNvPr id="14" name="Rounded Rectangle 13"/>
          <p:cNvSpPr/>
          <p:nvPr/>
        </p:nvSpPr>
        <p:spPr>
          <a:xfrm>
            <a:off x="777240" y="2459736"/>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2532888"/>
            <a:ext cx="45720" cy="292608"/>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578608"/>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Include mental-health safety.</a:t>
            </a:r>
          </a:p>
        </p:txBody>
      </p:sp>
      <p:sp>
        <p:nvSpPr>
          <p:cNvPr id="17" name="Rounded Rectangle 16"/>
          <p:cNvSpPr/>
          <p:nvPr/>
        </p:nvSpPr>
        <p:spPr>
          <a:xfrm>
            <a:off x="777240" y="3118104"/>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8680" y="3191256"/>
            <a:ext cx="45720" cy="292608"/>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3236976"/>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Verify learning with teach-back.</a:t>
            </a:r>
          </a:p>
        </p:txBody>
      </p:sp>
      <p:sp>
        <p:nvSpPr>
          <p:cNvPr id="20" name="Rounded Rectangle 19"/>
          <p:cNvSpPr/>
          <p:nvPr/>
        </p:nvSpPr>
        <p:spPr>
          <a:xfrm>
            <a:off x="777240" y="3776472"/>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68680" y="3849624"/>
            <a:ext cx="45720" cy="292608"/>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3895344"/>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Use teach-back to verify understanding.</a:t>
            </a:r>
          </a:p>
        </p:txBody>
      </p:sp>
      <p:sp>
        <p:nvSpPr>
          <p:cNvPr id="23" name="Rounded Rectangle 22"/>
          <p:cNvSpPr/>
          <p:nvPr/>
        </p:nvSpPr>
        <p:spPr>
          <a:xfrm>
            <a:off x="1188720" y="5989320"/>
            <a:ext cx="9784080" cy="411480"/>
          </a:xfrm>
          <a:prstGeom prst="roundRect">
            <a:avLst/>
          </a:prstGeom>
          <a:solidFill>
            <a:srgbClr val="FFFFFF"/>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475569"/>
                </a:solidFill>
                <a:latin typeface="Aptos"/>
              </a:rPr>
              <a:t>Answer all of them.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CLOSE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Takeaway</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17</a:t>
            </a:r>
          </a:p>
        </p:txBody>
      </p:sp>
      <p:sp>
        <p:nvSpPr>
          <p:cNvPr id="5" name="TextBox 4"/>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6" name="TextBox 5"/>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S17  ·  instructor-added</a:t>
            </a:r>
          </a:p>
        </p:txBody>
      </p:sp>
      <p:sp>
        <p:nvSpPr>
          <p:cNvPr id="7" name="Rounded Rectangle 6"/>
          <p:cNvSpPr/>
          <p:nvPr/>
        </p:nvSpPr>
        <p:spPr>
          <a:xfrm>
            <a:off x="502920"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57784" y="147218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Pair Self-Care With Escalation Instructi</a:t>
            </a:r>
          </a:p>
        </p:txBody>
      </p:sp>
      <p:sp>
        <p:nvSpPr>
          <p:cNvPr id="10" name="TextBox 9"/>
          <p:cNvSpPr txBox="1"/>
          <p:nvPr/>
        </p:nvSpPr>
        <p:spPr>
          <a:xfrm>
            <a:off x="667512"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Pair self-care with escalation instructions.</a:t>
            </a:r>
          </a:p>
        </p:txBody>
      </p:sp>
      <p:sp>
        <p:nvSpPr>
          <p:cNvPr id="11" name="Rounded Rectangle 10"/>
          <p:cNvSpPr/>
          <p:nvPr/>
        </p:nvSpPr>
        <p:spPr>
          <a:xfrm>
            <a:off x="3340531"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95395" y="147218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05123"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Heavy Bleeding And Cardiopulmonary Sympt</a:t>
            </a:r>
          </a:p>
        </p:txBody>
      </p:sp>
      <p:sp>
        <p:nvSpPr>
          <p:cNvPr id="14" name="TextBox 13"/>
          <p:cNvSpPr txBox="1"/>
          <p:nvPr/>
        </p:nvSpPr>
        <p:spPr>
          <a:xfrm>
            <a:off x="3505123"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Heavy bleeding and cardiopulmonary symptoms require urgent action.</a:t>
            </a:r>
          </a:p>
        </p:txBody>
      </p:sp>
      <p:sp>
        <p:nvSpPr>
          <p:cNvPr id="15" name="Rounded Rectangle 14"/>
          <p:cNvSpPr/>
          <p:nvPr/>
        </p:nvSpPr>
        <p:spPr>
          <a:xfrm>
            <a:off x="6178143"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3007" y="1472184"/>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2735"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Include Mental-Health Safety</a:t>
            </a:r>
          </a:p>
        </p:txBody>
      </p:sp>
      <p:sp>
        <p:nvSpPr>
          <p:cNvPr id="18" name="TextBox 17"/>
          <p:cNvSpPr txBox="1"/>
          <p:nvPr/>
        </p:nvSpPr>
        <p:spPr>
          <a:xfrm>
            <a:off x="6342735"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Include mental-health safety.</a:t>
            </a:r>
          </a:p>
        </p:txBody>
      </p:sp>
      <p:sp>
        <p:nvSpPr>
          <p:cNvPr id="19" name="Rounded Rectangle 18"/>
          <p:cNvSpPr/>
          <p:nvPr/>
        </p:nvSpPr>
        <p:spPr>
          <a:xfrm>
            <a:off x="9015755"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70619" y="1472184"/>
            <a:ext cx="45720" cy="941832"/>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0347"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Verify Learning With Teach-Back</a:t>
            </a:r>
          </a:p>
        </p:txBody>
      </p:sp>
      <p:sp>
        <p:nvSpPr>
          <p:cNvPr id="22" name="TextBox 21"/>
          <p:cNvSpPr txBox="1"/>
          <p:nvPr/>
        </p:nvSpPr>
        <p:spPr>
          <a:xfrm>
            <a:off x="9180347"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Verify learning with teach-back.</a:t>
            </a:r>
          </a:p>
        </p:txBody>
      </p:sp>
      <p:sp>
        <p:nvSpPr>
          <p:cNvPr id="23" name="Rounded Rectangle 22"/>
          <p:cNvSpPr/>
          <p:nvPr/>
        </p:nvSpPr>
        <p:spPr>
          <a:xfrm>
            <a:off x="1234440" y="4892040"/>
            <a:ext cx="9646920" cy="8229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289304" y="5038344"/>
            <a:ext cx="45720" cy="530352"/>
          </a:xfrm>
          <a:prstGeom prst="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99032" y="5001768"/>
            <a:ext cx="9390888" cy="292608"/>
          </a:xfrm>
          <a:prstGeom prst="rect">
            <a:avLst/>
          </a:prstGeom>
          <a:noFill/>
        </p:spPr>
        <p:txBody>
          <a:bodyPr wrap="square" anchor="t" lIns="27432" rIns="27432" tIns="18288" bIns="18288">
            <a:spAutoFit/>
          </a:bodyPr>
          <a:lstStyle/>
          <a:p>
            <a:pPr algn="l"/>
            <a:r>
              <a:rPr sz="1200" b="1">
                <a:solidFill>
                  <a:srgbClr val="0F172A"/>
                </a:solidFill>
                <a:latin typeface="Aptos"/>
              </a:rPr>
              <a:t>final bedside frame</a:t>
            </a:r>
          </a:p>
        </p:txBody>
      </p:sp>
      <p:sp>
        <p:nvSpPr>
          <p:cNvPr id="26" name="TextBox 25"/>
          <p:cNvSpPr txBox="1"/>
          <p:nvPr/>
        </p:nvSpPr>
        <p:spPr>
          <a:xfrm>
            <a:off x="1399032" y="5330952"/>
            <a:ext cx="9390888" cy="292608"/>
          </a:xfrm>
          <a:prstGeom prst="rect">
            <a:avLst/>
          </a:prstGeom>
          <a:noFill/>
        </p:spPr>
        <p:txBody>
          <a:bodyPr wrap="square" anchor="t" lIns="27432" rIns="27432" tIns="18288" bIns="18288">
            <a:spAutoFit/>
          </a:bodyPr>
          <a:lstStyle/>
          <a:p>
            <a:pPr algn="l"/>
            <a:r>
              <a:rPr sz="800" b="0">
                <a:solidFill>
                  <a:srgbClr val="475569"/>
                </a:solidFill>
                <a:latin typeface="Aptos"/>
              </a:rPr>
              <a:t>Teach expected recovery, self-care, follow-up, and urgent warning signs using confirmation of understanding.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