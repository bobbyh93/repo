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Recognition of an Acute Transfusion Reaction. The concept underneath it is complication recognition, and the module rates its safety risk high — its top rating, so this is one to be able to do under pressure rather than one to recognise on a test. Here is the whole lesson in one sentence. Recognize new symptoms during transfusion, stop the blood product, maintain access with appropriate compatible fluid and tubing per policy, assess, and notify. By the end you should be able to do three things: recognize findings associated with a possible transfusion reaction; sequence immediate nursing actions; and complete required notification and specimen/product handling. We get there in three moves, and then spend the second half putting all of them against patient cues, because knowing this and doing it at the bedside are not the same skill.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a cue rather than a definition, because that is the order the unit gives you: the patient arrives first and the explanation catches up later. Here it is. The patient develops chills and dyspnea shortly after a transfusion begins. Decide now, before any of this is taught, what you would do and why that thing first. Write it somewhere you will still be able to read at the end, because this exact cue comes back as the first assessment item. Comparing the two answers is most of what the rest of this session is for.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that follows answers one question. Recognize new symptoms during transfusion, stop the blood product, maintain access with appropriate compatible fluid and tubing per policy, assess, and notify. Keep that sentence in view for the rest of the session. When a slide stops making sense it is almost always because you have lost which part of this sentence it is working on, and naming the part is the fastest way back. The lesson takes the question in three moves — recognize, then stop and assess, then notify and investigate — and then asks you to apply all of them to cues you have not seen.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detail second. The lanes on the left are the lesson's teaching moves, in the order a nurse actually performs them; apply and evaluate on the right are where you are made to use them. The reason to show this before teaching any of it is orientation: every cue you meet today sits in one of these lanes, and knowing which lane a cue belongs to usually tells you what to do with it before you can explain why. When you get stuck later, come back to this slide rather than to the last one you read.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before any of this is taught. These three headings are the whole lesson in order, but they are shuffled on the slide. Put them in the sequence the nurse actually performs them at the bedside, then compare with a neighbour before the reveal. Getting the order wrong here is more useful than getting it right: it shows you which move you would have skipped under pressure.</a:t>
            </a:r>
          </a:p>
          <a:p/>
          <a:p>
            <a:r>
              <a:t>ANSWER KEY:</a:t>
            </a:r>
          </a:p>
          <a:p>
            <a:r>
              <a:t>- Recognize</a:t>
            </a:r>
          </a:p>
          <a:p>
            <a:r>
              <a:t>- Stop and assess</a:t>
            </a:r>
          </a:p>
          <a:p>
            <a:r>
              <a:t>- Notify and investigate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Recognize. Treat new fever, chills, dyspnea, chest or back discomfort, hypotension, urticaria, or other acute change during transfusion as a possible reaction until evaluated. This is the first of the three, and the two after it assume it. What you get wrong here does not stay here; it propagates quietly into every decision the rest of the lesson asks you to make. Do not move on until you can say this part back without the slide. The test is the objective: if you can recognize findings associated with a possible transfusion reaction, this lane has done its job, and if you cannot, nothing later in the lesson will fix it — it will only hide it.</a:t>
            </a:r>
          </a:p>
          <a:p/>
          <a:p>
            <a:r>
              <a:t>VISUAL NOTES: Section 1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and assess. Stop the transfusion immediately, maintain venous access using new tubing and compatible solution according to policy, assess the patient, and obtain vital signs. This is the middle move, and it is where most of the disagreement in this lesson will sit: the point at which a defensible action and the priority action stop being the same answer. Do not move on until you can say this part back without the slide. The test is the objective: if you can sequence immediate nursing actions, this lane has done its job, and if you cannot, nothing later in the lesson will fix it — it will only hide it.</a:t>
            </a:r>
          </a:p>
          <a:p/>
          <a:p>
            <a:r>
              <a:t>VISUAL NOTES: Section 2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Notify and investigate. Notify the provider and transfusion service, follow emergency orders, and send the product, tubing, or specimens as required by organizational policy. This is the last of the three, and it is the one most often left implicit -- the step learners can describe accurately and then do not actually perform when the first two have gone well. Say it out loud; that is how it survives contact with a busy shift. Do not move on until you can say this part back without the slide. The test is the objective: if you can complete required notification and specimen/product handling, this lane has done its job, and if you cannot, nothing later in the lesson will fix it — it will only hide it.</a:t>
            </a:r>
          </a:p>
          <a:p/>
          <a:p>
            <a:r>
              <a:t>VISUAL NOTES: Section 3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four minutes. Every cue on the left was written for one of the lesson moves on the right; your job is to say which, and to be able to defend one of the four out loud. Where the two of you match a cue differently, stop and stay there — you have found a cue whose lane is genuinely arguable, and those are worth more than the three you agreed on instantly. Bring one disagreement to the debrief.</a:t>
            </a:r>
          </a:p>
          <a:p/>
          <a:p>
            <a:r>
              <a:t>ANSWER KEY:</a:t>
            </a:r>
          </a:p>
          <a:p>
            <a:r>
              <a:t>- A relates to: Recognize</a:t>
            </a:r>
          </a:p>
          <a:p>
            <a:r>
              <a:t>- B relates to: Stop and assess</a:t>
            </a:r>
          </a:p>
          <a:p>
            <a:r>
              <a:t>- C relates to: Notify and investigate</a:t>
            </a:r>
          </a:p>
          <a:p>
            <a:r>
              <a:t>- D relates to: Notify and investigate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four rationales as a set rather than one at a time. They are deliberately repetitive: the same habit of mind is showing up behind four different cues, and that repetition is the teaching point rather than an accident of writing. A learner who memorises four rules will meet a fifth cue and stall. A learner who can name the one habit will handle cues this lesson never showed them. Say the habit out loud in your own words before you leave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and it targets the middle of the lesson. The cue is: The transfusion has been stopped for a suspected reaction. Read all four options and commit to one before the reveal, because the value of a checkpoint is in being wrong out loud rather than quietly. The reasoning you are being tested on is this: Separate tubing avoids infusing residual blood while preserving access for treatment.</a:t>
            </a:r>
          </a:p>
          <a:p/>
          <a:p>
            <a:r>
              <a:t>CORRECT: C</a:t>
            </a:r>
          </a:p>
          <a:p>
            <a:r>
              <a:t>RATIONALE: Separate tubing avoids infusing residual blood while preserving access for treatment.</a:t>
            </a:r>
          </a:p>
          <a:p/>
          <a:p>
            <a:r>
              <a:t>ANSWER KEY:</a:t>
            </a:r>
          </a:p>
          <a:p>
            <a:r>
              <a:t>- C. Maintain venous access with new tubing and compatible solution according to policy.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bedside moment, and this time you write rather than choose. The situation: The patient's blood pressure is falling during the reaction. Write two sentences before the debrief: one naming what you assess, one naming what you do about it. Keep them in that order, because the order is the judgement. The keyed reasoning is: Hemodynamic instability requires immediate escalation and resuscitative priorities.</a:t>
            </a:r>
          </a:p>
          <a:p/>
          <a:p>
            <a:r>
              <a:t>ANSWER KEY:</a:t>
            </a:r>
          </a:p>
          <a:p>
            <a:r>
              <a:t>- Activate urgent assistance and support airway, breathing, and circulation while following emergency orders.</a:t>
            </a:r>
          </a:p>
          <a:p>
            <a:r>
              <a:t>- Hemodynamic instability requires immediate escalation and resuscitative priorities.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and the sorting rule is the point of the slide. Put a cue on the left when delay changes the outcome for the patient, and on the right when the correct action is verification, planning or teaching that a short delay does not worsen. Justify one of your placements aloud. Learners who can sort these reliably are the ones who prioritise well under load.</a:t>
            </a:r>
          </a:p>
          <a:p/>
          <a:p>
            <a:r>
              <a:t>ANSWER KEY:</a:t>
            </a:r>
          </a:p>
          <a:p>
            <a:r>
              <a:t>- Act now: the cues whose keyed action is immediate</a:t>
            </a:r>
          </a:p>
          <a:p>
            <a:r>
              <a:t>- Act in sequence: the cues whose keyed action is verification or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lesson turned into something you can write down. The module asks you to be able to fill every one of these fields for any patient in this situation, and the value is in the blanks: a field you cannot complete is not a documentation gap, it is an assessment you have not done yet. Fill them now for the mini-case patient, and notice which field you reach for last — that one is your weak lane.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question, and the hardest cue the topic carries: A possible reaction has been stabilized. All four options are things a nurse might plausibly do, which is what makes it a capstone rather than a checkpoint. Choose the priority action, not merely a defensible one. The reasoning that separates them: Investigation and reporting support diagnosis, treatment, and prevention of further harm.</a:t>
            </a:r>
          </a:p>
          <a:p/>
          <a:p>
            <a:r>
              <a:t>CORRECT: B</a:t>
            </a:r>
          </a:p>
          <a:p>
            <a:r>
              <a:t>RATIONALE: Investigation and reporting support diagnosis, treatment, and prevention of further harm.</a:t>
            </a:r>
          </a:p>
          <a:p/>
          <a:p>
            <a:r>
              <a:t>ANSWER KEY:</a:t>
            </a:r>
          </a:p>
          <a:p>
            <a:r>
              <a:t>- B. Notify the provider and transfusion service and complete required specimens and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no notes. Answer each of these aloud or on paper, one per lane of the lesson. The answers are on the slides you have just seen and in the facilitator guide, so this is retrieval rather than assessment. If any one of them produces silence across the room, that is the lane to re-teach before this cohort meets the situation on a real unit.</a:t>
            </a:r>
          </a:p>
          <a:p/>
          <a:p>
            <a:r>
              <a:t>ANSWER KEY:</a:t>
            </a:r>
          </a:p>
          <a:p>
            <a:r>
              <a:t>- Stop the transfusion first.</a:t>
            </a:r>
          </a:p>
          <a:p>
            <a:r>
              <a:t>- Assess airway, breathing, circulation, and vital signs.</a:t>
            </a:r>
          </a:p>
          <a:p>
            <a:r>
              <a:t>- Do not restart the implicated unit.</a:t>
            </a:r>
          </a:p>
          <a:p>
            <a:r>
              <a:t>- Follow the transfusion-reaction protocol.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where we opened. The question was: Recognize new symptoms during transfusion, stop the blood product, maintain access with appropriate compatible fluid and tubing per policy, assess, and notify. The lines on this slide are the module's own answer, and they are what should still be there in a week when the detail has gone. If you keep one, keep the first: Stop the transfusion first. Everything else here is that sentence applied to a different cue. Go back now to what you wrote at the opening case and see whether you would still do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Recognition of an Acute Transfusion Reaction</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NCLEX  ·  Reduction of Risk Potential  ·  Recognition_of_an_Acute_Transfusion_Reac</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Recognize new symptoms during transfusion, stop the blood product, maintain access with appropriate compatible fluid and tubing per policy, assess, and notify.</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Recognition of an Acute Transfusion Reaction</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Prelicensure RN · Reduction of Risk Potential · safety risk: high</a:t>
            </a:r>
          </a:p>
        </p:txBody>
      </p:sp>
      <p:sp>
        <p:nvSpPr>
          <p:cNvPr id="24" name="TextBox 23"/>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5" name="TextBox 24"/>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The patient develops chills and dyspnea shortly after a transfusion begins.</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Objective in play: Recognize findings associated with a possible transfusion reaction.
- Concept: Complication Recognition</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Rounded Rectangle 18"/>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2" name="TextBox 21"/>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Thirty seconds: what is your first action, and why that one first?</a:t>
            </a:r>
          </a:p>
        </p:txBody>
      </p:sp>
      <p:sp>
        <p:nvSpPr>
          <p:cNvPr id="23" name="Rounded Rectangle 22"/>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question this lesson answers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Recognize new symptoms during transfusion, stop the blood product, maintain access with appropriate compatible fluid and tubing per policy, assess, and notify.</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Recognize</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Recognize</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Stop And Assess</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Stop and assess</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Notify And Investigate</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Notify and investigate</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Apply</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case and items</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retrieval; takeaway</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Lesson map</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Recognize</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Recognize</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Stop And Assess</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Stop and assess</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Notify And Investigate</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Notify and investigate</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Apply</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mini case → capstone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exit check</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ACTIVATE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Warm-up: put the three moves in order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instructor-added</a:t>
            </a:r>
          </a:p>
        </p:txBody>
      </p:sp>
      <p:sp>
        <p:nvSpPr>
          <p:cNvPr id="8" name="Rounded Rectangle 7"/>
          <p:cNvSpPr/>
          <p:nvPr/>
        </p:nvSpPr>
        <p:spPr>
          <a:xfrm>
            <a:off x="685800" y="1005840"/>
            <a:ext cx="10789920" cy="685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93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33888" cy="292608"/>
          </a:xfrm>
          <a:prstGeom prst="rect">
            <a:avLst/>
          </a:prstGeom>
          <a:noFill/>
        </p:spPr>
        <p:txBody>
          <a:bodyPr wrap="square" anchor="t" lIns="27432" rIns="27432" tIns="18288" bIns="18288">
            <a:spAutoFit/>
          </a:bodyPr>
          <a:lstStyle/>
          <a:p>
            <a:pPr algn="l"/>
            <a:r>
              <a:rPr sz="1300" b="1">
                <a:solidFill>
                  <a:srgbClr val="0F172A"/>
                </a:solidFill>
                <a:latin typeface="Aptos"/>
              </a:rPr>
              <a:t>learner task</a:t>
            </a:r>
          </a:p>
        </p:txBody>
      </p:sp>
      <p:sp>
        <p:nvSpPr>
          <p:cNvPr id="11" name="TextBox 10"/>
          <p:cNvSpPr txBox="1"/>
          <p:nvPr/>
        </p:nvSpPr>
        <p:spPr>
          <a:xfrm>
            <a:off x="850392" y="1444752"/>
            <a:ext cx="10533888" cy="155448"/>
          </a:xfrm>
          <a:prstGeom prst="rect">
            <a:avLst/>
          </a:prstGeom>
          <a:noFill/>
        </p:spPr>
        <p:txBody>
          <a:bodyPr wrap="square" anchor="t" lIns="27432" rIns="27432" tIns="18288" bIns="18288">
            <a:spAutoFit/>
          </a:bodyPr>
          <a:lstStyle/>
          <a:p>
            <a:pPr algn="l"/>
            <a:r>
              <a:rPr sz="1000" b="0">
                <a:solidFill>
                  <a:srgbClr val="475569"/>
                </a:solidFill>
                <a:latin typeface="Aptos"/>
              </a:rPr>
              <a:t>Order the three.</a:t>
            </a:r>
          </a:p>
        </p:txBody>
      </p:sp>
      <p:sp>
        <p:nvSpPr>
          <p:cNvPr id="12" name="Rounded Rectangle 11"/>
          <p:cNvSpPr/>
          <p:nvPr/>
        </p:nvSpPr>
        <p:spPr>
          <a:xfrm>
            <a:off x="960120" y="1965960"/>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938528"/>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463040" y="2039112"/>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Recognize</a:t>
            </a:r>
          </a:p>
        </p:txBody>
      </p:sp>
      <p:sp>
        <p:nvSpPr>
          <p:cNvPr id="15" name="Rounded Rectangle 14"/>
          <p:cNvSpPr/>
          <p:nvPr/>
        </p:nvSpPr>
        <p:spPr>
          <a:xfrm>
            <a:off x="960120" y="2532888"/>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587752"/>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463040" y="2596896"/>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Stop and assess</a:t>
            </a:r>
          </a:p>
        </p:txBody>
      </p:sp>
      <p:sp>
        <p:nvSpPr>
          <p:cNvPr id="18" name="Rounded Rectangle 17"/>
          <p:cNvSpPr/>
          <p:nvPr/>
        </p:nvSpPr>
        <p:spPr>
          <a:xfrm>
            <a:off x="960120" y="3099815"/>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36976"/>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463040" y="3154680"/>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Notify and investigate</a:t>
            </a:r>
          </a:p>
        </p:txBody>
      </p:sp>
      <p:sp>
        <p:nvSpPr>
          <p:cNvPr id="21" name="Rounded Rectangle 20"/>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Use sequence misses to identify where the concept chain breaks.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RECOGNIZE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Recognize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Recognize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Treat new fever, chills, dyspnea, chest or back discomfort, hypotension, urticaria, or other acute change during transfusion as a possible reaction until evaluated.</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Recognize findings associated with a possible transfusion reaction.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STOP AND ASSESS</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Stop and assess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Stop and assess</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Stop the transfusion immediately, maintain venous access using new tubing and compatible solution according to policy, assess the patient, and obtain vital signs.</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Sequence immediate nursing actions.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NOTIFY AND INVESTIGATE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Notify and investigate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Notify and investigate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Notify the provider and transfusion service, follow emergency orders, and send the product, tubing, or specimens as required by organizational policy.</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Complete required notification and specimen/product handling.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Activity: match the cue to the move it calls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TextBox 7"/>
          <p:cNvSpPr txBox="1"/>
          <p:nvPr/>
        </p:nvSpPr>
        <p:spPr>
          <a:xfrm>
            <a:off x="731520" y="1005840"/>
            <a:ext cx="10698480" cy="256032"/>
          </a:xfrm>
          <a:prstGeom prst="rect">
            <a:avLst/>
          </a:prstGeom>
          <a:noFill/>
        </p:spPr>
        <p:txBody>
          <a:bodyPr wrap="square" anchor="t" lIns="27432" rIns="27432" tIns="18288" bIns="18288">
            <a:spAutoFit/>
          </a:bodyPr>
          <a:lstStyle/>
          <a:p>
            <a:pPr algn="l"/>
            <a:r>
              <a:rPr sz="950" b="1">
                <a:solidFill>
                  <a:srgbClr val="0F172A"/>
                </a:solidFill>
                <a:latin typeface="Aptos"/>
              </a:rPr>
              <a:t>Work with one partner: match each source to the cue or clinical meaning most directly involved.</a:t>
            </a:r>
          </a:p>
        </p:txBody>
      </p:sp>
      <p:sp>
        <p:nvSpPr>
          <p:cNvPr id="9" name="Rounded Rectangle 8"/>
          <p:cNvSpPr/>
          <p:nvPr/>
        </p:nvSpPr>
        <p:spPr>
          <a:xfrm>
            <a:off x="777240" y="1508760"/>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3" y="1655063"/>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18488"/>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A</a:t>
            </a:r>
          </a:p>
        </p:txBody>
      </p:sp>
      <p:sp>
        <p:nvSpPr>
          <p:cNvPr id="12" name="TextBox 11"/>
          <p:cNvSpPr txBox="1"/>
          <p:nvPr/>
        </p:nvSpPr>
        <p:spPr>
          <a:xfrm>
            <a:off x="941832" y="1947672"/>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A. The patient develops chills and dyspnea shortly after a transfusion begins.</a:t>
            </a:r>
          </a:p>
        </p:txBody>
      </p:sp>
      <p:sp>
        <p:nvSpPr>
          <p:cNvPr id="13" name="Rounded Rectangle 12"/>
          <p:cNvSpPr/>
          <p:nvPr/>
        </p:nvSpPr>
        <p:spPr>
          <a:xfrm>
            <a:off x="6537960" y="1508760"/>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92824" y="1655063"/>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2552" y="1618488"/>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1</a:t>
            </a:r>
          </a:p>
        </p:txBody>
      </p:sp>
      <p:sp>
        <p:nvSpPr>
          <p:cNvPr id="16" name="TextBox 15"/>
          <p:cNvSpPr txBox="1"/>
          <p:nvPr/>
        </p:nvSpPr>
        <p:spPr>
          <a:xfrm>
            <a:off x="6702552" y="1947672"/>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1. Recognize</a:t>
            </a:r>
          </a:p>
        </p:txBody>
      </p:sp>
      <p:sp>
        <p:nvSpPr>
          <p:cNvPr id="17" name="Rounded Rectangle 16"/>
          <p:cNvSpPr/>
          <p:nvPr/>
        </p:nvSpPr>
        <p:spPr>
          <a:xfrm>
            <a:off x="777240" y="2203704"/>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3" y="2350008"/>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2313432"/>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B</a:t>
            </a:r>
          </a:p>
        </p:txBody>
      </p:sp>
      <p:sp>
        <p:nvSpPr>
          <p:cNvPr id="20" name="TextBox 19"/>
          <p:cNvSpPr txBox="1"/>
          <p:nvPr/>
        </p:nvSpPr>
        <p:spPr>
          <a:xfrm>
            <a:off x="941832" y="2642616"/>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B. The transfusion has been stopped for a suspected reaction.</a:t>
            </a:r>
          </a:p>
        </p:txBody>
      </p:sp>
      <p:sp>
        <p:nvSpPr>
          <p:cNvPr id="21" name="Rounded Rectangle 20"/>
          <p:cNvSpPr/>
          <p:nvPr/>
        </p:nvSpPr>
        <p:spPr>
          <a:xfrm>
            <a:off x="6537960" y="2203704"/>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2824" y="2350008"/>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313432"/>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2</a:t>
            </a:r>
          </a:p>
        </p:txBody>
      </p:sp>
      <p:sp>
        <p:nvSpPr>
          <p:cNvPr id="24" name="TextBox 23"/>
          <p:cNvSpPr txBox="1"/>
          <p:nvPr/>
        </p:nvSpPr>
        <p:spPr>
          <a:xfrm>
            <a:off x="6702552" y="2642616"/>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2. Stop and assess</a:t>
            </a:r>
          </a:p>
        </p:txBody>
      </p:sp>
      <p:sp>
        <p:nvSpPr>
          <p:cNvPr id="25" name="Rounded Rectangle 24"/>
          <p:cNvSpPr/>
          <p:nvPr/>
        </p:nvSpPr>
        <p:spPr>
          <a:xfrm>
            <a:off x="777240" y="2898648"/>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2103" y="3044952"/>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3008376"/>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C</a:t>
            </a:r>
          </a:p>
        </p:txBody>
      </p:sp>
      <p:sp>
        <p:nvSpPr>
          <p:cNvPr id="28" name="TextBox 27"/>
          <p:cNvSpPr txBox="1"/>
          <p:nvPr/>
        </p:nvSpPr>
        <p:spPr>
          <a:xfrm>
            <a:off x="941832" y="3337560"/>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C. The patient's blood pressure is falling during the reaction.</a:t>
            </a:r>
          </a:p>
        </p:txBody>
      </p:sp>
      <p:sp>
        <p:nvSpPr>
          <p:cNvPr id="29" name="Rounded Rectangle 28"/>
          <p:cNvSpPr/>
          <p:nvPr/>
        </p:nvSpPr>
        <p:spPr>
          <a:xfrm>
            <a:off x="6537960" y="2898648"/>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2824" y="3044952"/>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2552" y="3008376"/>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3</a:t>
            </a:r>
          </a:p>
        </p:txBody>
      </p:sp>
      <p:sp>
        <p:nvSpPr>
          <p:cNvPr id="32" name="TextBox 31"/>
          <p:cNvSpPr txBox="1"/>
          <p:nvPr/>
        </p:nvSpPr>
        <p:spPr>
          <a:xfrm>
            <a:off x="6702552" y="3337560"/>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3. Notify and investigate</a:t>
            </a:r>
          </a:p>
        </p:txBody>
      </p:sp>
      <p:sp>
        <p:nvSpPr>
          <p:cNvPr id="33" name="Rounded Rectangle 32"/>
          <p:cNvSpPr/>
          <p:nvPr/>
        </p:nvSpPr>
        <p:spPr>
          <a:xfrm>
            <a:off x="777240" y="3593592"/>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3" y="3739896"/>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703320"/>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D</a:t>
            </a:r>
          </a:p>
        </p:txBody>
      </p:sp>
      <p:sp>
        <p:nvSpPr>
          <p:cNvPr id="36" name="TextBox 35"/>
          <p:cNvSpPr txBox="1"/>
          <p:nvPr/>
        </p:nvSpPr>
        <p:spPr>
          <a:xfrm>
            <a:off x="941832" y="4032504"/>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D. Symptoms improve after the unit is stopped.</a:t>
            </a:r>
          </a:p>
        </p:txBody>
      </p:sp>
      <p:sp>
        <p:nvSpPr>
          <p:cNvPr id="37" name="Rounded Rectangle 36"/>
          <p:cNvSpPr/>
          <p:nvPr/>
        </p:nvSpPr>
        <p:spPr>
          <a:xfrm>
            <a:off x="6537960" y="3593592"/>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92824" y="3739896"/>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3703320"/>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4</a:t>
            </a:r>
          </a:p>
        </p:txBody>
      </p:sp>
      <p:sp>
        <p:nvSpPr>
          <p:cNvPr id="40" name="TextBox 39"/>
          <p:cNvSpPr txBox="1"/>
          <p:nvPr/>
        </p:nvSpPr>
        <p:spPr>
          <a:xfrm>
            <a:off x="6702552" y="4032504"/>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4. Evaluate the result</a:t>
            </a:r>
          </a:p>
        </p:txBody>
      </p:sp>
      <p:sp>
        <p:nvSpPr>
          <p:cNvPr id="41" name="Rounded Rectangle 4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Output: write matches and one sentence explaining one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Debrief: the reasoning behind each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435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Stop the transfusion immediately and assess the patient.</a:t>
            </a:r>
          </a:p>
        </p:txBody>
      </p:sp>
      <p:sp>
        <p:nvSpPr>
          <p:cNvPr id="11" name="TextBox 10"/>
          <p:cNvSpPr txBox="1"/>
          <p:nvPr/>
        </p:nvSpPr>
        <p:spPr>
          <a:xfrm>
            <a:off x="667512"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Stopping exposure and assessing stability are the immediate priorities for a suspected reaction.</a:t>
            </a:r>
          </a:p>
        </p:txBody>
      </p:sp>
      <p:sp>
        <p:nvSpPr>
          <p:cNvPr id="12" name="Rounded Rectangle 11"/>
          <p:cNvSpPr/>
          <p:nvPr/>
        </p:nvSpPr>
        <p:spPr>
          <a:xfrm>
            <a:off x="6178143"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435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Maintain venous access with new tubing and compatible solu</a:t>
            </a:r>
          </a:p>
        </p:txBody>
      </p:sp>
      <p:sp>
        <p:nvSpPr>
          <p:cNvPr id="15" name="TextBox 14"/>
          <p:cNvSpPr txBox="1"/>
          <p:nvPr/>
        </p:nvSpPr>
        <p:spPr>
          <a:xfrm>
            <a:off x="6342735"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Separate tubing avoids infusing residual blood while preserving access for treatment.</a:t>
            </a:r>
          </a:p>
        </p:txBody>
      </p:sp>
      <p:sp>
        <p:nvSpPr>
          <p:cNvPr id="16" name="Rounded Rectangle 15"/>
          <p:cNvSpPr/>
          <p:nvPr/>
        </p:nvSpPr>
        <p:spPr>
          <a:xfrm>
            <a:off x="502920"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 y="264261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Activate urgent assistance and support airway, breathing, </a:t>
            </a:r>
          </a:p>
        </p:txBody>
      </p:sp>
      <p:sp>
        <p:nvSpPr>
          <p:cNvPr id="19" name="TextBox 18"/>
          <p:cNvSpPr txBox="1"/>
          <p:nvPr/>
        </p:nvSpPr>
        <p:spPr>
          <a:xfrm>
            <a:off x="667512"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Hemodynamic instability requires immediate escalation and resuscitative priorities.</a:t>
            </a:r>
          </a:p>
        </p:txBody>
      </p:sp>
      <p:sp>
        <p:nvSpPr>
          <p:cNvPr id="20" name="Rounded Rectangle 19"/>
          <p:cNvSpPr/>
          <p:nvPr/>
        </p:nvSpPr>
        <p:spPr>
          <a:xfrm>
            <a:off x="6178143"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264261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2735"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Continue the reaction protocol and do not restart the impl</a:t>
            </a:r>
          </a:p>
        </p:txBody>
      </p:sp>
      <p:sp>
        <p:nvSpPr>
          <p:cNvPr id="23" name="TextBox 22"/>
          <p:cNvSpPr txBox="1"/>
          <p:nvPr/>
        </p:nvSpPr>
        <p:spPr>
          <a:xfrm>
            <a:off x="6342735"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Improvement does not establish that the product is safe to resume.</a:t>
            </a:r>
          </a:p>
        </p:txBody>
      </p:sp>
      <p:sp>
        <p:nvSpPr>
          <p:cNvPr id="24" name="Rounded Rectangle 23"/>
          <p:cNvSpPr/>
          <p:nvPr/>
        </p:nvSpPr>
        <p:spPr>
          <a:xfrm>
            <a:off x="1188720" y="5989320"/>
            <a:ext cx="9784080" cy="41148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EA580C"/>
                </a:solidFill>
                <a:latin typeface="Aptos"/>
              </a:rPr>
              <a:t>Explain why each keyed action follows from its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The transfusion has been stopped for a suspected reaction. What should the nurse do?</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Delay action until the end of the shift.</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Document the finding without reassessment or follow-up.</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Maintain venous access with new tubing and compatible solution according to policy.</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Delegate the clinical judgment decision to unlicensed assistive personnel.</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Choose the best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Mini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The patient's blood pressure is falling during the reaction.</a:t>
            </a:r>
          </a:p>
        </p:txBody>
      </p:sp>
      <p:sp>
        <p:nvSpPr>
          <p:cNvPr id="12" name="Rounded Rectangle 11"/>
          <p:cNvSpPr/>
          <p:nvPr/>
        </p:nvSpPr>
        <p:spPr>
          <a:xfrm>
            <a:off x="502920"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Keyed action: Activate urgent assistance and support airway, breathing, and circulation while following emergency orders.
- Because: Hemodynamic instability requires immediate escalation and resuscitative priorities.</a:t>
            </a:r>
          </a:p>
        </p:txBody>
      </p:sp>
      <p:sp>
        <p:nvSpPr>
          <p:cNvPr id="16" name="Rounded Rectangle 15"/>
          <p:cNvSpPr/>
          <p:nvPr/>
        </p:nvSpPr>
        <p:spPr>
          <a:xfrm>
            <a:off x="6178143"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6342735"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Write one assessment sentence and one action sentence.</a:t>
            </a:r>
          </a:p>
        </p:txBody>
      </p:sp>
      <p:sp>
        <p:nvSpPr>
          <p:cNvPr id="20" name="Rounded Rectangle 1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Two sentences: what you assess, then what you 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SIGNAL</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Sort by urgency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now</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The patient develops chills and dyspnea shortly after a transfusion begins.
- The transfusion has been stopped for a suspected reaction.
- The patient's blood pressure is falling during the reaction.</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in sequence</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Symptoms improve after the unit is stopped.
- A possible reaction has been stabilized.</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Place each cue and justify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Documentation frame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New cue during transfusion</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First action</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Access maintained with</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Notifications</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Required follow-up</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Record the lesson's decisions in a reusable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choose the next safe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A possible reaction has been stabilized.</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priority nursing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Delay action until the end of the shift.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Notify the provider and transfusion service and complete required specimens and documentation.</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finding without reassessment or follow-up.</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Delegate the clinical judgment decision to unlicensed assistive personnel.</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Choose the priority 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Stop the transfusion first.</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Assess airway, breathing, circulation, and vital signs.</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Do not restart the implicated unit.</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Follow the transfusion-reaction protocol.</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Complete required notification and specimen/product handling.</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of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Stop The Transfusion First</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Stop the transfusion first.</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Assess Airway, Breathing, Circulation, A</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Assess airway, breathing, circulation, and vital signs.</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Do Not Restart The Implicated Unit</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Do not restart the implicated unit.</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Follow The Transfusion-Reaction Protocol</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Follow the transfusion-reaction protocol.</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Recognize new symptoms during transfusion, stop the blood product, maintain access with appropriate compatible fluid and tubing per policy, assess, and notify.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