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Recognition of an Acute Transfusion Reaction. Recognize new symptoms during transfusion, stop the blood product, maintain access with appropriate compatible fluid and tubing per policy, assess, and notify. Five lanes carry the lesson: recognize, stop and assess, notify and investigate, apply, evaluate.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one cue. The patient develops chills and dyspnea shortly after a transfusion begins. Decide what you would do before the lesson tells you, and hold on to it; the same cue returns as the first assessment item.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organizes the lesson: Recognize new symptoms during transfusion, stop the blood product, maintain access with appropriate compatible fluid and tubing per policy, assess, and notify.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first. The three teaching lanes are the topic's own sections; apply and evaluate close the loop.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before any of this is taught. These three headings are the whole lesson in order, but they are shuffled on the slide. Put them in the sequence the nurse actually performs them at the bedside, then compare with a neighbour before the reveal. Getting the order wrong here is more useful than getting it right: it shows you which move you would have skipped under pressure.</a:t>
            </a:r>
          </a:p>
          <a:p/>
          <a:p>
            <a:r>
              <a:t>ANSWER KEY:</a:t>
            </a:r>
          </a:p>
          <a:p>
            <a:r>
              <a:t>- Recognize</a:t>
            </a:r>
          </a:p>
          <a:p>
            <a:r>
              <a:t>- Stop and assess</a:t>
            </a:r>
          </a:p>
          <a:p>
            <a:r>
              <a:t>- Notify and investigate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Recognize. Treat new fever, chills, dyspnea, chest or back discomfort, hypotension, urticaria, or other acute change during transfusion as a possible reaction until evaluated. Everything on this slide is the source topic's own wording; the bullets are that same sentence broken up for the screen. This is lane 1 of 3, and it answers: Recognize findings associated with a possible transfusion reaction.</a:t>
            </a:r>
          </a:p>
          <a:p/>
          <a:p>
            <a:r>
              <a:t>VISUAL NOTES: Section 1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and assess. Stop the transfusion immediately, maintain venous access using new tubing and compatible solution according to policy, assess the patient, and obtain vital signs. Everything on this slide is the source topic's own wording; the bullets are that same sentence broken up for the screen. This is lane 2 of 3, and it answers: Sequence immediate nursing actions.</a:t>
            </a:r>
          </a:p>
          <a:p/>
          <a:p>
            <a:r>
              <a:t>VISUAL NOTES: Section 2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Notify and investigate. Notify the provider and transfusion service, follow emergency orders, and send the product, tubing, or specimens as required by organizational policy. Everything on this slide is the source topic's own wording; the bullets are that same sentence broken up for the screen. This is lane 3 of 3, and it answers: Complete required notification and specimen/product handling.</a:t>
            </a:r>
          </a:p>
          <a:p/>
          <a:p>
            <a:r>
              <a:t>VISUAL NOTES: Section 3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with one partner. Match each cue to the section of the lesson that tells you what to do with it.</a:t>
            </a:r>
          </a:p>
          <a:p/>
          <a:p>
            <a:r>
              <a:t>ANSWER KEY:</a:t>
            </a:r>
          </a:p>
          <a:p>
            <a:r>
              <a:t>- A relates to: Recognize</a:t>
            </a:r>
          </a:p>
          <a:p>
            <a:r>
              <a:t>- B relates to: Stop and assess</a:t>
            </a:r>
          </a:p>
          <a:p>
            <a:r>
              <a:t>- C relates to: Notify and investigate</a:t>
            </a:r>
          </a:p>
          <a:p>
            <a:r>
              <a:t>- D relates to: Notify and investigate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rationale below is the topic's own. Read them as a set: they describe one habit of mind, not five rules.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and it targets the middle of the lesson. The cue is: The transfusion has been stopped for a suspected reaction. Read all four options and commit to one before the reveal, because the value of a checkpoint is in being wrong out loud rather than quietly. The reasoning you are being tested on is this: Separate tubing avoids infusing residual blood while preserving access for treatment.</a:t>
            </a:r>
          </a:p>
          <a:p/>
          <a:p>
            <a:r>
              <a:t>CORRECT: C</a:t>
            </a:r>
          </a:p>
          <a:p>
            <a:r>
              <a:t>RATIONALE: Separate tubing avoids infusing residual blood while preserving access for treatment.</a:t>
            </a:r>
          </a:p>
          <a:p/>
          <a:p>
            <a:r>
              <a:t>ANSWER KEY:</a:t>
            </a:r>
          </a:p>
          <a:p>
            <a:r>
              <a:t>- C. Maintain venous access with new tubing and compatible solution according to policy.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bedside moment, and this time you write rather than choose. The situation: The patient's blood pressure is falling during the reaction. Write two sentences before the debrief: one naming what you assess, one naming what you do about it. Keep them in that order, because the order is the judgement. The keyed reasoning is: Hemodynamic instability requires immediate escalation and resuscitative priorities.</a:t>
            </a:r>
          </a:p>
          <a:p/>
          <a:p>
            <a:r>
              <a:t>ANSWER KEY:</a:t>
            </a:r>
          </a:p>
          <a:p>
            <a:r>
              <a:t>- Activate urgent assistance and support airway, breathing, and circulation while following emergency orders.</a:t>
            </a:r>
          </a:p>
          <a:p>
            <a:r>
              <a:t>- Hemodynamic instability requires immediate escalation and resuscitative priorities.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and the sorting rule is the point of the slide. Put a cue on the left when delay changes the outcome for the patient, and on the right when the correct action is verification, planning or teaching that a short delay does not worsen. Justify one of your placements aloud. Learners who can sort these reliably are the ones who prioritise well under load.</a:t>
            </a:r>
          </a:p>
          <a:p/>
          <a:p>
            <a:r>
              <a:t>ANSWER KEY:</a:t>
            </a:r>
          </a:p>
          <a:p>
            <a:r>
              <a:t>- Act now: the cues whose keyed action is immediate</a:t>
            </a:r>
          </a:p>
          <a:p>
            <a:r>
              <a:t>- Act in sequence: the cues whose keyed action is verification or planning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fields the topic asks you to be able to fill in for any patient. If you cannot complete one, that is the part of the assessment still to 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question, and the hardest cue the topic carries: A possible reaction has been stabilized. All four options are things a nurse might plausibly do, which is what makes it a capstone rather than a checkpoint. Choose the priority action, not merely a defensible one. The reasoning that separates them: Investigation and reporting support diagnosis, treatment, and prevention of further harm.</a:t>
            </a:r>
          </a:p>
          <a:p/>
          <a:p>
            <a:r>
              <a:t>CORRECT: B</a:t>
            </a:r>
          </a:p>
          <a:p>
            <a:r>
              <a:t>RATIONALE: Investigation and reporting support diagnosis, treatment, and prevention of further harm.</a:t>
            </a:r>
          </a:p>
          <a:p/>
          <a:p>
            <a:r>
              <a:t>ANSWER KEY:</a:t>
            </a:r>
          </a:p>
          <a:p>
            <a:r>
              <a:t>- B. Notify the provider and transfusion service and complete required specimens and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with no notes. Answer each of these aloud or on paper, one per lane of the lesson. The answers are on the slides you have just seen and in the facilitator guide, so this is retrieval rather than assessment. If any one of them produces silence across the room, that is the lane to re-teach before this cohort meets the situation on a real unit.</a:t>
            </a:r>
          </a:p>
          <a:p/>
          <a:p>
            <a:r>
              <a:t>ANSWER KEY:</a:t>
            </a:r>
          </a:p>
          <a:p>
            <a:r>
              <a:t>- Stop the transfusion first.</a:t>
            </a:r>
          </a:p>
          <a:p>
            <a:r>
              <a:t>- Assess airway, breathing, circulation, and vital signs.</a:t>
            </a:r>
          </a:p>
          <a:p>
            <a:r>
              <a:t>- Do not restart the implicated unit.</a:t>
            </a:r>
          </a:p>
          <a:p>
            <a:r>
              <a:t>- Follow the transfusion-reaction protocol.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frame.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02920" y="457200"/>
            <a:ext cx="2194560" cy="182880"/>
          </a:xfrm>
          <a:prstGeom prst="rect">
            <a:avLst/>
          </a:prstGeom>
          <a:noFill/>
        </p:spPr>
        <p:txBody>
          <a:bodyPr wrap="square" anchor="t" lIns="27432" rIns="27432" tIns="18288" bIns="18288">
            <a:spAutoFit/>
          </a:bodyPr>
          <a:lstStyle/>
          <a:p>
            <a:pPr algn="l"/>
            <a:r>
              <a:rPr sz="720" b="1">
                <a:solidFill>
                  <a:srgbClr val="2563EB"/>
                </a:solidFill>
                <a:latin typeface="Aptos"/>
              </a:rPr>
              <a:t>OPEN</a:t>
            </a:r>
          </a:p>
        </p:txBody>
      </p:sp>
      <p:sp>
        <p:nvSpPr>
          <p:cNvPr id="3" name="TextBox 2"/>
          <p:cNvSpPr txBox="1"/>
          <p:nvPr/>
        </p:nvSpPr>
        <p:spPr>
          <a:xfrm>
            <a:off x="502920" y="822960"/>
            <a:ext cx="7498079" cy="548640"/>
          </a:xfrm>
          <a:prstGeom prst="rect">
            <a:avLst/>
          </a:prstGeom>
          <a:noFill/>
        </p:spPr>
        <p:txBody>
          <a:bodyPr wrap="square" anchor="t" lIns="27432" rIns="27432" tIns="18288" bIns="18288">
            <a:spAutoFit/>
          </a:bodyPr>
          <a:lstStyle/>
          <a:p>
            <a:pPr algn="l"/>
            <a:r>
              <a:rPr sz="2800" b="1">
                <a:solidFill>
                  <a:srgbClr val="0F172A"/>
                </a:solidFill>
                <a:latin typeface="Aptos"/>
              </a:rPr>
              <a:t>Recognition of an Acute Transfusion Reaction</a:t>
            </a:r>
          </a:p>
        </p:txBody>
      </p:sp>
      <p:sp>
        <p:nvSpPr>
          <p:cNvPr id="4" name="TextBox 3"/>
          <p:cNvSpPr txBox="1"/>
          <p:nvPr/>
        </p:nvSpPr>
        <p:spPr>
          <a:xfrm>
            <a:off x="530352" y="1463040"/>
            <a:ext cx="7589520" cy="438912"/>
          </a:xfrm>
          <a:prstGeom prst="rect">
            <a:avLst/>
          </a:prstGeom>
          <a:noFill/>
        </p:spPr>
        <p:txBody>
          <a:bodyPr wrap="square" anchor="t" lIns="27432" rIns="27432" tIns="18288" bIns="18288">
            <a:spAutoFit/>
          </a:bodyPr>
          <a:lstStyle/>
          <a:p>
            <a:pPr algn="l"/>
            <a:r>
              <a:rPr sz="1200" b="0">
                <a:solidFill>
                  <a:srgbClr val="475569"/>
                </a:solidFill>
                <a:latin typeface="Aptos"/>
              </a:rPr>
              <a:t>NCLEX  ·  Reduction of Risk Potential  ·  Recognition_of_an_Acute_Transfusion_Reac</a:t>
            </a:r>
          </a:p>
        </p:txBody>
      </p:sp>
      <p:sp>
        <p:nvSpPr>
          <p:cNvPr id="5" name="Rounded Rectangle 4"/>
          <p:cNvSpPr/>
          <p:nvPr/>
        </p:nvSpPr>
        <p:spPr>
          <a:xfrm>
            <a:off x="502920" y="2331720"/>
            <a:ext cx="530352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7784" y="2478024"/>
            <a:ext cx="45720" cy="758951"/>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244144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clinical question</a:t>
            </a:r>
          </a:p>
        </p:txBody>
      </p:sp>
      <p:sp>
        <p:nvSpPr>
          <p:cNvPr id="8" name="TextBox 7"/>
          <p:cNvSpPr txBox="1"/>
          <p:nvPr/>
        </p:nvSpPr>
        <p:spPr>
          <a:xfrm>
            <a:off x="667512" y="2770632"/>
            <a:ext cx="5047488" cy="521207"/>
          </a:xfrm>
          <a:prstGeom prst="rect">
            <a:avLst/>
          </a:prstGeom>
          <a:noFill/>
        </p:spPr>
        <p:txBody>
          <a:bodyPr wrap="square" anchor="t" lIns="27432" rIns="27432" tIns="18288" bIns="18288">
            <a:spAutoFit/>
          </a:bodyPr>
          <a:lstStyle/>
          <a:p>
            <a:pPr algn="l"/>
            <a:r>
              <a:rPr sz="900" b="0">
                <a:solidFill>
                  <a:srgbClr val="475569"/>
                </a:solidFill>
                <a:latin typeface="Aptos"/>
              </a:rPr>
              <a:t>Recognize new symptoms during transfusion, stop the blood product, maintain access with appropriate compatible fluid and tubing per policy, assess, and notify.</a:t>
            </a:r>
          </a:p>
        </p:txBody>
      </p:sp>
      <p:sp>
        <p:nvSpPr>
          <p:cNvPr id="9" name="Rounded Rectangle 8"/>
          <p:cNvSpPr/>
          <p:nvPr/>
        </p:nvSpPr>
        <p:spPr>
          <a:xfrm>
            <a:off x="502920" y="3611880"/>
            <a:ext cx="5303520" cy="132588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7784" y="3758184"/>
            <a:ext cx="45720" cy="1033271"/>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72160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today is not a vocabulary tour</a:t>
            </a:r>
          </a:p>
        </p:txBody>
      </p:sp>
      <p:sp>
        <p:nvSpPr>
          <p:cNvPr id="12" name="TextBox 11"/>
          <p:cNvSpPr txBox="1"/>
          <p:nvPr/>
        </p:nvSpPr>
        <p:spPr>
          <a:xfrm>
            <a:off x="667512" y="4050791"/>
            <a:ext cx="5047488" cy="795528"/>
          </a:xfrm>
          <a:prstGeom prst="rect">
            <a:avLst/>
          </a:prstGeom>
          <a:noFill/>
        </p:spPr>
        <p:txBody>
          <a:bodyPr wrap="square" anchor="t" lIns="27432" rIns="27432" tIns="18288" bIns="18288">
            <a:spAutoFit/>
          </a:bodyPr>
          <a:lstStyle/>
          <a:p>
            <a:pPr algn="l"/>
            <a:r>
              <a:rPr sz="900" b="0">
                <a:solidFill>
                  <a:srgbClr val="475569"/>
                </a:solidFill>
                <a:latin typeface="Aptos"/>
              </a:rPr>
              <a:t>you will use the science only when it explains a patient question or a safety decision.</a:t>
            </a:r>
          </a:p>
        </p:txBody>
      </p:sp>
      <p:sp>
        <p:nvSpPr>
          <p:cNvPr id="13" name="Rounded Rectangle 12"/>
          <p:cNvSpPr/>
          <p:nvPr/>
        </p:nvSpPr>
        <p:spPr>
          <a:xfrm>
            <a:off x="8458200" y="502920"/>
            <a:ext cx="1965960" cy="196596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0" y="914400"/>
            <a:ext cx="1417320" cy="274320"/>
          </a:xfrm>
          <a:prstGeom prst="rect">
            <a:avLst/>
          </a:prstGeom>
          <a:noFill/>
        </p:spPr>
        <p:txBody>
          <a:bodyPr wrap="square" anchor="t" lIns="27432" rIns="27432" tIns="18288" bIns="18288">
            <a:spAutoFit/>
          </a:bodyPr>
          <a:lstStyle/>
          <a:p>
            <a:pPr algn="ctr"/>
            <a:r>
              <a:rPr sz="1300" b="1">
                <a:solidFill>
                  <a:srgbClr val="2563EB"/>
                </a:solidFill>
                <a:latin typeface="Aptos"/>
              </a:rPr>
              <a:t>Nurse lens</a:t>
            </a:r>
          </a:p>
        </p:txBody>
      </p:sp>
      <p:sp>
        <p:nvSpPr>
          <p:cNvPr id="15" name="TextBox 14"/>
          <p:cNvSpPr txBox="1"/>
          <p:nvPr/>
        </p:nvSpPr>
        <p:spPr>
          <a:xfrm>
            <a:off x="8915400" y="1234440"/>
            <a:ext cx="1097280" cy="685800"/>
          </a:xfrm>
          <a:prstGeom prst="rect">
            <a:avLst/>
          </a:prstGeom>
          <a:noFill/>
        </p:spPr>
        <p:txBody>
          <a:bodyPr wrap="square" anchor="t" lIns="27432" rIns="27432" tIns="18288" bIns="18288">
            <a:spAutoFit/>
          </a:bodyPr>
          <a:lstStyle/>
          <a:p>
            <a:pPr algn="ctr"/>
            <a:r>
              <a:rPr sz="1000" b="1">
                <a:solidFill>
                  <a:srgbClr val="0F172A"/>
                </a:solidFill>
                <a:latin typeface="Aptos"/>
              </a:rPr>
              <a:t>TEACH
ASSESS
ESCALATE</a:t>
            </a:r>
          </a:p>
        </p:txBody>
      </p:sp>
      <p:sp>
        <p:nvSpPr>
          <p:cNvPr id="16" name="Rounded Rectangle 15"/>
          <p:cNvSpPr/>
          <p:nvPr/>
        </p:nvSpPr>
        <p:spPr>
          <a:xfrm>
            <a:off x="64008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94944" y="5404104"/>
            <a:ext cx="45720" cy="365759"/>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1"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1</a:t>
            </a:r>
          </a:p>
        </p:txBody>
      </p:sp>
      <p:sp>
        <p:nvSpPr>
          <p:cNvPr id="19" name="TextBox 18"/>
          <p:cNvSpPr txBox="1"/>
          <p:nvPr/>
        </p:nvSpPr>
        <p:spPr>
          <a:xfrm>
            <a:off x="804671"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Recognition of an Acute Transfusion Reaction</a:t>
            </a:r>
          </a:p>
        </p:txBody>
      </p:sp>
      <p:sp>
        <p:nvSpPr>
          <p:cNvPr id="20" name="Rounded Rectangle 19"/>
          <p:cNvSpPr/>
          <p:nvPr/>
        </p:nvSpPr>
        <p:spPr>
          <a:xfrm>
            <a:off x="342900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83864" y="5404104"/>
            <a:ext cx="45720" cy="365759"/>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93592"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2</a:t>
            </a:r>
          </a:p>
        </p:txBody>
      </p:sp>
      <p:sp>
        <p:nvSpPr>
          <p:cNvPr id="23" name="TextBox 22"/>
          <p:cNvSpPr txBox="1"/>
          <p:nvPr/>
        </p:nvSpPr>
        <p:spPr>
          <a:xfrm>
            <a:off x="3593592"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Prelicensure RN · Reduction of Risk Potential · safety risk: high</a:t>
            </a:r>
          </a:p>
        </p:txBody>
      </p:sp>
      <p:sp>
        <p:nvSpPr>
          <p:cNvPr id="24" name="TextBox 23"/>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25" name="TextBox 24"/>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S01  ·  instructor-added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OPEN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Opening case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S02  ·  source-aligned</a:t>
            </a:r>
          </a:p>
        </p:txBody>
      </p:sp>
      <p:sp>
        <p:nvSpPr>
          <p:cNvPr id="8" name="Rounded Rectangle 7"/>
          <p:cNvSpPr/>
          <p:nvPr/>
        </p:nvSpPr>
        <p:spPr>
          <a:xfrm>
            <a:off x="548640" y="1097280"/>
            <a:ext cx="5394960" cy="1325880"/>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3503" y="1243584"/>
            <a:ext cx="45720" cy="1033271"/>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7"/>
            <a:ext cx="5138928" cy="292608"/>
          </a:xfrm>
          <a:prstGeom prst="rect">
            <a:avLst/>
          </a:prstGeom>
          <a:noFill/>
        </p:spPr>
        <p:txBody>
          <a:bodyPr wrap="square" anchor="t" lIns="27432" rIns="27432" tIns="18288" bIns="18288">
            <a:spAutoFit/>
          </a:bodyPr>
          <a:lstStyle/>
          <a:p>
            <a:pPr algn="l"/>
            <a:r>
              <a:rPr sz="1300" b="1">
                <a:solidFill>
                  <a:srgbClr val="0F172A"/>
                </a:solidFill>
                <a:latin typeface="Aptos"/>
              </a:rPr>
              <a:t>patient says</a:t>
            </a:r>
          </a:p>
        </p:txBody>
      </p:sp>
      <p:sp>
        <p:nvSpPr>
          <p:cNvPr id="11" name="TextBox 10"/>
          <p:cNvSpPr txBox="1"/>
          <p:nvPr/>
        </p:nvSpPr>
        <p:spPr>
          <a:xfrm>
            <a:off x="713232" y="1536192"/>
            <a:ext cx="5138928" cy="795528"/>
          </a:xfrm>
          <a:prstGeom prst="rect">
            <a:avLst/>
          </a:prstGeom>
          <a:noFill/>
        </p:spPr>
        <p:txBody>
          <a:bodyPr wrap="square" anchor="t" lIns="27432" rIns="27432" tIns="18288" bIns="18288">
            <a:spAutoFit/>
          </a:bodyPr>
          <a:lstStyle/>
          <a:p>
            <a:pPr algn="l"/>
            <a:r>
              <a:rPr sz="1000" b="0">
                <a:solidFill>
                  <a:srgbClr val="475569"/>
                </a:solidFill>
                <a:latin typeface="Aptos"/>
              </a:rPr>
              <a:t>The patient develops chills and dyspnea shortly after a transfusion begins.</a:t>
            </a:r>
          </a:p>
        </p:txBody>
      </p:sp>
      <p:sp>
        <p:nvSpPr>
          <p:cNvPr id="12" name="Rounded Rectangle 11"/>
          <p:cNvSpPr/>
          <p:nvPr/>
        </p:nvSpPr>
        <p:spPr>
          <a:xfrm>
            <a:off x="54864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3503" y="2889504"/>
            <a:ext cx="45720" cy="153619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know so far</a:t>
            </a:r>
          </a:p>
        </p:txBody>
      </p:sp>
      <p:sp>
        <p:nvSpPr>
          <p:cNvPr id="15" name="TextBox 14"/>
          <p:cNvSpPr txBox="1"/>
          <p:nvPr/>
        </p:nvSpPr>
        <p:spPr>
          <a:xfrm>
            <a:off x="713232" y="3182112"/>
            <a:ext cx="2395728" cy="1298448"/>
          </a:xfrm>
          <a:prstGeom prst="rect">
            <a:avLst/>
          </a:prstGeom>
          <a:noFill/>
        </p:spPr>
        <p:txBody>
          <a:bodyPr wrap="square" anchor="t" lIns="27432" rIns="27432" tIns="18288" bIns="18288">
            <a:spAutoFit/>
          </a:bodyPr>
          <a:lstStyle/>
          <a:p>
            <a:pPr algn="l"/>
            <a:r>
              <a:rPr sz="850" b="0">
                <a:solidFill>
                  <a:srgbClr val="475569"/>
                </a:solidFill>
                <a:latin typeface="Aptos"/>
              </a:rPr>
              <a:t>- Objective in play: Recognize findings associated with a possible transfusion reaction.
- Concept: Complication Recognition</a:t>
            </a:r>
          </a:p>
        </p:txBody>
      </p:sp>
      <p:sp>
        <p:nvSpPr>
          <p:cNvPr id="16" name="Rounded Rectangle 15"/>
          <p:cNvSpPr/>
          <p:nvPr/>
        </p:nvSpPr>
        <p:spPr>
          <a:xfrm>
            <a:off x="342900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83864" y="2889504"/>
            <a:ext cx="45720" cy="1536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9359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do not know yet</a:t>
            </a:r>
          </a:p>
        </p:txBody>
      </p:sp>
      <p:sp>
        <p:nvSpPr>
          <p:cNvPr id="19" name="Rounded Rectangle 18"/>
          <p:cNvSpPr/>
          <p:nvPr/>
        </p:nvSpPr>
        <p:spPr>
          <a:xfrm>
            <a:off x="6629400" y="1097280"/>
            <a:ext cx="4389120" cy="3520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84264" y="1243584"/>
            <a:ext cx="45720" cy="3227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93992" y="1207007"/>
            <a:ext cx="4133087" cy="292608"/>
          </a:xfrm>
          <a:prstGeom prst="rect">
            <a:avLst/>
          </a:prstGeom>
          <a:noFill/>
        </p:spPr>
        <p:txBody>
          <a:bodyPr wrap="square" anchor="t" lIns="27432" rIns="27432" tIns="18288" bIns="18288">
            <a:spAutoFit/>
          </a:bodyPr>
          <a:lstStyle/>
          <a:p>
            <a:pPr algn="l"/>
            <a:r>
              <a:rPr sz="1400" b="1">
                <a:solidFill>
                  <a:srgbClr val="0F172A"/>
                </a:solidFill>
                <a:latin typeface="Aptos"/>
              </a:rPr>
              <a:t>your first task</a:t>
            </a:r>
          </a:p>
        </p:txBody>
      </p:sp>
      <p:sp>
        <p:nvSpPr>
          <p:cNvPr id="22" name="TextBox 21"/>
          <p:cNvSpPr txBox="1"/>
          <p:nvPr/>
        </p:nvSpPr>
        <p:spPr>
          <a:xfrm>
            <a:off x="6793992" y="1536192"/>
            <a:ext cx="4133087" cy="2990088"/>
          </a:xfrm>
          <a:prstGeom prst="rect">
            <a:avLst/>
          </a:prstGeom>
          <a:noFill/>
        </p:spPr>
        <p:txBody>
          <a:bodyPr wrap="square" anchor="t" lIns="27432" rIns="27432" tIns="18288" bIns="18288">
            <a:spAutoFit/>
          </a:bodyPr>
          <a:lstStyle/>
          <a:p>
            <a:pPr algn="l"/>
            <a:r>
              <a:rPr sz="1000" b="0">
                <a:solidFill>
                  <a:srgbClr val="475569"/>
                </a:solidFill>
                <a:latin typeface="Aptos"/>
              </a:rPr>
              <a:t>Thirty seconds: what is your first action, and why that one first?</a:t>
            </a:r>
          </a:p>
        </p:txBody>
      </p:sp>
      <p:sp>
        <p:nvSpPr>
          <p:cNvPr id="23" name="Rounded Rectangle 22"/>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Before facts: decide what information is missing and what could be unsafe.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The question this lesson answers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S03  ·  instructor-added</a:t>
            </a:r>
          </a:p>
        </p:txBody>
      </p:sp>
      <p:sp>
        <p:nvSpPr>
          <p:cNvPr id="8" name="Rounded Rectangle 7"/>
          <p:cNvSpPr/>
          <p:nvPr/>
        </p:nvSpPr>
        <p:spPr>
          <a:xfrm>
            <a:off x="1463040" y="960120"/>
            <a:ext cx="9235440" cy="77724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91640" y="1143000"/>
            <a:ext cx="8778240" cy="384048"/>
          </a:xfrm>
          <a:prstGeom prst="rect">
            <a:avLst/>
          </a:prstGeom>
          <a:noFill/>
        </p:spPr>
        <p:txBody>
          <a:bodyPr wrap="square" anchor="ctr" lIns="27432" rIns="27432" tIns="18288" bIns="18288">
            <a:spAutoFit/>
          </a:bodyPr>
          <a:lstStyle/>
          <a:p>
            <a:pPr algn="ctr"/>
            <a:r>
              <a:rPr sz="1600" b="1">
                <a:solidFill>
                  <a:srgbClr val="FFFFFF"/>
                </a:solidFill>
                <a:latin typeface="Aptos"/>
              </a:rPr>
              <a:t>Recognize new symptoms during transfusion, stop the blood product, maintain access with appropriate compatible fluid and tubing per policy, assess, and notify.</a:t>
            </a:r>
          </a:p>
        </p:txBody>
      </p:sp>
      <p:sp>
        <p:nvSpPr>
          <p:cNvPr id="10" name="Rounded Rectangle 9"/>
          <p:cNvSpPr/>
          <p:nvPr/>
        </p:nvSpPr>
        <p:spPr>
          <a:xfrm>
            <a:off x="594360"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 y="2295144"/>
            <a:ext cx="45720" cy="882396"/>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Recognize</a:t>
            </a:r>
          </a:p>
        </p:txBody>
      </p:sp>
      <p:sp>
        <p:nvSpPr>
          <p:cNvPr id="13" name="TextBox 12"/>
          <p:cNvSpPr txBox="1"/>
          <p:nvPr/>
        </p:nvSpPr>
        <p:spPr>
          <a:xfrm>
            <a:off x="758952"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Recognize</a:t>
            </a:r>
          </a:p>
        </p:txBody>
      </p:sp>
      <p:sp>
        <p:nvSpPr>
          <p:cNvPr id="14" name="Rounded Rectangle 13"/>
          <p:cNvSpPr/>
          <p:nvPr/>
        </p:nvSpPr>
        <p:spPr>
          <a:xfrm>
            <a:off x="3386251"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41115" y="2295144"/>
            <a:ext cx="45720" cy="882396"/>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0843"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Stop And Assess</a:t>
            </a:r>
          </a:p>
        </p:txBody>
      </p:sp>
      <p:sp>
        <p:nvSpPr>
          <p:cNvPr id="17" name="TextBox 16"/>
          <p:cNvSpPr txBox="1"/>
          <p:nvPr/>
        </p:nvSpPr>
        <p:spPr>
          <a:xfrm>
            <a:off x="3550843"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Stop and assess</a:t>
            </a:r>
          </a:p>
        </p:txBody>
      </p:sp>
      <p:sp>
        <p:nvSpPr>
          <p:cNvPr id="18" name="Rounded Rectangle 17"/>
          <p:cNvSpPr/>
          <p:nvPr/>
        </p:nvSpPr>
        <p:spPr>
          <a:xfrm>
            <a:off x="6178143"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2295144"/>
            <a:ext cx="45720" cy="882396"/>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2735"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Notify And Investigate</a:t>
            </a:r>
          </a:p>
        </p:txBody>
      </p:sp>
      <p:sp>
        <p:nvSpPr>
          <p:cNvPr id="21" name="TextBox 20"/>
          <p:cNvSpPr txBox="1"/>
          <p:nvPr/>
        </p:nvSpPr>
        <p:spPr>
          <a:xfrm>
            <a:off x="6342735"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Notify and investigate</a:t>
            </a:r>
          </a:p>
        </p:txBody>
      </p:sp>
      <p:sp>
        <p:nvSpPr>
          <p:cNvPr id="22" name="Rounded Rectangle 21"/>
          <p:cNvSpPr/>
          <p:nvPr/>
        </p:nvSpPr>
        <p:spPr>
          <a:xfrm>
            <a:off x="8970035"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24899" y="2295144"/>
            <a:ext cx="45720" cy="882396"/>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34627"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Apply</a:t>
            </a:r>
          </a:p>
        </p:txBody>
      </p:sp>
      <p:sp>
        <p:nvSpPr>
          <p:cNvPr id="25" name="TextBox 24"/>
          <p:cNvSpPr txBox="1"/>
          <p:nvPr/>
        </p:nvSpPr>
        <p:spPr>
          <a:xfrm>
            <a:off x="9134627"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case and items</a:t>
            </a:r>
          </a:p>
        </p:txBody>
      </p:sp>
      <p:sp>
        <p:nvSpPr>
          <p:cNvPr id="26" name="Rounded Rectangle 25"/>
          <p:cNvSpPr/>
          <p:nvPr/>
        </p:nvSpPr>
        <p:spPr>
          <a:xfrm>
            <a:off x="594360" y="3488436"/>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9224" y="3634740"/>
            <a:ext cx="45720" cy="882396"/>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3598164"/>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Evaluate</a:t>
            </a:r>
          </a:p>
        </p:txBody>
      </p:sp>
      <p:sp>
        <p:nvSpPr>
          <p:cNvPr id="29" name="TextBox 28"/>
          <p:cNvSpPr txBox="1"/>
          <p:nvPr/>
        </p:nvSpPr>
        <p:spPr>
          <a:xfrm>
            <a:off x="758952" y="3927348"/>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retrieval; takeaway</a:t>
            </a:r>
          </a:p>
        </p:txBody>
      </p:sp>
      <p:sp>
        <p:nvSpPr>
          <p:cNvPr id="30" name="Rounded Rectangle 2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Every concept must answer: what do I teach, what do I assess, what must I escalate?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Lesson map</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4</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S04  ·  instructor-added</a:t>
            </a:r>
          </a:p>
        </p:txBody>
      </p:sp>
      <p:cxnSp>
        <p:nvCxnSpPr>
          <p:cNvPr id="7" name="Connector 6"/>
          <p:cNvCxnSpPr/>
          <p:nvPr/>
        </p:nvCxnSpPr>
        <p:spPr>
          <a:xfrm>
            <a:off x="1143000" y="2148840"/>
            <a:ext cx="9601200" cy="0"/>
          </a:xfrm>
          <a:prstGeom prst="line">
            <a:avLst/>
          </a:prstGeom>
          <a:ln w="38100">
            <a:solidFill>
              <a:srgbClr val="D7DFEA"/>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03503" y="1975104"/>
            <a:ext cx="347472" cy="347472"/>
          </a:xfrm>
          <a:prstGeom prst="round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1</a:t>
            </a:r>
          </a:p>
        </p:txBody>
      </p:sp>
      <p:sp>
        <p:nvSpPr>
          <p:cNvPr id="10" name="TextBox 9"/>
          <p:cNvSpPr txBox="1"/>
          <p:nvPr/>
        </p:nvSpPr>
        <p:spPr>
          <a:xfrm>
            <a:off x="91439"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Recognize</a:t>
            </a:r>
          </a:p>
        </p:txBody>
      </p:sp>
      <p:sp>
        <p:nvSpPr>
          <p:cNvPr id="11" name="TextBox 10"/>
          <p:cNvSpPr txBox="1"/>
          <p:nvPr/>
        </p:nvSpPr>
        <p:spPr>
          <a:xfrm>
            <a:off x="45719"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Recognize</a:t>
            </a:r>
          </a:p>
        </p:txBody>
      </p:sp>
      <p:sp>
        <p:nvSpPr>
          <p:cNvPr id="12" name="Rounded Rectangle 11"/>
          <p:cNvSpPr/>
          <p:nvPr/>
        </p:nvSpPr>
        <p:spPr>
          <a:xfrm>
            <a:off x="3186684" y="1975104"/>
            <a:ext cx="347472" cy="347472"/>
          </a:xfrm>
          <a:prstGeom prst="round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5069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2</a:t>
            </a:r>
          </a:p>
        </p:txBody>
      </p:sp>
      <p:sp>
        <p:nvSpPr>
          <p:cNvPr id="14" name="TextBox 13"/>
          <p:cNvSpPr txBox="1"/>
          <p:nvPr/>
        </p:nvSpPr>
        <p:spPr>
          <a:xfrm>
            <a:off x="267462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Stop And Assess</a:t>
            </a:r>
          </a:p>
        </p:txBody>
      </p:sp>
      <p:sp>
        <p:nvSpPr>
          <p:cNvPr id="15" name="TextBox 14"/>
          <p:cNvSpPr txBox="1"/>
          <p:nvPr/>
        </p:nvSpPr>
        <p:spPr>
          <a:xfrm>
            <a:off x="262890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Stop and assess</a:t>
            </a:r>
          </a:p>
        </p:txBody>
      </p:sp>
      <p:sp>
        <p:nvSpPr>
          <p:cNvPr id="16" name="Rounded Rectangle 15"/>
          <p:cNvSpPr/>
          <p:nvPr/>
        </p:nvSpPr>
        <p:spPr>
          <a:xfrm>
            <a:off x="5769864" y="1975104"/>
            <a:ext cx="347472" cy="347472"/>
          </a:xfrm>
          <a:prstGeom prst="round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3387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3</a:t>
            </a:r>
          </a:p>
        </p:txBody>
      </p:sp>
      <p:sp>
        <p:nvSpPr>
          <p:cNvPr id="18" name="TextBox 17"/>
          <p:cNvSpPr txBox="1"/>
          <p:nvPr/>
        </p:nvSpPr>
        <p:spPr>
          <a:xfrm>
            <a:off x="525780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Notify And Investigate</a:t>
            </a:r>
          </a:p>
        </p:txBody>
      </p:sp>
      <p:sp>
        <p:nvSpPr>
          <p:cNvPr id="19" name="TextBox 18"/>
          <p:cNvSpPr txBox="1"/>
          <p:nvPr/>
        </p:nvSpPr>
        <p:spPr>
          <a:xfrm>
            <a:off x="521208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Notify and investigate</a:t>
            </a:r>
          </a:p>
        </p:txBody>
      </p:sp>
      <p:sp>
        <p:nvSpPr>
          <p:cNvPr id="20" name="Rounded Rectangle 19"/>
          <p:cNvSpPr/>
          <p:nvPr/>
        </p:nvSpPr>
        <p:spPr>
          <a:xfrm>
            <a:off x="8353044" y="1975104"/>
            <a:ext cx="347472" cy="347472"/>
          </a:xfrm>
          <a:prstGeom prst="round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705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4</a:t>
            </a:r>
          </a:p>
        </p:txBody>
      </p:sp>
      <p:sp>
        <p:nvSpPr>
          <p:cNvPr id="22" name="TextBox 21"/>
          <p:cNvSpPr txBox="1"/>
          <p:nvPr/>
        </p:nvSpPr>
        <p:spPr>
          <a:xfrm>
            <a:off x="784098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Apply</a:t>
            </a:r>
          </a:p>
        </p:txBody>
      </p:sp>
      <p:sp>
        <p:nvSpPr>
          <p:cNvPr id="23" name="TextBox 22"/>
          <p:cNvSpPr txBox="1"/>
          <p:nvPr/>
        </p:nvSpPr>
        <p:spPr>
          <a:xfrm>
            <a:off x="779526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mini case → capstone</a:t>
            </a:r>
          </a:p>
        </p:txBody>
      </p:sp>
      <p:sp>
        <p:nvSpPr>
          <p:cNvPr id="24" name="Rounded Rectangle 23"/>
          <p:cNvSpPr/>
          <p:nvPr/>
        </p:nvSpPr>
        <p:spPr>
          <a:xfrm>
            <a:off x="10936224" y="1975104"/>
            <a:ext cx="347472" cy="347472"/>
          </a:xfrm>
          <a:prstGeom prst="round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0023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5</a:t>
            </a:r>
          </a:p>
        </p:txBody>
      </p:sp>
      <p:sp>
        <p:nvSpPr>
          <p:cNvPr id="26" name="TextBox 25"/>
          <p:cNvSpPr txBox="1"/>
          <p:nvPr/>
        </p:nvSpPr>
        <p:spPr>
          <a:xfrm>
            <a:off x="1042416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Evaluate</a:t>
            </a:r>
          </a:p>
        </p:txBody>
      </p:sp>
      <p:sp>
        <p:nvSpPr>
          <p:cNvPr id="27" name="TextBox 26"/>
          <p:cNvSpPr txBox="1"/>
          <p:nvPr/>
        </p:nvSpPr>
        <p:spPr>
          <a:xfrm>
            <a:off x="1037844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exit check</a:t>
            </a:r>
          </a:p>
        </p:txBody>
      </p:sp>
      <p:sp>
        <p:nvSpPr>
          <p:cNvPr id="28" name="Rounded Rectangle 27"/>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Map first. Drill down only where the map or performance data shows a weak link.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ACTIVATE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Warm-up: put the three moves in order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S05  ·  instructor-added</a:t>
            </a:r>
          </a:p>
        </p:txBody>
      </p:sp>
      <p:sp>
        <p:nvSpPr>
          <p:cNvPr id="8" name="Rounded Rectangle 7"/>
          <p:cNvSpPr/>
          <p:nvPr/>
        </p:nvSpPr>
        <p:spPr>
          <a:xfrm>
            <a:off x="685800" y="1005840"/>
            <a:ext cx="10789920" cy="685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93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33888" cy="292608"/>
          </a:xfrm>
          <a:prstGeom prst="rect">
            <a:avLst/>
          </a:prstGeom>
          <a:noFill/>
        </p:spPr>
        <p:txBody>
          <a:bodyPr wrap="square" anchor="t" lIns="27432" rIns="27432" tIns="18288" bIns="18288">
            <a:spAutoFit/>
          </a:bodyPr>
          <a:lstStyle/>
          <a:p>
            <a:pPr algn="l"/>
            <a:r>
              <a:rPr sz="1300" b="1">
                <a:solidFill>
                  <a:srgbClr val="0F172A"/>
                </a:solidFill>
                <a:latin typeface="Aptos"/>
              </a:rPr>
              <a:t>learner task</a:t>
            </a:r>
          </a:p>
        </p:txBody>
      </p:sp>
      <p:sp>
        <p:nvSpPr>
          <p:cNvPr id="11" name="TextBox 10"/>
          <p:cNvSpPr txBox="1"/>
          <p:nvPr/>
        </p:nvSpPr>
        <p:spPr>
          <a:xfrm>
            <a:off x="850392" y="1444752"/>
            <a:ext cx="10533888" cy="155448"/>
          </a:xfrm>
          <a:prstGeom prst="rect">
            <a:avLst/>
          </a:prstGeom>
          <a:noFill/>
        </p:spPr>
        <p:txBody>
          <a:bodyPr wrap="square" anchor="t" lIns="27432" rIns="27432" tIns="18288" bIns="18288">
            <a:spAutoFit/>
          </a:bodyPr>
          <a:lstStyle/>
          <a:p>
            <a:pPr algn="l"/>
            <a:r>
              <a:rPr sz="1000" b="0">
                <a:solidFill>
                  <a:srgbClr val="475569"/>
                </a:solidFill>
                <a:latin typeface="Aptos"/>
              </a:rPr>
              <a:t>Order the three.</a:t>
            </a:r>
          </a:p>
        </p:txBody>
      </p:sp>
      <p:sp>
        <p:nvSpPr>
          <p:cNvPr id="12" name="Rounded Rectangle 11"/>
          <p:cNvSpPr/>
          <p:nvPr/>
        </p:nvSpPr>
        <p:spPr>
          <a:xfrm>
            <a:off x="960120" y="1965960"/>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1938528"/>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463040" y="2039112"/>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Recognize</a:t>
            </a:r>
          </a:p>
        </p:txBody>
      </p:sp>
      <p:sp>
        <p:nvSpPr>
          <p:cNvPr id="15" name="Rounded Rectangle 14"/>
          <p:cNvSpPr/>
          <p:nvPr/>
        </p:nvSpPr>
        <p:spPr>
          <a:xfrm>
            <a:off x="960120" y="2532888"/>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587752"/>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463040" y="2596896"/>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Stop and assess</a:t>
            </a:r>
          </a:p>
        </p:txBody>
      </p:sp>
      <p:sp>
        <p:nvSpPr>
          <p:cNvPr id="18" name="Rounded Rectangle 17"/>
          <p:cNvSpPr/>
          <p:nvPr/>
        </p:nvSpPr>
        <p:spPr>
          <a:xfrm>
            <a:off x="960120" y="3099815"/>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236976"/>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463040" y="3154680"/>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Notify and investigate</a:t>
            </a:r>
          </a:p>
        </p:txBody>
      </p:sp>
      <p:sp>
        <p:nvSpPr>
          <p:cNvPr id="21" name="Rounded Rectangle 20"/>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Use sequence misses to identify where the concept chain breaks.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RECOGNIZE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Recognize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S06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Recognize</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Treat new fever, chills, dyspnea, chest or back discomfort, hypotension, urticaria, or other acute change during transfusion as a possible reaction until evaluated.</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Recognize findings associated with a possible transfusion reaction.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STOP AND ASSESS</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Stop and assess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7</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S07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Stop and assess</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Stop the transfusion immediately, maintain venous access using new tubing and compatible solution according to policy, assess the patient, and obtain vital signs.</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Sequence immediate nursing actions.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NOTIFY AND INVESTIGATE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Notify and investigate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8</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S08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Notify and investigate</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Notify the provider and transfusion service, follow emergency orders, and send the product, tubing, or specimens as required by organizational policy.</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Complete required notification and specimen/product handling.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Activity: match the cue to the move it calls for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9</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S09  ·  source-aligned</a:t>
            </a:r>
          </a:p>
        </p:txBody>
      </p:sp>
      <p:sp>
        <p:nvSpPr>
          <p:cNvPr id="8" name="TextBox 7"/>
          <p:cNvSpPr txBox="1"/>
          <p:nvPr/>
        </p:nvSpPr>
        <p:spPr>
          <a:xfrm>
            <a:off x="731520" y="1005840"/>
            <a:ext cx="10698480" cy="256032"/>
          </a:xfrm>
          <a:prstGeom prst="rect">
            <a:avLst/>
          </a:prstGeom>
          <a:noFill/>
        </p:spPr>
        <p:txBody>
          <a:bodyPr wrap="square" anchor="t" lIns="27432" rIns="27432" tIns="18288" bIns="18288">
            <a:spAutoFit/>
          </a:bodyPr>
          <a:lstStyle/>
          <a:p>
            <a:pPr algn="l"/>
            <a:r>
              <a:rPr sz="950" b="1">
                <a:solidFill>
                  <a:srgbClr val="0F172A"/>
                </a:solidFill>
                <a:latin typeface="Aptos"/>
              </a:rPr>
              <a:t>Work with one partner: match each source to the cue or clinical meaning most directly involved.</a:t>
            </a:r>
          </a:p>
        </p:txBody>
      </p:sp>
      <p:sp>
        <p:nvSpPr>
          <p:cNvPr id="9" name="Rounded Rectangle 8"/>
          <p:cNvSpPr/>
          <p:nvPr/>
        </p:nvSpPr>
        <p:spPr>
          <a:xfrm>
            <a:off x="777240" y="1508760"/>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32103" y="1655063"/>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18488"/>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A</a:t>
            </a:r>
          </a:p>
        </p:txBody>
      </p:sp>
      <p:sp>
        <p:nvSpPr>
          <p:cNvPr id="12" name="TextBox 11"/>
          <p:cNvSpPr txBox="1"/>
          <p:nvPr/>
        </p:nvSpPr>
        <p:spPr>
          <a:xfrm>
            <a:off x="941832" y="1947672"/>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A. The patient develops chills and dyspnea shortly after a transfusion begins.</a:t>
            </a:r>
          </a:p>
        </p:txBody>
      </p:sp>
      <p:sp>
        <p:nvSpPr>
          <p:cNvPr id="13" name="Rounded Rectangle 12"/>
          <p:cNvSpPr/>
          <p:nvPr/>
        </p:nvSpPr>
        <p:spPr>
          <a:xfrm>
            <a:off x="6537960" y="1508760"/>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92824" y="1655063"/>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02552" y="1618488"/>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1</a:t>
            </a:r>
          </a:p>
        </p:txBody>
      </p:sp>
      <p:sp>
        <p:nvSpPr>
          <p:cNvPr id="16" name="TextBox 15"/>
          <p:cNvSpPr txBox="1"/>
          <p:nvPr/>
        </p:nvSpPr>
        <p:spPr>
          <a:xfrm>
            <a:off x="6702552" y="1947672"/>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1. Recognize</a:t>
            </a:r>
          </a:p>
        </p:txBody>
      </p:sp>
      <p:sp>
        <p:nvSpPr>
          <p:cNvPr id="17" name="Rounded Rectangle 16"/>
          <p:cNvSpPr/>
          <p:nvPr/>
        </p:nvSpPr>
        <p:spPr>
          <a:xfrm>
            <a:off x="777240" y="2203704"/>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3" y="2350008"/>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2313432"/>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B</a:t>
            </a:r>
          </a:p>
        </p:txBody>
      </p:sp>
      <p:sp>
        <p:nvSpPr>
          <p:cNvPr id="20" name="TextBox 19"/>
          <p:cNvSpPr txBox="1"/>
          <p:nvPr/>
        </p:nvSpPr>
        <p:spPr>
          <a:xfrm>
            <a:off x="941832" y="2642616"/>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B. The transfusion has been stopped for a suspected reaction.</a:t>
            </a:r>
          </a:p>
        </p:txBody>
      </p:sp>
      <p:sp>
        <p:nvSpPr>
          <p:cNvPr id="21" name="Rounded Rectangle 20"/>
          <p:cNvSpPr/>
          <p:nvPr/>
        </p:nvSpPr>
        <p:spPr>
          <a:xfrm>
            <a:off x="6537960" y="2203704"/>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92824" y="2350008"/>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02552" y="2313432"/>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2</a:t>
            </a:r>
          </a:p>
        </p:txBody>
      </p:sp>
      <p:sp>
        <p:nvSpPr>
          <p:cNvPr id="24" name="TextBox 23"/>
          <p:cNvSpPr txBox="1"/>
          <p:nvPr/>
        </p:nvSpPr>
        <p:spPr>
          <a:xfrm>
            <a:off x="6702552" y="2642616"/>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2. Stop and assess</a:t>
            </a:r>
          </a:p>
        </p:txBody>
      </p:sp>
      <p:sp>
        <p:nvSpPr>
          <p:cNvPr id="25" name="Rounded Rectangle 24"/>
          <p:cNvSpPr/>
          <p:nvPr/>
        </p:nvSpPr>
        <p:spPr>
          <a:xfrm>
            <a:off x="777240" y="2898648"/>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2103" y="3044952"/>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41832" y="3008376"/>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C</a:t>
            </a:r>
          </a:p>
        </p:txBody>
      </p:sp>
      <p:sp>
        <p:nvSpPr>
          <p:cNvPr id="28" name="TextBox 27"/>
          <p:cNvSpPr txBox="1"/>
          <p:nvPr/>
        </p:nvSpPr>
        <p:spPr>
          <a:xfrm>
            <a:off x="941832" y="3337560"/>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C. The patient's blood pressure is falling during the reaction.</a:t>
            </a:r>
          </a:p>
        </p:txBody>
      </p:sp>
      <p:sp>
        <p:nvSpPr>
          <p:cNvPr id="29" name="Rounded Rectangle 28"/>
          <p:cNvSpPr/>
          <p:nvPr/>
        </p:nvSpPr>
        <p:spPr>
          <a:xfrm>
            <a:off x="6537960" y="2898648"/>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92824" y="3044952"/>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2552" y="3008376"/>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3</a:t>
            </a:r>
          </a:p>
        </p:txBody>
      </p:sp>
      <p:sp>
        <p:nvSpPr>
          <p:cNvPr id="32" name="TextBox 31"/>
          <p:cNvSpPr txBox="1"/>
          <p:nvPr/>
        </p:nvSpPr>
        <p:spPr>
          <a:xfrm>
            <a:off x="6702552" y="3337560"/>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3. Notify and investigate</a:t>
            </a:r>
          </a:p>
        </p:txBody>
      </p:sp>
      <p:sp>
        <p:nvSpPr>
          <p:cNvPr id="33" name="Rounded Rectangle 32"/>
          <p:cNvSpPr/>
          <p:nvPr/>
        </p:nvSpPr>
        <p:spPr>
          <a:xfrm>
            <a:off x="777240" y="3593592"/>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32103" y="3739896"/>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1832" y="3703320"/>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D</a:t>
            </a:r>
          </a:p>
        </p:txBody>
      </p:sp>
      <p:sp>
        <p:nvSpPr>
          <p:cNvPr id="36" name="TextBox 35"/>
          <p:cNvSpPr txBox="1"/>
          <p:nvPr/>
        </p:nvSpPr>
        <p:spPr>
          <a:xfrm>
            <a:off x="941832" y="4032504"/>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D. Symptoms improve after the unit is stopped.</a:t>
            </a:r>
          </a:p>
        </p:txBody>
      </p:sp>
      <p:sp>
        <p:nvSpPr>
          <p:cNvPr id="37" name="Rounded Rectangle 36"/>
          <p:cNvSpPr/>
          <p:nvPr/>
        </p:nvSpPr>
        <p:spPr>
          <a:xfrm>
            <a:off x="6537960" y="3593592"/>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592824" y="3739896"/>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02552" y="3703320"/>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4</a:t>
            </a:r>
          </a:p>
        </p:txBody>
      </p:sp>
      <p:sp>
        <p:nvSpPr>
          <p:cNvPr id="40" name="TextBox 39"/>
          <p:cNvSpPr txBox="1"/>
          <p:nvPr/>
        </p:nvSpPr>
        <p:spPr>
          <a:xfrm>
            <a:off x="6702552" y="4032504"/>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4. Evaluate the result</a:t>
            </a:r>
          </a:p>
        </p:txBody>
      </p:sp>
      <p:sp>
        <p:nvSpPr>
          <p:cNvPr id="41" name="Rounded Rectangle 40"/>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Output: write matches and one sentence explaining one match.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Debrief: the reasoning behind each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10</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S10  ·  source-aligned</a:t>
            </a:r>
          </a:p>
        </p:txBody>
      </p:sp>
      <p:sp>
        <p:nvSpPr>
          <p:cNvPr id="8" name="Rounded Rectangle 7"/>
          <p:cNvSpPr/>
          <p:nvPr/>
        </p:nvSpPr>
        <p:spPr>
          <a:xfrm>
            <a:off x="502920"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435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Stop the transfusion immediately and assess the patient.</a:t>
            </a:r>
          </a:p>
        </p:txBody>
      </p:sp>
      <p:sp>
        <p:nvSpPr>
          <p:cNvPr id="11" name="TextBox 10"/>
          <p:cNvSpPr txBox="1"/>
          <p:nvPr/>
        </p:nvSpPr>
        <p:spPr>
          <a:xfrm>
            <a:off x="667512"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Stopping exposure and assessing stability are the immediate priorities for a suspected reaction.</a:t>
            </a:r>
          </a:p>
        </p:txBody>
      </p:sp>
      <p:sp>
        <p:nvSpPr>
          <p:cNvPr id="12" name="Rounded Rectangle 11"/>
          <p:cNvSpPr/>
          <p:nvPr/>
        </p:nvSpPr>
        <p:spPr>
          <a:xfrm>
            <a:off x="6178143"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435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Maintain venous access with new tubing and compatible solu</a:t>
            </a:r>
          </a:p>
        </p:txBody>
      </p:sp>
      <p:sp>
        <p:nvSpPr>
          <p:cNvPr id="15" name="TextBox 14"/>
          <p:cNvSpPr txBox="1"/>
          <p:nvPr/>
        </p:nvSpPr>
        <p:spPr>
          <a:xfrm>
            <a:off x="6342735"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Separate tubing avoids infusing residual blood while preserving access for treatment.</a:t>
            </a:r>
          </a:p>
        </p:txBody>
      </p:sp>
      <p:sp>
        <p:nvSpPr>
          <p:cNvPr id="16" name="Rounded Rectangle 15"/>
          <p:cNvSpPr/>
          <p:nvPr/>
        </p:nvSpPr>
        <p:spPr>
          <a:xfrm>
            <a:off x="502920"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7784" y="2642616"/>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Activate urgent assistance and support airway, breathing, </a:t>
            </a:r>
          </a:p>
        </p:txBody>
      </p:sp>
      <p:sp>
        <p:nvSpPr>
          <p:cNvPr id="19" name="TextBox 18"/>
          <p:cNvSpPr txBox="1"/>
          <p:nvPr/>
        </p:nvSpPr>
        <p:spPr>
          <a:xfrm>
            <a:off x="667512"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Hemodynamic instability requires immediate escalation and resuscitative priorities.</a:t>
            </a:r>
          </a:p>
        </p:txBody>
      </p:sp>
      <p:sp>
        <p:nvSpPr>
          <p:cNvPr id="20" name="Rounded Rectangle 19"/>
          <p:cNvSpPr/>
          <p:nvPr/>
        </p:nvSpPr>
        <p:spPr>
          <a:xfrm>
            <a:off x="6178143"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264261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2735"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Continue the reaction protocol and do not restart the impl</a:t>
            </a:r>
          </a:p>
        </p:txBody>
      </p:sp>
      <p:sp>
        <p:nvSpPr>
          <p:cNvPr id="23" name="TextBox 22"/>
          <p:cNvSpPr txBox="1"/>
          <p:nvPr/>
        </p:nvSpPr>
        <p:spPr>
          <a:xfrm>
            <a:off x="6342735"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Improvement does not establish that the product is safe to resume.</a:t>
            </a:r>
          </a:p>
        </p:txBody>
      </p:sp>
      <p:sp>
        <p:nvSpPr>
          <p:cNvPr id="24" name="Rounded Rectangle 23"/>
          <p:cNvSpPr/>
          <p:nvPr/>
        </p:nvSpPr>
        <p:spPr>
          <a:xfrm>
            <a:off x="1188720" y="5989320"/>
            <a:ext cx="9784080" cy="411480"/>
          </a:xfrm>
          <a:prstGeom prst="roundRect">
            <a:avLst/>
          </a:prstGeom>
          <a:solidFill>
            <a:srgbClr val="FFF7ED"/>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EA580C"/>
                </a:solidFill>
                <a:latin typeface="Aptos"/>
              </a:rPr>
              <a:t>Explain why each keyed action follows from its cue.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Checkpoint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11</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S11  ·  source-aligned</a:t>
            </a:r>
          </a:p>
        </p:txBody>
      </p:sp>
      <p:sp>
        <p:nvSpPr>
          <p:cNvPr id="8" name="Rounded Rectangle 7"/>
          <p:cNvSpPr/>
          <p:nvPr/>
        </p:nvSpPr>
        <p:spPr>
          <a:xfrm>
            <a:off x="777240" y="1097280"/>
            <a:ext cx="10698480" cy="868680"/>
          </a:xfrm>
          <a:prstGeom prst="roundRect">
            <a:avLst/>
          </a:prstGeom>
          <a:solidFill>
            <a:srgbClr val="F5F3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32103" y="1243584"/>
            <a:ext cx="45720" cy="576071"/>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207007"/>
            <a:ext cx="10442448" cy="292608"/>
          </a:xfrm>
          <a:prstGeom prst="rect">
            <a:avLst/>
          </a:prstGeom>
          <a:noFill/>
        </p:spPr>
        <p:txBody>
          <a:bodyPr wrap="square" anchor="t" lIns="27432" rIns="27432" tIns="18288" bIns="18288">
            <a:spAutoFit/>
          </a:bodyPr>
          <a:lstStyle/>
          <a:p>
            <a:pPr algn="l"/>
            <a:r>
              <a:rPr sz="1300" b="1">
                <a:solidFill>
                  <a:srgbClr val="0F172A"/>
                </a:solidFill>
                <a:latin typeface="Aptos"/>
              </a:rPr>
              <a:t>checkpoint question</a:t>
            </a:r>
          </a:p>
        </p:txBody>
      </p:sp>
      <p:sp>
        <p:nvSpPr>
          <p:cNvPr id="11" name="TextBox 10"/>
          <p:cNvSpPr txBox="1"/>
          <p:nvPr/>
        </p:nvSpPr>
        <p:spPr>
          <a:xfrm>
            <a:off x="941832" y="1536192"/>
            <a:ext cx="10442448" cy="338328"/>
          </a:xfrm>
          <a:prstGeom prst="rect">
            <a:avLst/>
          </a:prstGeom>
          <a:noFill/>
        </p:spPr>
        <p:txBody>
          <a:bodyPr wrap="square" anchor="t" lIns="27432" rIns="27432" tIns="18288" bIns="18288">
            <a:spAutoFit/>
          </a:bodyPr>
          <a:lstStyle/>
          <a:p>
            <a:pPr algn="l"/>
            <a:r>
              <a:rPr sz="1000" b="0">
                <a:solidFill>
                  <a:srgbClr val="475569"/>
                </a:solidFill>
                <a:latin typeface="Aptos"/>
              </a:rPr>
              <a:t>The transfusion has been stopped for a suspected reaction. What should the nurse do?</a:t>
            </a:r>
          </a:p>
        </p:txBody>
      </p:sp>
      <p:sp>
        <p:nvSpPr>
          <p:cNvPr id="12" name="Rounded Rectangle 11"/>
          <p:cNvSpPr/>
          <p:nvPr/>
        </p:nvSpPr>
        <p:spPr>
          <a:xfrm>
            <a:off x="1005840" y="2240280"/>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2359152"/>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554480" y="2340864"/>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A. Delay action until the end of the shift.</a:t>
            </a:r>
          </a:p>
        </p:txBody>
      </p:sp>
      <p:sp>
        <p:nvSpPr>
          <p:cNvPr id="15" name="Rounded Rectangle 14"/>
          <p:cNvSpPr/>
          <p:nvPr/>
        </p:nvSpPr>
        <p:spPr>
          <a:xfrm>
            <a:off x="1005840" y="2807208"/>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2926080"/>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554480" y="2907792"/>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B. Document the finding without reassessment or follow-up.</a:t>
            </a:r>
          </a:p>
        </p:txBody>
      </p:sp>
      <p:sp>
        <p:nvSpPr>
          <p:cNvPr id="18" name="Rounded Rectangle 17"/>
          <p:cNvSpPr/>
          <p:nvPr/>
        </p:nvSpPr>
        <p:spPr>
          <a:xfrm>
            <a:off x="1005840" y="3374136"/>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3493008"/>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554480" y="3474720"/>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C. Maintain venous access with new tubing and compatible solution according to policy.</a:t>
            </a:r>
          </a:p>
        </p:txBody>
      </p:sp>
      <p:sp>
        <p:nvSpPr>
          <p:cNvPr id="21" name="Rounded Rectangle 20"/>
          <p:cNvSpPr/>
          <p:nvPr/>
        </p:nvSpPr>
        <p:spPr>
          <a:xfrm>
            <a:off x="1005840" y="3941064"/>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43000" y="4059936"/>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D</a:t>
            </a:r>
          </a:p>
        </p:txBody>
      </p:sp>
      <p:sp>
        <p:nvSpPr>
          <p:cNvPr id="23" name="TextBox 22"/>
          <p:cNvSpPr txBox="1"/>
          <p:nvPr/>
        </p:nvSpPr>
        <p:spPr>
          <a:xfrm>
            <a:off x="1554480" y="4041648"/>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D. Delegate the clinical judgment decision to unlicensed assistive personnel.</a:t>
            </a:r>
          </a:p>
        </p:txBody>
      </p:sp>
      <p:sp>
        <p:nvSpPr>
          <p:cNvPr id="24" name="Rounded Rectangle 23"/>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Choose the best response.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Mini case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S12  ·  source-aligned</a:t>
            </a:r>
          </a:p>
        </p:txBody>
      </p:sp>
      <p:sp>
        <p:nvSpPr>
          <p:cNvPr id="8" name="Rounded Rectangle 7"/>
          <p:cNvSpPr/>
          <p:nvPr/>
        </p:nvSpPr>
        <p:spPr>
          <a:xfrm>
            <a:off x="731520" y="1051560"/>
            <a:ext cx="10744200" cy="713232"/>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1197863"/>
            <a:ext cx="45720" cy="420624"/>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161288"/>
            <a:ext cx="10488168" cy="292608"/>
          </a:xfrm>
          <a:prstGeom prst="rect">
            <a:avLst/>
          </a:prstGeom>
          <a:noFill/>
        </p:spPr>
        <p:txBody>
          <a:bodyPr wrap="square" anchor="t" lIns="27432" rIns="27432" tIns="18288" bIns="18288">
            <a:spAutoFit/>
          </a:bodyPr>
          <a:lstStyle/>
          <a:p>
            <a:pPr algn="l"/>
            <a:r>
              <a:rPr sz="1200" b="1">
                <a:solidFill>
                  <a:srgbClr val="0F172A"/>
                </a:solidFill>
                <a:latin typeface="Aptos"/>
              </a:rPr>
              <a:t>mini case</a:t>
            </a:r>
          </a:p>
        </p:txBody>
      </p:sp>
      <p:sp>
        <p:nvSpPr>
          <p:cNvPr id="11" name="TextBox 10"/>
          <p:cNvSpPr txBox="1"/>
          <p:nvPr/>
        </p:nvSpPr>
        <p:spPr>
          <a:xfrm>
            <a:off x="896112" y="1490472"/>
            <a:ext cx="10488168" cy="182880"/>
          </a:xfrm>
          <a:prstGeom prst="rect">
            <a:avLst/>
          </a:prstGeom>
          <a:noFill/>
        </p:spPr>
        <p:txBody>
          <a:bodyPr wrap="square" anchor="t" lIns="27432" rIns="27432" tIns="18288" bIns="18288">
            <a:spAutoFit/>
          </a:bodyPr>
          <a:lstStyle/>
          <a:p>
            <a:pPr algn="l"/>
            <a:r>
              <a:rPr sz="900" b="0">
                <a:solidFill>
                  <a:srgbClr val="475569"/>
                </a:solidFill>
                <a:latin typeface="Aptos"/>
              </a:rPr>
              <a:t>The patient's blood pressure is falling during the reaction.</a:t>
            </a:r>
          </a:p>
        </p:txBody>
      </p:sp>
      <p:sp>
        <p:nvSpPr>
          <p:cNvPr id="12" name="Rounded Rectangle 11"/>
          <p:cNvSpPr/>
          <p:nvPr/>
        </p:nvSpPr>
        <p:spPr>
          <a:xfrm>
            <a:off x="502920"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7784" y="22037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cues</a:t>
            </a:r>
          </a:p>
        </p:txBody>
      </p:sp>
      <p:sp>
        <p:nvSpPr>
          <p:cNvPr id="15" name="TextBox 14"/>
          <p:cNvSpPr txBox="1"/>
          <p:nvPr/>
        </p:nvSpPr>
        <p:spPr>
          <a:xfrm>
            <a:off x="667512"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Keyed action: Activate urgent assistance and support airway, breathing, and circulation while following emergency orders.
- Because: Hemodynamic instability requires immediate escalation and resuscitative priorities.</a:t>
            </a:r>
          </a:p>
        </p:txBody>
      </p:sp>
      <p:sp>
        <p:nvSpPr>
          <p:cNvPr id="16" name="Rounded Rectangle 15"/>
          <p:cNvSpPr/>
          <p:nvPr/>
        </p:nvSpPr>
        <p:spPr>
          <a:xfrm>
            <a:off x="6178143"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22037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your task</a:t>
            </a:r>
          </a:p>
        </p:txBody>
      </p:sp>
      <p:sp>
        <p:nvSpPr>
          <p:cNvPr id="19" name="TextBox 18"/>
          <p:cNvSpPr txBox="1"/>
          <p:nvPr/>
        </p:nvSpPr>
        <p:spPr>
          <a:xfrm>
            <a:off x="6342735"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Write one assessment sentence and one action sentence.</a:t>
            </a:r>
          </a:p>
        </p:txBody>
      </p:sp>
      <p:sp>
        <p:nvSpPr>
          <p:cNvPr id="20" name="Rounded Rectangle 1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Two sentences: what you assess, then what you do.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SIGNAL</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Sort by urgency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S13  ·  source-aligned</a:t>
            </a:r>
          </a:p>
        </p:txBody>
      </p:sp>
      <p:sp>
        <p:nvSpPr>
          <p:cNvPr id="8" name="Rounded Rectangle 7"/>
          <p:cNvSpPr/>
          <p:nvPr/>
        </p:nvSpPr>
        <p:spPr>
          <a:xfrm>
            <a:off x="502920"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Act now</a:t>
            </a:r>
          </a:p>
        </p:txBody>
      </p:sp>
      <p:sp>
        <p:nvSpPr>
          <p:cNvPr id="11" name="TextBox 10"/>
          <p:cNvSpPr txBox="1"/>
          <p:nvPr/>
        </p:nvSpPr>
        <p:spPr>
          <a:xfrm>
            <a:off x="667512"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The patient develops chills and dyspnea shortly after a transfusion begins.
- The transfusion has been stopped for a suspected reaction.
- The patient's blood pressure is falling during the reaction.</a:t>
            </a:r>
          </a:p>
        </p:txBody>
      </p:sp>
      <p:sp>
        <p:nvSpPr>
          <p:cNvPr id="12" name="Rounded Rectangle 11"/>
          <p:cNvSpPr/>
          <p:nvPr/>
        </p:nvSpPr>
        <p:spPr>
          <a:xfrm>
            <a:off x="6178143"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Act in sequence</a:t>
            </a:r>
          </a:p>
        </p:txBody>
      </p:sp>
      <p:sp>
        <p:nvSpPr>
          <p:cNvPr id="15" name="TextBox 14"/>
          <p:cNvSpPr txBox="1"/>
          <p:nvPr/>
        </p:nvSpPr>
        <p:spPr>
          <a:xfrm>
            <a:off x="6342735"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Symptoms improve after the unit is stopped.
- A possible reaction has been stabilized.</a:t>
            </a:r>
          </a:p>
        </p:txBody>
      </p:sp>
      <p:sp>
        <p:nvSpPr>
          <p:cNvPr id="16" name="Rounded Rectangle 15"/>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Place each cue and justify 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Documentation frame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14</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S14  ·  source-aligned</a:t>
            </a:r>
          </a:p>
        </p:txBody>
      </p:sp>
      <p:sp>
        <p:nvSpPr>
          <p:cNvPr id="8" name="Rounded Rectangle 7"/>
          <p:cNvSpPr/>
          <p:nvPr/>
        </p:nvSpPr>
        <p:spPr>
          <a:xfrm>
            <a:off x="502920"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New cue during transfusion</a:t>
            </a:r>
          </a:p>
        </p:txBody>
      </p:sp>
      <p:sp>
        <p:nvSpPr>
          <p:cNvPr id="11" name="TextBox 10"/>
          <p:cNvSpPr txBox="1"/>
          <p:nvPr/>
        </p:nvSpPr>
        <p:spPr>
          <a:xfrm>
            <a:off x="667512"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12" name="Rounded Rectangle 11"/>
          <p:cNvSpPr/>
          <p:nvPr/>
        </p:nvSpPr>
        <p:spPr>
          <a:xfrm>
            <a:off x="4286402"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1266"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0994"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First action</a:t>
            </a:r>
          </a:p>
        </p:txBody>
      </p:sp>
      <p:sp>
        <p:nvSpPr>
          <p:cNvPr id="15" name="TextBox 14"/>
          <p:cNvSpPr txBox="1"/>
          <p:nvPr/>
        </p:nvSpPr>
        <p:spPr>
          <a:xfrm>
            <a:off x="4450994"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16" name="Rounded Rectangle 15"/>
          <p:cNvSpPr/>
          <p:nvPr/>
        </p:nvSpPr>
        <p:spPr>
          <a:xfrm>
            <a:off x="8069884"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4748"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4476"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Access maintained with</a:t>
            </a:r>
          </a:p>
        </p:txBody>
      </p:sp>
      <p:sp>
        <p:nvSpPr>
          <p:cNvPr id="19" name="TextBox 18"/>
          <p:cNvSpPr txBox="1"/>
          <p:nvPr/>
        </p:nvSpPr>
        <p:spPr>
          <a:xfrm>
            <a:off x="8234476"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0" name="Rounded Rectangle 19"/>
          <p:cNvSpPr/>
          <p:nvPr/>
        </p:nvSpPr>
        <p:spPr>
          <a:xfrm>
            <a:off x="502920"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57784" y="268833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Notifications</a:t>
            </a:r>
          </a:p>
        </p:txBody>
      </p:sp>
      <p:sp>
        <p:nvSpPr>
          <p:cNvPr id="23" name="TextBox 22"/>
          <p:cNvSpPr txBox="1"/>
          <p:nvPr/>
        </p:nvSpPr>
        <p:spPr>
          <a:xfrm>
            <a:off x="667512"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4" name="Rounded Rectangle 23"/>
          <p:cNvSpPr/>
          <p:nvPr/>
        </p:nvSpPr>
        <p:spPr>
          <a:xfrm>
            <a:off x="4286402"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1266" y="2688336"/>
            <a:ext cx="45720" cy="941832"/>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0994"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Required follow-up</a:t>
            </a:r>
          </a:p>
        </p:txBody>
      </p:sp>
      <p:sp>
        <p:nvSpPr>
          <p:cNvPr id="27" name="TextBox 26"/>
          <p:cNvSpPr txBox="1"/>
          <p:nvPr/>
        </p:nvSpPr>
        <p:spPr>
          <a:xfrm>
            <a:off x="4450994"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8" name="Rounded Rectangle 27"/>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Record the lesson's decisions in a reusable frame.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Capstone: choose the next safe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S15  ·  source-aligned</a:t>
            </a:r>
          </a:p>
        </p:txBody>
      </p:sp>
      <p:sp>
        <p:nvSpPr>
          <p:cNvPr id="8" name="Rounded Rectangle 7"/>
          <p:cNvSpPr/>
          <p:nvPr/>
        </p:nvSpPr>
        <p:spPr>
          <a:xfrm>
            <a:off x="685800" y="1005840"/>
            <a:ext cx="10835640" cy="621792"/>
          </a:xfrm>
          <a:prstGeom prst="roundRect">
            <a:avLst/>
          </a:prstGeom>
          <a:solidFill>
            <a:srgbClr val="FEF2F2"/>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29184"/>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79608" cy="292608"/>
          </a:xfrm>
          <a:prstGeom prst="rect">
            <a:avLst/>
          </a:prstGeom>
          <a:noFill/>
        </p:spPr>
        <p:txBody>
          <a:bodyPr wrap="square" anchor="t" lIns="27432" rIns="27432" tIns="18288" bIns="18288">
            <a:spAutoFit/>
          </a:bodyPr>
          <a:lstStyle/>
          <a:p>
            <a:pPr algn="l"/>
            <a:r>
              <a:rPr sz="1150" b="1">
                <a:solidFill>
                  <a:srgbClr val="0F172A"/>
                </a:solidFill>
                <a:latin typeface="Aptos"/>
              </a:rPr>
              <a:t>capstone scenario</a:t>
            </a:r>
          </a:p>
        </p:txBody>
      </p:sp>
      <p:sp>
        <p:nvSpPr>
          <p:cNvPr id="11" name="TextBox 10"/>
          <p:cNvSpPr txBox="1"/>
          <p:nvPr/>
        </p:nvSpPr>
        <p:spPr>
          <a:xfrm>
            <a:off x="850392" y="1444752"/>
            <a:ext cx="10579608" cy="91440"/>
          </a:xfrm>
          <a:prstGeom prst="rect">
            <a:avLst/>
          </a:prstGeom>
          <a:noFill/>
        </p:spPr>
        <p:txBody>
          <a:bodyPr wrap="square" anchor="t" lIns="27432" rIns="27432" tIns="18288" bIns="18288">
            <a:spAutoFit/>
          </a:bodyPr>
          <a:lstStyle/>
          <a:p>
            <a:pPr algn="l"/>
            <a:r>
              <a:rPr sz="850" b="0">
                <a:solidFill>
                  <a:srgbClr val="475569"/>
                </a:solidFill>
                <a:latin typeface="Aptos"/>
              </a:rPr>
              <a:t>A possible reaction has been stabilized.</a:t>
            </a:r>
          </a:p>
        </p:txBody>
      </p:sp>
      <p:sp>
        <p:nvSpPr>
          <p:cNvPr id="12" name="Rounded Rectangle 11"/>
          <p:cNvSpPr/>
          <p:nvPr/>
        </p:nvSpPr>
        <p:spPr>
          <a:xfrm>
            <a:off x="914400" y="1874519"/>
            <a:ext cx="1037844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69264" y="2020824"/>
            <a:ext cx="45720" cy="365759"/>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1984248"/>
            <a:ext cx="10122408" cy="292608"/>
          </a:xfrm>
          <a:prstGeom prst="rect">
            <a:avLst/>
          </a:prstGeom>
          <a:noFill/>
        </p:spPr>
        <p:txBody>
          <a:bodyPr wrap="square" anchor="t" lIns="27432" rIns="27432" tIns="18288" bIns="18288">
            <a:spAutoFit/>
          </a:bodyPr>
          <a:lstStyle/>
          <a:p>
            <a:pPr algn="l"/>
            <a:r>
              <a:rPr sz="1250" b="1">
                <a:solidFill>
                  <a:srgbClr val="0F172A"/>
                </a:solidFill>
                <a:latin typeface="Aptos"/>
              </a:rPr>
              <a:t>priority nursing response</a:t>
            </a:r>
          </a:p>
        </p:txBody>
      </p:sp>
      <p:sp>
        <p:nvSpPr>
          <p:cNvPr id="15" name="TextBox 14"/>
          <p:cNvSpPr txBox="1"/>
          <p:nvPr/>
        </p:nvSpPr>
        <p:spPr>
          <a:xfrm>
            <a:off x="1078992" y="2313432"/>
            <a:ext cx="10122408" cy="128016"/>
          </a:xfrm>
          <a:prstGeom prst="rect">
            <a:avLst/>
          </a:prstGeom>
          <a:noFill/>
        </p:spPr>
        <p:txBody>
          <a:bodyPr wrap="square" anchor="t" lIns="27432" rIns="27432" tIns="18288" bIns="18288">
            <a:spAutoFit/>
          </a:bodyPr>
          <a:lstStyle/>
          <a:p>
            <a:pPr algn="l"/>
            <a:r>
              <a:rPr sz="900" b="0">
                <a:solidFill>
                  <a:srgbClr val="475569"/>
                </a:solidFill>
                <a:latin typeface="Aptos"/>
              </a:rPr>
              <a:t>What is the priority nursing action?</a:t>
            </a:r>
          </a:p>
        </p:txBody>
      </p:sp>
      <p:sp>
        <p:nvSpPr>
          <p:cNvPr id="16" name="Rounded Rectangle 15"/>
          <p:cNvSpPr/>
          <p:nvPr/>
        </p:nvSpPr>
        <p:spPr>
          <a:xfrm>
            <a:off x="1097280" y="2788920"/>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34440" y="2898648"/>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A</a:t>
            </a:r>
          </a:p>
        </p:txBody>
      </p:sp>
      <p:sp>
        <p:nvSpPr>
          <p:cNvPr id="18" name="TextBox 17"/>
          <p:cNvSpPr txBox="1"/>
          <p:nvPr/>
        </p:nvSpPr>
        <p:spPr>
          <a:xfrm>
            <a:off x="1627632" y="2871215"/>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A. Delay action until the end of the shift.</a:t>
            </a:r>
          </a:p>
        </p:txBody>
      </p:sp>
      <p:sp>
        <p:nvSpPr>
          <p:cNvPr id="19" name="Rounded Rectangle 18"/>
          <p:cNvSpPr/>
          <p:nvPr/>
        </p:nvSpPr>
        <p:spPr>
          <a:xfrm>
            <a:off x="1097280" y="3319272"/>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34440" y="3429000"/>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B</a:t>
            </a:r>
          </a:p>
        </p:txBody>
      </p:sp>
      <p:sp>
        <p:nvSpPr>
          <p:cNvPr id="21" name="TextBox 20"/>
          <p:cNvSpPr txBox="1"/>
          <p:nvPr/>
        </p:nvSpPr>
        <p:spPr>
          <a:xfrm>
            <a:off x="1627632" y="3401568"/>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B. Notify the provider and transfusion service and complete required specimens and documentation.</a:t>
            </a:r>
          </a:p>
        </p:txBody>
      </p:sp>
      <p:sp>
        <p:nvSpPr>
          <p:cNvPr id="22" name="Rounded Rectangle 21"/>
          <p:cNvSpPr/>
          <p:nvPr/>
        </p:nvSpPr>
        <p:spPr>
          <a:xfrm>
            <a:off x="1097280" y="3849624"/>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34440" y="3959352"/>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C</a:t>
            </a:r>
          </a:p>
        </p:txBody>
      </p:sp>
      <p:sp>
        <p:nvSpPr>
          <p:cNvPr id="24" name="TextBox 23"/>
          <p:cNvSpPr txBox="1"/>
          <p:nvPr/>
        </p:nvSpPr>
        <p:spPr>
          <a:xfrm>
            <a:off x="1627632" y="3931920"/>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C. Document the finding without reassessment or follow-up.</a:t>
            </a:r>
          </a:p>
        </p:txBody>
      </p:sp>
      <p:sp>
        <p:nvSpPr>
          <p:cNvPr id="25" name="Rounded Rectangle 24"/>
          <p:cNvSpPr/>
          <p:nvPr/>
        </p:nvSpPr>
        <p:spPr>
          <a:xfrm>
            <a:off x="1097280" y="4379975"/>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4489703"/>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D</a:t>
            </a:r>
          </a:p>
        </p:txBody>
      </p:sp>
      <p:sp>
        <p:nvSpPr>
          <p:cNvPr id="27" name="TextBox 26"/>
          <p:cNvSpPr txBox="1"/>
          <p:nvPr/>
        </p:nvSpPr>
        <p:spPr>
          <a:xfrm>
            <a:off x="1627632" y="4462271"/>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D. Delegate the clinical judgment decision to unlicensed assistive personnel.</a:t>
            </a:r>
          </a:p>
        </p:txBody>
      </p:sp>
      <p:sp>
        <p:nvSpPr>
          <p:cNvPr id="28" name="Rounded Rectangle 27"/>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Choose the priority action.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Rapid retrieval: exit check</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S16  ·  source-aligned</a:t>
            </a:r>
          </a:p>
        </p:txBody>
      </p:sp>
      <p:sp>
        <p:nvSpPr>
          <p:cNvPr id="8" name="Rounded Rectangle 7"/>
          <p:cNvSpPr/>
          <p:nvPr/>
        </p:nvSpPr>
        <p:spPr>
          <a:xfrm>
            <a:off x="777240" y="1143000"/>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8680" y="1216152"/>
            <a:ext cx="45720" cy="292608"/>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261872"/>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Stop the transfusion first.</a:t>
            </a:r>
          </a:p>
        </p:txBody>
      </p:sp>
      <p:sp>
        <p:nvSpPr>
          <p:cNvPr id="11" name="Rounded Rectangle 10"/>
          <p:cNvSpPr/>
          <p:nvPr/>
        </p:nvSpPr>
        <p:spPr>
          <a:xfrm>
            <a:off x="777240" y="1801368"/>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8680" y="1874519"/>
            <a:ext cx="45720" cy="292608"/>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1920240"/>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Assess airway, breathing, circulation, and vital signs.</a:t>
            </a:r>
          </a:p>
        </p:txBody>
      </p:sp>
      <p:sp>
        <p:nvSpPr>
          <p:cNvPr id="14" name="Rounded Rectangle 13"/>
          <p:cNvSpPr/>
          <p:nvPr/>
        </p:nvSpPr>
        <p:spPr>
          <a:xfrm>
            <a:off x="777240" y="2459736"/>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2532888"/>
            <a:ext cx="45720" cy="292608"/>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578608"/>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Do not restart the implicated unit.</a:t>
            </a:r>
          </a:p>
        </p:txBody>
      </p:sp>
      <p:sp>
        <p:nvSpPr>
          <p:cNvPr id="17" name="Rounded Rectangle 16"/>
          <p:cNvSpPr/>
          <p:nvPr/>
        </p:nvSpPr>
        <p:spPr>
          <a:xfrm>
            <a:off x="777240" y="3118104"/>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8680" y="3191256"/>
            <a:ext cx="45720" cy="292608"/>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236976"/>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Follow the transfusion-reaction protocol.</a:t>
            </a:r>
          </a:p>
        </p:txBody>
      </p:sp>
      <p:sp>
        <p:nvSpPr>
          <p:cNvPr id="20" name="Rounded Rectangle 19"/>
          <p:cNvSpPr/>
          <p:nvPr/>
        </p:nvSpPr>
        <p:spPr>
          <a:xfrm>
            <a:off x="777240" y="3776472"/>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8680" y="3849624"/>
            <a:ext cx="45720" cy="292608"/>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895344"/>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Complete required notification and specimen/product handling.</a:t>
            </a:r>
          </a:p>
        </p:txBody>
      </p:sp>
      <p:sp>
        <p:nvSpPr>
          <p:cNvPr id="23" name="Rounded Rectangle 22"/>
          <p:cNvSpPr/>
          <p:nvPr/>
        </p:nvSpPr>
        <p:spPr>
          <a:xfrm>
            <a:off x="1188720" y="5989320"/>
            <a:ext cx="9784080" cy="411480"/>
          </a:xfrm>
          <a:prstGeom prst="roundRect">
            <a:avLst/>
          </a:prstGeom>
          <a:solidFill>
            <a:srgbClr val="FFFFFF"/>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475569"/>
                </a:solidFill>
                <a:latin typeface="Aptos"/>
              </a:rPr>
              <a:t>Answer all of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Takeaway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17</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S17  ·  instructor-added</a:t>
            </a:r>
          </a:p>
        </p:txBody>
      </p:sp>
      <p:sp>
        <p:nvSpPr>
          <p:cNvPr id="7" name="Rounded Rectangle 6"/>
          <p:cNvSpPr/>
          <p:nvPr/>
        </p:nvSpPr>
        <p:spPr>
          <a:xfrm>
            <a:off x="502920"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57784" y="14721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Stop The Transfusion First</a:t>
            </a:r>
          </a:p>
        </p:txBody>
      </p:sp>
      <p:sp>
        <p:nvSpPr>
          <p:cNvPr id="10" name="TextBox 9"/>
          <p:cNvSpPr txBox="1"/>
          <p:nvPr/>
        </p:nvSpPr>
        <p:spPr>
          <a:xfrm>
            <a:off x="667512"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Stop the transfusion first.</a:t>
            </a:r>
          </a:p>
        </p:txBody>
      </p:sp>
      <p:sp>
        <p:nvSpPr>
          <p:cNvPr id="11" name="Rounded Rectangle 10"/>
          <p:cNvSpPr/>
          <p:nvPr/>
        </p:nvSpPr>
        <p:spPr>
          <a:xfrm>
            <a:off x="3340531"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95395" y="14721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5123"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Assess Airway, Breathing, Circulation, A</a:t>
            </a:r>
          </a:p>
        </p:txBody>
      </p:sp>
      <p:sp>
        <p:nvSpPr>
          <p:cNvPr id="14" name="TextBox 13"/>
          <p:cNvSpPr txBox="1"/>
          <p:nvPr/>
        </p:nvSpPr>
        <p:spPr>
          <a:xfrm>
            <a:off x="3505123"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Assess airway, breathing, circulation, and vital signs.</a:t>
            </a:r>
          </a:p>
        </p:txBody>
      </p:sp>
      <p:sp>
        <p:nvSpPr>
          <p:cNvPr id="15" name="Rounded Rectangle 14"/>
          <p:cNvSpPr/>
          <p:nvPr/>
        </p:nvSpPr>
        <p:spPr>
          <a:xfrm>
            <a:off x="6178143"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3007" y="147218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2735"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Do Not Restart The Implicated Unit</a:t>
            </a:r>
          </a:p>
        </p:txBody>
      </p:sp>
      <p:sp>
        <p:nvSpPr>
          <p:cNvPr id="18" name="TextBox 17"/>
          <p:cNvSpPr txBox="1"/>
          <p:nvPr/>
        </p:nvSpPr>
        <p:spPr>
          <a:xfrm>
            <a:off x="6342735"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Do not restart the implicated unit.</a:t>
            </a:r>
          </a:p>
        </p:txBody>
      </p:sp>
      <p:sp>
        <p:nvSpPr>
          <p:cNvPr id="19" name="Rounded Rectangle 18"/>
          <p:cNvSpPr/>
          <p:nvPr/>
        </p:nvSpPr>
        <p:spPr>
          <a:xfrm>
            <a:off x="9015755"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70619" y="147218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347"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Follow The Transfusion-Reaction Protocol</a:t>
            </a:r>
          </a:p>
        </p:txBody>
      </p:sp>
      <p:sp>
        <p:nvSpPr>
          <p:cNvPr id="22" name="TextBox 21"/>
          <p:cNvSpPr txBox="1"/>
          <p:nvPr/>
        </p:nvSpPr>
        <p:spPr>
          <a:xfrm>
            <a:off x="9180347"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Follow the transfusion-reaction protocol.</a:t>
            </a:r>
          </a:p>
        </p:txBody>
      </p:sp>
      <p:sp>
        <p:nvSpPr>
          <p:cNvPr id="23" name="Rounded Rectangle 22"/>
          <p:cNvSpPr/>
          <p:nvPr/>
        </p:nvSpPr>
        <p:spPr>
          <a:xfrm>
            <a:off x="1234440" y="4892040"/>
            <a:ext cx="964692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289304" y="5038344"/>
            <a:ext cx="45720" cy="530352"/>
          </a:xfrm>
          <a:prstGeom prst="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99032" y="5001768"/>
            <a:ext cx="9390888" cy="292608"/>
          </a:xfrm>
          <a:prstGeom prst="rect">
            <a:avLst/>
          </a:prstGeom>
          <a:noFill/>
        </p:spPr>
        <p:txBody>
          <a:bodyPr wrap="square" anchor="t" lIns="27432" rIns="27432" tIns="18288" bIns="18288">
            <a:spAutoFit/>
          </a:bodyPr>
          <a:lstStyle/>
          <a:p>
            <a:pPr algn="l"/>
            <a:r>
              <a:rPr sz="1200" b="1">
                <a:solidFill>
                  <a:srgbClr val="0F172A"/>
                </a:solidFill>
                <a:latin typeface="Aptos"/>
              </a:rPr>
              <a:t>final bedside frame</a:t>
            </a:r>
          </a:p>
        </p:txBody>
      </p:sp>
      <p:sp>
        <p:nvSpPr>
          <p:cNvPr id="26" name="TextBox 25"/>
          <p:cNvSpPr txBox="1"/>
          <p:nvPr/>
        </p:nvSpPr>
        <p:spPr>
          <a:xfrm>
            <a:off x="1399032" y="5330952"/>
            <a:ext cx="9390888" cy="292608"/>
          </a:xfrm>
          <a:prstGeom prst="rect">
            <a:avLst/>
          </a:prstGeom>
          <a:noFill/>
        </p:spPr>
        <p:txBody>
          <a:bodyPr wrap="square" anchor="t" lIns="27432" rIns="27432" tIns="18288" bIns="18288">
            <a:spAutoFit/>
          </a:bodyPr>
          <a:lstStyle/>
          <a:p>
            <a:pPr algn="l"/>
            <a:r>
              <a:rPr sz="800" b="0">
                <a:solidFill>
                  <a:srgbClr val="475569"/>
                </a:solidFill>
                <a:latin typeface="Aptos"/>
              </a:rPr>
              <a:t>Recognize new symptoms during transfusion, stop the blood product, maintain access with appropriate compatible fluid and tubing per policy, assess, and notify.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