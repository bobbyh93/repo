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High-Alert Medication Administration. The concept underneath it is medication safety, and the module rates its safety risk high — its top rating, so this is one to be able to do under pressure rather than one to recognise on a test. Here is the whole lesson in one sentence. Verify the complete medication order, patient-specific parameters, independent checks when required, monitoring, and response to harm. By the end you should be able to do three things: identify safeguards for high-alert medications; recognize parameters that require holding and clarification; and monitor for therapeutic and adverse effects. We get there in three moves, and then spend the second half putting all of them against patient cues, because knowing this and doing it at the bedside are not the same skill.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with a cue rather than a definition, because that is the order the unit gives you: the patient arrives first and the explanation catches up later. Here it is. The prescribed dose is inconsistent with the available concentration and usual range. Decide now, before any of this is taught, what you would do and why that thing first. Write it somewhere you will still be able to read at the end, because this exact cue comes back as the first assessment item. Comparing the two answers is most of what the rest of this session is for.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that follows answers one question. Verify the complete medication order, patient-specific parameters, independent checks when required, monitoring, and response to harm. Keep that sentence in view for the rest of the session. When a slide stops making sense it is almost always because you have lost which part of this sentence it is working on, and naming the part is the fastest way back. The lesson takes the question in three moves — before administration, then during administration, then after administration — and then asks you to apply all of them to cues you have not seen.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first, detail second. The lanes on the left are the lesson's teaching moves, in the order a nurse actually performs them; apply and evaluate on the right are where you are made to use them. The reason to show this before teaching any of it is orientation: every cue you meet today sits in one of these lanes, and knowing which lane a cue belongs to usually tells you what to do with it before you can explain why. When you get stuck later, come back to this slide rather than to the last one you read.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before any of this is taught. These three headings are the whole lesson in order, but they are shuffled on the slide. Put them in the sequence the nurse actually performs them at the bedside, then compare with a neighbour before the reveal. Getting the order wrong here is more useful than getting it right: it shows you which move you would have skipped under pressure.</a:t>
            </a:r>
          </a:p>
          <a:p/>
          <a:p>
            <a:r>
              <a:t>ANSWER KEY:</a:t>
            </a:r>
          </a:p>
          <a:p>
            <a:r>
              <a:t>- Before administration</a:t>
            </a:r>
          </a:p>
          <a:p>
            <a:r>
              <a:t>- During administration</a:t>
            </a:r>
          </a:p>
          <a:p>
            <a:r>
              <a:t>- After administration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administration. Verify patient identity, medication, indication, dose, route, time, allergies, relevant laboratory data, interactions, and required independent checks. This is the first of the three, and the two after it assume it. What you get wrong here does not stay here; it propagates quietly into every decision the rest of the lesson asks you to make. Do not move on until you can say this part back without the slide. The test is the objective: if you can identify safeguards for high-alert medications, this lane has done its job, and if you cannot, nothing later in the lesson will fix it — it will only hide it.</a:t>
            </a:r>
          </a:p>
          <a:p/>
          <a:p>
            <a:r>
              <a:t>VISUAL NOTES: Section 1 of 3 from the source topic.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administration. Use the correct equipment and rate, minimize interruptions, and do not bypass smart-device or barcode safeguards without resolving the cause. This is the middle move, and it is where most of the disagreement in this lesson will sit: the point at which a defensible action and the priority action stop being the same answer. Do not move on until you can say this part back without the slide. The test is the objective: if you can recognize parameters that require holding and clarification, this lane has done its job, and if you cannot, nothing later in the lesson will fix it — it will only hide it.</a:t>
            </a:r>
          </a:p>
          <a:p/>
          <a:p>
            <a:r>
              <a:t>VISUAL NOTES: Section 2 of 3 from the source topic.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administration. Monitor the expected effect and predictable harms, document the response, and act immediately on evidence of an adverse event. This is the last of the three, and it is the one most often left implicit -- the step learners can describe accurately and then do not actually perform when the first two have gone well. Say it out loud; that is how it survives contact with a busy shift. Do not move on until you can say this part back without the slide. The test is the objective: if you can monitor for therapeutic and adverse effects, this lane has done its job, and if you cannot, nothing later in the lesson will fix it — it will only hide it.</a:t>
            </a:r>
          </a:p>
          <a:p/>
          <a:p>
            <a:r>
              <a:t>VISUAL NOTES: Section 3 of 3 from the source topic.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in pairs, four minutes. Every cue on the left was written for one of the lesson moves on the right; your job is to say which, and to be able to defend one of the four out loud. Where the two of you match a cue differently, stop and stay there — you have found a cue whose lane is genuinely arguable, and those are worth more than the three you agreed on instantly. Bring one disagreement to the debrief.</a:t>
            </a:r>
          </a:p>
          <a:p/>
          <a:p>
            <a:r>
              <a:t>ANSWER KEY:</a:t>
            </a:r>
          </a:p>
          <a:p>
            <a:r>
              <a:t>- A relates to: Before administration</a:t>
            </a:r>
          </a:p>
          <a:p>
            <a:r>
              <a:t>- B relates to: During administration</a:t>
            </a:r>
          </a:p>
          <a:p>
            <a:r>
              <a:t>- C relates to: After administration</a:t>
            </a:r>
          </a:p>
          <a:p>
            <a:r>
              <a:t>- D relates to: After administration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four rationales as a set rather than one at a time. They are deliberately repetitive: the same habit of mind is showing up behind four different cues, and that repetition is the teaching point rather than an accident of writing. A learner who memorises four rules will meet a fifth cue and stall. A learner who can name the one habit will handle cues this lesson never showed them. Say the habit out loud in your own words before you leave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question, and it targets the middle of the lesson. The cue is: A required patient-specific laboratory result is unavailable. Read all four options and commit to one before the reveal, because the value of a checkpoint is in being wrong out loud rather than quietly. The reasoning you are being tested on is this: Relevant laboratory data can determine whether administration is safe.</a:t>
            </a:r>
          </a:p>
          <a:p/>
          <a:p>
            <a:r>
              <a:t>CORRECT: C</a:t>
            </a:r>
          </a:p>
          <a:p>
            <a:r>
              <a:t>RATIONALE: Relevant laboratory data can determine whether administration is safe.</a:t>
            </a:r>
          </a:p>
          <a:p/>
          <a:p>
            <a:r>
              <a:t>ANSWER KEY:</a:t>
            </a:r>
          </a:p>
          <a:p>
            <a:r>
              <a:t>- C. Obtain or verify the required result before administering the medication.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bedside moment, and this time you write rather than choose. The situation: Barcode scanning produces a mismatch alert. Write two sentences before the debrief: one naming what you assess, one naming what you do about it. Keep them in that order, because the order is the judgement. The keyed reasoning is: A mismatch alert is a safety signal and should not be bypassed for convenience.</a:t>
            </a:r>
          </a:p>
          <a:p/>
          <a:p>
            <a:r>
              <a:t>ANSWER KEY:</a:t>
            </a:r>
          </a:p>
          <a:p>
            <a:r>
              <a:t>- Stop and resolve the patient, medication, and order mismatch.</a:t>
            </a:r>
          </a:p>
          <a:p>
            <a:r>
              <a:t>- A mismatch alert is a safety signal and should not be bypassed for convenience.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columns, and the sorting rule is the point of the slide. Put a cue on the left when delay changes the outcome for the patient, and on the right when the correct action is verification, planning or teaching that a short delay does not worsen. Justify one of your placements aloud. Learners who can sort these reliably are the ones who prioritise well under load.</a:t>
            </a:r>
          </a:p>
          <a:p/>
          <a:p>
            <a:r>
              <a:t>ANSWER KEY:</a:t>
            </a:r>
          </a:p>
          <a:p>
            <a:r>
              <a:t>- Act now: the cues whose keyed action is immediate</a:t>
            </a:r>
          </a:p>
          <a:p>
            <a:r>
              <a:t>- Act in sequence: the cues whose keyed action is verification or planning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lesson turned into something you can write down. The module asks you to be able to fill every one of these fields for any patient in this situation, and the value is in the blanks: a field you cannot complete is not a documentation gap, it is an assessment you have not done yet. Fill them now for the mini-case patient, and notice which field you reach for last — that one is your weak lane.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question, and the hardest cue the topic carries: The patient develops signs of an acute adverse reaction during administration. All four options are things a nurse might plausibly do, which is what makes it a capstone rather than a checkpoint. Choose the priority action, not merely a defensible one. The reasoning that separates them: Immediate assessment and response limit ongoing exposure and address instability.</a:t>
            </a:r>
          </a:p>
          <a:p/>
          <a:p>
            <a:r>
              <a:t>CORRECT: B</a:t>
            </a:r>
          </a:p>
          <a:p>
            <a:r>
              <a:t>RATIONALE: Immediate assessment and response limit ongoing exposure and address instability.</a:t>
            </a:r>
          </a:p>
          <a:p/>
          <a:p>
            <a:r>
              <a:t>ANSWER KEY:</a:t>
            </a:r>
          </a:p>
          <a:p>
            <a:r>
              <a:t>- B. Stop the medication when appropriate, assess the patient, and activate the emergency response pathway.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loop with no notes. Answer each of these aloud or on paper, one per lane of the lesson. The answers are on the slides you have just seen and in the facilitator guide, so this is retrieval rather than assessment. If any one of them produces silence across the room, that is the lane to re-teach before this cohort meets the situation on a real unit.</a:t>
            </a:r>
          </a:p>
          <a:p/>
          <a:p>
            <a:r>
              <a:t>ANSWER KEY:</a:t>
            </a:r>
          </a:p>
          <a:p>
            <a:r>
              <a:t>- Know why the patient is receiving the medication.</a:t>
            </a:r>
          </a:p>
          <a:p>
            <a:r>
              <a:t>- Resolve incomplete or inconsistent orders.</a:t>
            </a:r>
          </a:p>
          <a:p>
            <a:r>
              <a:t>- Use required independent checks.</a:t>
            </a:r>
          </a:p>
          <a:p>
            <a:r>
              <a:t>- Monitoring is part of administration.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where we opened. The question was: Verify the complete medication order, patient-specific parameters, independent checks when required, monitoring, and response to harm. The lines on this slide are the module's own answer, and they are what should still be there in a week when the detail has gone. If you keep one, keep the first: Know why the patient is receiving the medication. Everything else here is that sentence applied to a different cue. Go back now to what you wrote at the opening case and see whether you would still do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02920" y="457200"/>
            <a:ext cx="2194560" cy="182880"/>
          </a:xfrm>
          <a:prstGeom prst="rect">
            <a:avLst/>
          </a:prstGeom>
          <a:noFill/>
        </p:spPr>
        <p:txBody>
          <a:bodyPr wrap="square" anchor="t" lIns="27432" rIns="27432" tIns="18288" bIns="18288">
            <a:spAutoFit/>
          </a:bodyPr>
          <a:lstStyle/>
          <a:p>
            <a:pPr algn="l"/>
            <a:r>
              <a:rPr sz="720" b="1">
                <a:solidFill>
                  <a:srgbClr val="2563EB"/>
                </a:solidFill>
                <a:latin typeface="Aptos"/>
              </a:rPr>
              <a:t>OPEN</a:t>
            </a:r>
          </a:p>
        </p:txBody>
      </p:sp>
      <p:sp>
        <p:nvSpPr>
          <p:cNvPr id="3" name="TextBox 2"/>
          <p:cNvSpPr txBox="1"/>
          <p:nvPr/>
        </p:nvSpPr>
        <p:spPr>
          <a:xfrm>
            <a:off x="502920" y="822960"/>
            <a:ext cx="7498079" cy="548640"/>
          </a:xfrm>
          <a:prstGeom prst="rect">
            <a:avLst/>
          </a:prstGeom>
          <a:noFill/>
        </p:spPr>
        <p:txBody>
          <a:bodyPr wrap="square" anchor="t" lIns="27432" rIns="27432" tIns="18288" bIns="18288">
            <a:spAutoFit/>
          </a:bodyPr>
          <a:lstStyle/>
          <a:p>
            <a:pPr algn="l"/>
            <a:r>
              <a:rPr sz="2800" b="1">
                <a:solidFill>
                  <a:srgbClr val="0F172A"/>
                </a:solidFill>
                <a:latin typeface="Aptos"/>
              </a:rPr>
              <a:t>High-Alert Medication Administration</a:t>
            </a:r>
          </a:p>
        </p:txBody>
      </p:sp>
      <p:sp>
        <p:nvSpPr>
          <p:cNvPr id="4" name="TextBox 3"/>
          <p:cNvSpPr txBox="1"/>
          <p:nvPr/>
        </p:nvSpPr>
        <p:spPr>
          <a:xfrm>
            <a:off x="530352" y="1463040"/>
            <a:ext cx="7589520" cy="438912"/>
          </a:xfrm>
          <a:prstGeom prst="rect">
            <a:avLst/>
          </a:prstGeom>
          <a:noFill/>
        </p:spPr>
        <p:txBody>
          <a:bodyPr wrap="square" anchor="t" lIns="27432" rIns="27432" tIns="18288" bIns="18288">
            <a:spAutoFit/>
          </a:bodyPr>
          <a:lstStyle/>
          <a:p>
            <a:pPr algn="l"/>
            <a:r>
              <a:rPr sz="1200" b="0">
                <a:solidFill>
                  <a:srgbClr val="475569"/>
                </a:solidFill>
                <a:latin typeface="Aptos"/>
              </a:rPr>
              <a:t>NCLEX  ·  Pharmacological and Parenteral Therapies  ·  High-Alert_Medication_Administration</a:t>
            </a:r>
          </a:p>
        </p:txBody>
      </p:sp>
      <p:sp>
        <p:nvSpPr>
          <p:cNvPr id="5" name="Rounded Rectangle 4"/>
          <p:cNvSpPr/>
          <p:nvPr/>
        </p:nvSpPr>
        <p:spPr>
          <a:xfrm>
            <a:off x="502920" y="2331720"/>
            <a:ext cx="5303520" cy="10515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7784" y="2478024"/>
            <a:ext cx="45720" cy="758951"/>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441448"/>
            <a:ext cx="5047488" cy="292608"/>
          </a:xfrm>
          <a:prstGeom prst="rect">
            <a:avLst/>
          </a:prstGeom>
          <a:noFill/>
        </p:spPr>
        <p:txBody>
          <a:bodyPr wrap="square" anchor="t" lIns="27432" rIns="27432" tIns="18288" bIns="18288">
            <a:spAutoFit/>
          </a:bodyPr>
          <a:lstStyle/>
          <a:p>
            <a:pPr algn="l"/>
            <a:r>
              <a:rPr sz="1300" b="1">
                <a:solidFill>
                  <a:srgbClr val="0F172A"/>
                </a:solidFill>
                <a:latin typeface="Aptos"/>
              </a:rPr>
              <a:t>clinical question</a:t>
            </a:r>
          </a:p>
        </p:txBody>
      </p:sp>
      <p:sp>
        <p:nvSpPr>
          <p:cNvPr id="8" name="TextBox 7"/>
          <p:cNvSpPr txBox="1"/>
          <p:nvPr/>
        </p:nvSpPr>
        <p:spPr>
          <a:xfrm>
            <a:off x="667512" y="2770632"/>
            <a:ext cx="5047488" cy="521207"/>
          </a:xfrm>
          <a:prstGeom prst="rect">
            <a:avLst/>
          </a:prstGeom>
          <a:noFill/>
        </p:spPr>
        <p:txBody>
          <a:bodyPr wrap="square" anchor="t" lIns="27432" rIns="27432" tIns="18288" bIns="18288">
            <a:spAutoFit/>
          </a:bodyPr>
          <a:lstStyle/>
          <a:p>
            <a:pPr algn="l"/>
            <a:r>
              <a:rPr sz="900" b="0">
                <a:solidFill>
                  <a:srgbClr val="475569"/>
                </a:solidFill>
                <a:latin typeface="Aptos"/>
              </a:rPr>
              <a:t>Verify the complete medication order, patient-specific parameters, independent checks when required, monitoring, and response to harm.</a:t>
            </a:r>
          </a:p>
        </p:txBody>
      </p:sp>
      <p:sp>
        <p:nvSpPr>
          <p:cNvPr id="9" name="Rounded Rectangle 8"/>
          <p:cNvSpPr/>
          <p:nvPr/>
        </p:nvSpPr>
        <p:spPr>
          <a:xfrm>
            <a:off x="502920" y="3611880"/>
            <a:ext cx="5303520" cy="132588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7784" y="3758184"/>
            <a:ext cx="45720" cy="1033271"/>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3721608"/>
            <a:ext cx="5047488" cy="292608"/>
          </a:xfrm>
          <a:prstGeom prst="rect">
            <a:avLst/>
          </a:prstGeom>
          <a:noFill/>
        </p:spPr>
        <p:txBody>
          <a:bodyPr wrap="square" anchor="t" lIns="27432" rIns="27432" tIns="18288" bIns="18288">
            <a:spAutoFit/>
          </a:bodyPr>
          <a:lstStyle/>
          <a:p>
            <a:pPr algn="l"/>
            <a:r>
              <a:rPr sz="1300" b="1">
                <a:solidFill>
                  <a:srgbClr val="0F172A"/>
                </a:solidFill>
                <a:latin typeface="Aptos"/>
              </a:rPr>
              <a:t>today is not a vocabulary tour</a:t>
            </a:r>
          </a:p>
        </p:txBody>
      </p:sp>
      <p:sp>
        <p:nvSpPr>
          <p:cNvPr id="12" name="TextBox 11"/>
          <p:cNvSpPr txBox="1"/>
          <p:nvPr/>
        </p:nvSpPr>
        <p:spPr>
          <a:xfrm>
            <a:off x="667512" y="4050791"/>
            <a:ext cx="5047488" cy="795528"/>
          </a:xfrm>
          <a:prstGeom prst="rect">
            <a:avLst/>
          </a:prstGeom>
          <a:noFill/>
        </p:spPr>
        <p:txBody>
          <a:bodyPr wrap="square" anchor="t" lIns="27432" rIns="27432" tIns="18288" bIns="18288">
            <a:spAutoFit/>
          </a:bodyPr>
          <a:lstStyle/>
          <a:p>
            <a:pPr algn="l"/>
            <a:r>
              <a:rPr sz="900" b="0">
                <a:solidFill>
                  <a:srgbClr val="475569"/>
                </a:solidFill>
                <a:latin typeface="Aptos"/>
              </a:rPr>
              <a:t>you will use the science only when it explains a patient question or a safety decision.</a:t>
            </a:r>
          </a:p>
        </p:txBody>
      </p:sp>
      <p:sp>
        <p:nvSpPr>
          <p:cNvPr id="13" name="Rounded Rectangle 12"/>
          <p:cNvSpPr/>
          <p:nvPr/>
        </p:nvSpPr>
        <p:spPr>
          <a:xfrm>
            <a:off x="8458200" y="502920"/>
            <a:ext cx="1965960" cy="196596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32520" y="914400"/>
            <a:ext cx="1417320" cy="274320"/>
          </a:xfrm>
          <a:prstGeom prst="rect">
            <a:avLst/>
          </a:prstGeom>
          <a:noFill/>
        </p:spPr>
        <p:txBody>
          <a:bodyPr wrap="square" anchor="t" lIns="27432" rIns="27432" tIns="18288" bIns="18288">
            <a:spAutoFit/>
          </a:bodyPr>
          <a:lstStyle/>
          <a:p>
            <a:pPr algn="ctr"/>
            <a:r>
              <a:rPr sz="1300" b="1">
                <a:solidFill>
                  <a:srgbClr val="2563EB"/>
                </a:solidFill>
                <a:latin typeface="Aptos"/>
              </a:rPr>
              <a:t>Nurse lens</a:t>
            </a:r>
          </a:p>
        </p:txBody>
      </p:sp>
      <p:sp>
        <p:nvSpPr>
          <p:cNvPr id="15" name="TextBox 14"/>
          <p:cNvSpPr txBox="1"/>
          <p:nvPr/>
        </p:nvSpPr>
        <p:spPr>
          <a:xfrm>
            <a:off x="8915400" y="1234440"/>
            <a:ext cx="1097280" cy="685800"/>
          </a:xfrm>
          <a:prstGeom prst="rect">
            <a:avLst/>
          </a:prstGeom>
          <a:noFill/>
        </p:spPr>
        <p:txBody>
          <a:bodyPr wrap="square" anchor="t" lIns="27432" rIns="27432" tIns="18288" bIns="18288">
            <a:spAutoFit/>
          </a:bodyPr>
          <a:lstStyle/>
          <a:p>
            <a:pPr algn="ctr"/>
            <a:r>
              <a:rPr sz="1000" b="1">
                <a:solidFill>
                  <a:srgbClr val="0F172A"/>
                </a:solidFill>
                <a:latin typeface="Aptos"/>
              </a:rPr>
              <a:t>TEACH
ASSESS
ESCALATE</a:t>
            </a:r>
          </a:p>
        </p:txBody>
      </p:sp>
      <p:sp>
        <p:nvSpPr>
          <p:cNvPr id="16" name="Rounded Rectangle 15"/>
          <p:cNvSpPr/>
          <p:nvPr/>
        </p:nvSpPr>
        <p:spPr>
          <a:xfrm>
            <a:off x="640080" y="5257800"/>
            <a:ext cx="242316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4944" y="5404104"/>
            <a:ext cx="45720" cy="365759"/>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 y="5367528"/>
            <a:ext cx="2167128" cy="292608"/>
          </a:xfrm>
          <a:prstGeom prst="rect">
            <a:avLst/>
          </a:prstGeom>
          <a:noFill/>
        </p:spPr>
        <p:txBody>
          <a:bodyPr wrap="square" anchor="t" lIns="27432" rIns="27432" tIns="18288" bIns="18288">
            <a:spAutoFit/>
          </a:bodyPr>
          <a:lstStyle/>
          <a:p>
            <a:pPr algn="l"/>
            <a:r>
              <a:rPr sz="1200" b="1">
                <a:solidFill>
                  <a:srgbClr val="0F172A"/>
                </a:solidFill>
                <a:latin typeface="Aptos"/>
              </a:rPr>
              <a:t>1</a:t>
            </a:r>
          </a:p>
        </p:txBody>
      </p:sp>
      <p:sp>
        <p:nvSpPr>
          <p:cNvPr id="19" name="TextBox 18"/>
          <p:cNvSpPr txBox="1"/>
          <p:nvPr/>
        </p:nvSpPr>
        <p:spPr>
          <a:xfrm>
            <a:off x="804671" y="5696712"/>
            <a:ext cx="2167128" cy="128016"/>
          </a:xfrm>
          <a:prstGeom prst="rect">
            <a:avLst/>
          </a:prstGeom>
          <a:noFill/>
        </p:spPr>
        <p:txBody>
          <a:bodyPr wrap="square" anchor="t" lIns="27432" rIns="27432" tIns="18288" bIns="18288">
            <a:spAutoFit/>
          </a:bodyPr>
          <a:lstStyle/>
          <a:p>
            <a:pPr algn="l"/>
            <a:r>
              <a:rPr sz="800" b="0">
                <a:solidFill>
                  <a:srgbClr val="475569"/>
                </a:solidFill>
                <a:latin typeface="Aptos"/>
              </a:rPr>
              <a:t>High-Alert Medication Administration</a:t>
            </a:r>
          </a:p>
        </p:txBody>
      </p:sp>
      <p:sp>
        <p:nvSpPr>
          <p:cNvPr id="20" name="Rounded Rectangle 19"/>
          <p:cNvSpPr/>
          <p:nvPr/>
        </p:nvSpPr>
        <p:spPr>
          <a:xfrm>
            <a:off x="3429000" y="5257800"/>
            <a:ext cx="242316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83864" y="5404104"/>
            <a:ext cx="45720" cy="365759"/>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93592" y="5367528"/>
            <a:ext cx="2167128" cy="292608"/>
          </a:xfrm>
          <a:prstGeom prst="rect">
            <a:avLst/>
          </a:prstGeom>
          <a:noFill/>
        </p:spPr>
        <p:txBody>
          <a:bodyPr wrap="square" anchor="t" lIns="27432" rIns="27432" tIns="18288" bIns="18288">
            <a:spAutoFit/>
          </a:bodyPr>
          <a:lstStyle/>
          <a:p>
            <a:pPr algn="l"/>
            <a:r>
              <a:rPr sz="1200" b="1">
                <a:solidFill>
                  <a:srgbClr val="0F172A"/>
                </a:solidFill>
                <a:latin typeface="Aptos"/>
              </a:rPr>
              <a:t>2</a:t>
            </a:r>
          </a:p>
        </p:txBody>
      </p:sp>
      <p:sp>
        <p:nvSpPr>
          <p:cNvPr id="23" name="TextBox 22"/>
          <p:cNvSpPr txBox="1"/>
          <p:nvPr/>
        </p:nvSpPr>
        <p:spPr>
          <a:xfrm>
            <a:off x="3593592" y="5696712"/>
            <a:ext cx="2167128" cy="128016"/>
          </a:xfrm>
          <a:prstGeom prst="rect">
            <a:avLst/>
          </a:prstGeom>
          <a:noFill/>
        </p:spPr>
        <p:txBody>
          <a:bodyPr wrap="square" anchor="t" lIns="27432" rIns="27432" tIns="18288" bIns="18288">
            <a:spAutoFit/>
          </a:bodyPr>
          <a:lstStyle/>
          <a:p>
            <a:pPr algn="l"/>
            <a:r>
              <a:rPr sz="800" b="0">
                <a:solidFill>
                  <a:srgbClr val="475569"/>
                </a:solidFill>
                <a:latin typeface="Aptos"/>
              </a:rPr>
              <a:t>Prelicensure RN · Pharmacological and Parenteral Therapies · safety risk: high</a:t>
            </a:r>
          </a:p>
        </p:txBody>
      </p:sp>
      <p:sp>
        <p:nvSpPr>
          <p:cNvPr id="24" name="TextBox 23"/>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25" name="TextBox 24"/>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S01  ·  instructor-added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OPEN</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Opening case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2</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S02  ·  source-aligned</a:t>
            </a:r>
          </a:p>
        </p:txBody>
      </p:sp>
      <p:sp>
        <p:nvSpPr>
          <p:cNvPr id="8" name="Rounded Rectangle 7"/>
          <p:cNvSpPr/>
          <p:nvPr/>
        </p:nvSpPr>
        <p:spPr>
          <a:xfrm>
            <a:off x="548640" y="1097280"/>
            <a:ext cx="5394960" cy="1325880"/>
          </a:xfrm>
          <a:prstGeom prst="roundRect">
            <a:avLst/>
          </a:prstGeom>
          <a:solidFill>
            <a:srgbClr val="FFF7ED"/>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3503" y="1243584"/>
            <a:ext cx="45720" cy="1033271"/>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207007"/>
            <a:ext cx="5138928" cy="292608"/>
          </a:xfrm>
          <a:prstGeom prst="rect">
            <a:avLst/>
          </a:prstGeom>
          <a:noFill/>
        </p:spPr>
        <p:txBody>
          <a:bodyPr wrap="square" anchor="t" lIns="27432" rIns="27432" tIns="18288" bIns="18288">
            <a:spAutoFit/>
          </a:bodyPr>
          <a:lstStyle/>
          <a:p>
            <a:pPr algn="l"/>
            <a:r>
              <a:rPr sz="1300" b="1">
                <a:solidFill>
                  <a:srgbClr val="0F172A"/>
                </a:solidFill>
                <a:latin typeface="Aptos"/>
              </a:rPr>
              <a:t>patient says</a:t>
            </a:r>
          </a:p>
        </p:txBody>
      </p:sp>
      <p:sp>
        <p:nvSpPr>
          <p:cNvPr id="11" name="TextBox 10"/>
          <p:cNvSpPr txBox="1"/>
          <p:nvPr/>
        </p:nvSpPr>
        <p:spPr>
          <a:xfrm>
            <a:off x="713232" y="1536192"/>
            <a:ext cx="5138928" cy="795528"/>
          </a:xfrm>
          <a:prstGeom prst="rect">
            <a:avLst/>
          </a:prstGeom>
          <a:noFill/>
        </p:spPr>
        <p:txBody>
          <a:bodyPr wrap="square" anchor="t" lIns="27432" rIns="27432" tIns="18288" bIns="18288">
            <a:spAutoFit/>
          </a:bodyPr>
          <a:lstStyle/>
          <a:p>
            <a:pPr algn="l"/>
            <a:r>
              <a:rPr sz="1000" b="0">
                <a:solidFill>
                  <a:srgbClr val="475569"/>
                </a:solidFill>
                <a:latin typeface="Aptos"/>
              </a:rPr>
              <a:t>The prescribed dose is inconsistent with the available concentration and usual range.</a:t>
            </a:r>
          </a:p>
        </p:txBody>
      </p:sp>
      <p:sp>
        <p:nvSpPr>
          <p:cNvPr id="12" name="Rounded Rectangle 11"/>
          <p:cNvSpPr/>
          <p:nvPr/>
        </p:nvSpPr>
        <p:spPr>
          <a:xfrm>
            <a:off x="548640" y="2743200"/>
            <a:ext cx="2651760" cy="1828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3503" y="2889504"/>
            <a:ext cx="45720" cy="153619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852928"/>
            <a:ext cx="2395728" cy="292608"/>
          </a:xfrm>
          <a:prstGeom prst="rect">
            <a:avLst/>
          </a:prstGeom>
          <a:noFill/>
        </p:spPr>
        <p:txBody>
          <a:bodyPr wrap="square" anchor="t" lIns="27432" rIns="27432" tIns="18288" bIns="18288">
            <a:spAutoFit/>
          </a:bodyPr>
          <a:lstStyle/>
          <a:p>
            <a:pPr algn="l"/>
            <a:r>
              <a:rPr sz="1200" b="1">
                <a:solidFill>
                  <a:srgbClr val="0F172A"/>
                </a:solidFill>
                <a:latin typeface="Aptos"/>
              </a:rPr>
              <a:t>what you know so far</a:t>
            </a:r>
          </a:p>
        </p:txBody>
      </p:sp>
      <p:sp>
        <p:nvSpPr>
          <p:cNvPr id="15" name="TextBox 14"/>
          <p:cNvSpPr txBox="1"/>
          <p:nvPr/>
        </p:nvSpPr>
        <p:spPr>
          <a:xfrm>
            <a:off x="713232" y="3182112"/>
            <a:ext cx="2395728" cy="1298448"/>
          </a:xfrm>
          <a:prstGeom prst="rect">
            <a:avLst/>
          </a:prstGeom>
          <a:noFill/>
        </p:spPr>
        <p:txBody>
          <a:bodyPr wrap="square" anchor="t" lIns="27432" rIns="27432" tIns="18288" bIns="18288">
            <a:spAutoFit/>
          </a:bodyPr>
          <a:lstStyle/>
          <a:p>
            <a:pPr algn="l"/>
            <a:r>
              <a:rPr sz="850" b="0">
                <a:solidFill>
                  <a:srgbClr val="475569"/>
                </a:solidFill>
                <a:latin typeface="Aptos"/>
              </a:rPr>
              <a:t>- Objective in play: Identify safeguards for high-alert medications.
- Concept: Medication Safety</a:t>
            </a:r>
          </a:p>
        </p:txBody>
      </p:sp>
      <p:sp>
        <p:nvSpPr>
          <p:cNvPr id="16" name="Rounded Rectangle 15"/>
          <p:cNvSpPr/>
          <p:nvPr/>
        </p:nvSpPr>
        <p:spPr>
          <a:xfrm>
            <a:off x="3429000" y="2743200"/>
            <a:ext cx="2651760" cy="1828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83864" y="2889504"/>
            <a:ext cx="45720" cy="153619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93592" y="2852928"/>
            <a:ext cx="2395728" cy="292608"/>
          </a:xfrm>
          <a:prstGeom prst="rect">
            <a:avLst/>
          </a:prstGeom>
          <a:noFill/>
        </p:spPr>
        <p:txBody>
          <a:bodyPr wrap="square" anchor="t" lIns="27432" rIns="27432" tIns="18288" bIns="18288">
            <a:spAutoFit/>
          </a:bodyPr>
          <a:lstStyle/>
          <a:p>
            <a:pPr algn="l"/>
            <a:r>
              <a:rPr sz="1200" b="1">
                <a:solidFill>
                  <a:srgbClr val="0F172A"/>
                </a:solidFill>
                <a:latin typeface="Aptos"/>
              </a:rPr>
              <a:t>what you do not know yet</a:t>
            </a:r>
          </a:p>
        </p:txBody>
      </p:sp>
      <p:sp>
        <p:nvSpPr>
          <p:cNvPr id="19" name="Rounded Rectangle 18"/>
          <p:cNvSpPr/>
          <p:nvPr/>
        </p:nvSpPr>
        <p:spPr>
          <a:xfrm>
            <a:off x="6629400" y="1097280"/>
            <a:ext cx="4389120" cy="3520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684264" y="1243584"/>
            <a:ext cx="45720" cy="3227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93992" y="1207007"/>
            <a:ext cx="4133087" cy="292608"/>
          </a:xfrm>
          <a:prstGeom prst="rect">
            <a:avLst/>
          </a:prstGeom>
          <a:noFill/>
        </p:spPr>
        <p:txBody>
          <a:bodyPr wrap="square" anchor="t" lIns="27432" rIns="27432" tIns="18288" bIns="18288">
            <a:spAutoFit/>
          </a:bodyPr>
          <a:lstStyle/>
          <a:p>
            <a:pPr algn="l"/>
            <a:r>
              <a:rPr sz="1400" b="1">
                <a:solidFill>
                  <a:srgbClr val="0F172A"/>
                </a:solidFill>
                <a:latin typeface="Aptos"/>
              </a:rPr>
              <a:t>your first task</a:t>
            </a:r>
          </a:p>
        </p:txBody>
      </p:sp>
      <p:sp>
        <p:nvSpPr>
          <p:cNvPr id="22" name="TextBox 21"/>
          <p:cNvSpPr txBox="1"/>
          <p:nvPr/>
        </p:nvSpPr>
        <p:spPr>
          <a:xfrm>
            <a:off x="6793992" y="1536192"/>
            <a:ext cx="4133087" cy="2990088"/>
          </a:xfrm>
          <a:prstGeom prst="rect">
            <a:avLst/>
          </a:prstGeom>
          <a:noFill/>
        </p:spPr>
        <p:txBody>
          <a:bodyPr wrap="square" anchor="t" lIns="27432" rIns="27432" tIns="18288" bIns="18288">
            <a:spAutoFit/>
          </a:bodyPr>
          <a:lstStyle/>
          <a:p>
            <a:pPr algn="l"/>
            <a:r>
              <a:rPr sz="1000" b="0">
                <a:solidFill>
                  <a:srgbClr val="475569"/>
                </a:solidFill>
                <a:latin typeface="Aptos"/>
              </a:rPr>
              <a:t>Thirty seconds: what is your first action, and why that one first?</a:t>
            </a:r>
          </a:p>
        </p:txBody>
      </p:sp>
      <p:sp>
        <p:nvSpPr>
          <p:cNvPr id="23" name="Rounded Rectangle 22"/>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Before facts: decide what information is missing and what could be unsafe.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MAP</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The question this lesson answers</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3</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S03  ·  instructor-added</a:t>
            </a:r>
          </a:p>
        </p:txBody>
      </p:sp>
      <p:sp>
        <p:nvSpPr>
          <p:cNvPr id="8" name="Rounded Rectangle 7"/>
          <p:cNvSpPr/>
          <p:nvPr/>
        </p:nvSpPr>
        <p:spPr>
          <a:xfrm>
            <a:off x="1463040" y="960120"/>
            <a:ext cx="9235440" cy="777240"/>
          </a:xfrm>
          <a:prstGeom prst="round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91640" y="1143000"/>
            <a:ext cx="8778240" cy="384048"/>
          </a:xfrm>
          <a:prstGeom prst="rect">
            <a:avLst/>
          </a:prstGeom>
          <a:noFill/>
        </p:spPr>
        <p:txBody>
          <a:bodyPr wrap="square" anchor="ctr" lIns="27432" rIns="27432" tIns="18288" bIns="18288">
            <a:spAutoFit/>
          </a:bodyPr>
          <a:lstStyle/>
          <a:p>
            <a:pPr algn="ctr"/>
            <a:r>
              <a:rPr sz="1600" b="1">
                <a:solidFill>
                  <a:srgbClr val="FFFFFF"/>
                </a:solidFill>
                <a:latin typeface="Aptos"/>
              </a:rPr>
              <a:t>Verify the complete medication order, patient-specific parameters, independent checks when required, monitoring, and response to harm.</a:t>
            </a:r>
          </a:p>
        </p:txBody>
      </p:sp>
      <p:sp>
        <p:nvSpPr>
          <p:cNvPr id="10" name="Rounded Rectangle 9"/>
          <p:cNvSpPr/>
          <p:nvPr/>
        </p:nvSpPr>
        <p:spPr>
          <a:xfrm>
            <a:off x="594360"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 y="2295144"/>
            <a:ext cx="45720" cy="882396"/>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Before Administration</a:t>
            </a:r>
          </a:p>
        </p:txBody>
      </p:sp>
      <p:sp>
        <p:nvSpPr>
          <p:cNvPr id="13" name="TextBox 12"/>
          <p:cNvSpPr txBox="1"/>
          <p:nvPr/>
        </p:nvSpPr>
        <p:spPr>
          <a:xfrm>
            <a:off x="758952"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Before administration</a:t>
            </a:r>
          </a:p>
        </p:txBody>
      </p:sp>
      <p:sp>
        <p:nvSpPr>
          <p:cNvPr id="14" name="Rounded Rectangle 13"/>
          <p:cNvSpPr/>
          <p:nvPr/>
        </p:nvSpPr>
        <p:spPr>
          <a:xfrm>
            <a:off x="3386251"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41115" y="2295144"/>
            <a:ext cx="45720" cy="882396"/>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0843"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During Administration</a:t>
            </a:r>
          </a:p>
        </p:txBody>
      </p:sp>
      <p:sp>
        <p:nvSpPr>
          <p:cNvPr id="17" name="TextBox 16"/>
          <p:cNvSpPr txBox="1"/>
          <p:nvPr/>
        </p:nvSpPr>
        <p:spPr>
          <a:xfrm>
            <a:off x="3550843"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During administration</a:t>
            </a:r>
          </a:p>
        </p:txBody>
      </p:sp>
      <p:sp>
        <p:nvSpPr>
          <p:cNvPr id="18" name="Rounded Rectangle 17"/>
          <p:cNvSpPr/>
          <p:nvPr/>
        </p:nvSpPr>
        <p:spPr>
          <a:xfrm>
            <a:off x="6178143"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3007" y="2295144"/>
            <a:ext cx="45720" cy="882396"/>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2735"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After Administration</a:t>
            </a:r>
          </a:p>
        </p:txBody>
      </p:sp>
      <p:sp>
        <p:nvSpPr>
          <p:cNvPr id="21" name="TextBox 20"/>
          <p:cNvSpPr txBox="1"/>
          <p:nvPr/>
        </p:nvSpPr>
        <p:spPr>
          <a:xfrm>
            <a:off x="6342735"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After administration</a:t>
            </a:r>
          </a:p>
        </p:txBody>
      </p:sp>
      <p:sp>
        <p:nvSpPr>
          <p:cNvPr id="22" name="Rounded Rectangle 21"/>
          <p:cNvSpPr/>
          <p:nvPr/>
        </p:nvSpPr>
        <p:spPr>
          <a:xfrm>
            <a:off x="8970035"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24899" y="2295144"/>
            <a:ext cx="45720" cy="882396"/>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34627"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Apply</a:t>
            </a:r>
          </a:p>
        </p:txBody>
      </p:sp>
      <p:sp>
        <p:nvSpPr>
          <p:cNvPr id="25" name="TextBox 24"/>
          <p:cNvSpPr txBox="1"/>
          <p:nvPr/>
        </p:nvSpPr>
        <p:spPr>
          <a:xfrm>
            <a:off x="9134627"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case and items</a:t>
            </a:r>
          </a:p>
        </p:txBody>
      </p:sp>
      <p:sp>
        <p:nvSpPr>
          <p:cNvPr id="26" name="Rounded Rectangle 25"/>
          <p:cNvSpPr/>
          <p:nvPr/>
        </p:nvSpPr>
        <p:spPr>
          <a:xfrm>
            <a:off x="594360" y="3488436"/>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9224" y="3634740"/>
            <a:ext cx="45720" cy="882396"/>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 y="3598164"/>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Evaluate</a:t>
            </a:r>
          </a:p>
        </p:txBody>
      </p:sp>
      <p:sp>
        <p:nvSpPr>
          <p:cNvPr id="29" name="TextBox 28"/>
          <p:cNvSpPr txBox="1"/>
          <p:nvPr/>
        </p:nvSpPr>
        <p:spPr>
          <a:xfrm>
            <a:off x="758952" y="3927348"/>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retrieval; takeaway</a:t>
            </a:r>
          </a:p>
        </p:txBody>
      </p:sp>
      <p:sp>
        <p:nvSpPr>
          <p:cNvPr id="30" name="Rounded Rectangle 29"/>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Every concept must answer: what do I teach, what do I assess, what must I escalate?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MAP</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Lesson map</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4</a:t>
            </a:r>
          </a:p>
        </p:txBody>
      </p:sp>
      <p:sp>
        <p:nvSpPr>
          <p:cNvPr id="5" name="TextBox 4"/>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6" name="TextBox 5"/>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S04  ·  instructor-added</a:t>
            </a:r>
          </a:p>
        </p:txBody>
      </p:sp>
      <p:cxnSp>
        <p:nvCxnSpPr>
          <p:cNvPr id="7" name="Connector 6"/>
          <p:cNvCxnSpPr/>
          <p:nvPr/>
        </p:nvCxnSpPr>
        <p:spPr>
          <a:xfrm>
            <a:off x="1143000" y="2148840"/>
            <a:ext cx="9601200" cy="0"/>
          </a:xfrm>
          <a:prstGeom prst="line">
            <a:avLst/>
          </a:prstGeom>
          <a:ln w="38100">
            <a:solidFill>
              <a:srgbClr val="D7DFEA"/>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03503" y="1975104"/>
            <a:ext cx="347472" cy="347472"/>
          </a:xfrm>
          <a:prstGeom prst="round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1</a:t>
            </a:r>
          </a:p>
        </p:txBody>
      </p:sp>
      <p:sp>
        <p:nvSpPr>
          <p:cNvPr id="10" name="TextBox 9"/>
          <p:cNvSpPr txBox="1"/>
          <p:nvPr/>
        </p:nvSpPr>
        <p:spPr>
          <a:xfrm>
            <a:off x="91439"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Before Administration</a:t>
            </a:r>
          </a:p>
        </p:txBody>
      </p:sp>
      <p:sp>
        <p:nvSpPr>
          <p:cNvPr id="11" name="TextBox 10"/>
          <p:cNvSpPr txBox="1"/>
          <p:nvPr/>
        </p:nvSpPr>
        <p:spPr>
          <a:xfrm>
            <a:off x="45719"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Before administration</a:t>
            </a:r>
          </a:p>
        </p:txBody>
      </p:sp>
      <p:sp>
        <p:nvSpPr>
          <p:cNvPr id="12" name="Rounded Rectangle 11"/>
          <p:cNvSpPr/>
          <p:nvPr/>
        </p:nvSpPr>
        <p:spPr>
          <a:xfrm>
            <a:off x="3186684" y="1975104"/>
            <a:ext cx="347472" cy="347472"/>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5069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2</a:t>
            </a:r>
          </a:p>
        </p:txBody>
      </p:sp>
      <p:sp>
        <p:nvSpPr>
          <p:cNvPr id="14" name="TextBox 13"/>
          <p:cNvSpPr txBox="1"/>
          <p:nvPr/>
        </p:nvSpPr>
        <p:spPr>
          <a:xfrm>
            <a:off x="267462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During Administration</a:t>
            </a:r>
          </a:p>
        </p:txBody>
      </p:sp>
      <p:sp>
        <p:nvSpPr>
          <p:cNvPr id="15" name="TextBox 14"/>
          <p:cNvSpPr txBox="1"/>
          <p:nvPr/>
        </p:nvSpPr>
        <p:spPr>
          <a:xfrm>
            <a:off x="262890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During administration</a:t>
            </a:r>
          </a:p>
        </p:txBody>
      </p:sp>
      <p:sp>
        <p:nvSpPr>
          <p:cNvPr id="16" name="Rounded Rectangle 15"/>
          <p:cNvSpPr/>
          <p:nvPr/>
        </p:nvSpPr>
        <p:spPr>
          <a:xfrm>
            <a:off x="5769864" y="1975104"/>
            <a:ext cx="347472" cy="347472"/>
          </a:xfrm>
          <a:prstGeom prst="round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3387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3</a:t>
            </a:r>
          </a:p>
        </p:txBody>
      </p:sp>
      <p:sp>
        <p:nvSpPr>
          <p:cNvPr id="18" name="TextBox 17"/>
          <p:cNvSpPr txBox="1"/>
          <p:nvPr/>
        </p:nvSpPr>
        <p:spPr>
          <a:xfrm>
            <a:off x="525780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After Administration</a:t>
            </a:r>
          </a:p>
        </p:txBody>
      </p:sp>
      <p:sp>
        <p:nvSpPr>
          <p:cNvPr id="19" name="TextBox 18"/>
          <p:cNvSpPr txBox="1"/>
          <p:nvPr/>
        </p:nvSpPr>
        <p:spPr>
          <a:xfrm>
            <a:off x="521208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After administration</a:t>
            </a:r>
          </a:p>
        </p:txBody>
      </p:sp>
      <p:sp>
        <p:nvSpPr>
          <p:cNvPr id="20" name="Rounded Rectangle 19"/>
          <p:cNvSpPr/>
          <p:nvPr/>
        </p:nvSpPr>
        <p:spPr>
          <a:xfrm>
            <a:off x="8353044" y="1975104"/>
            <a:ext cx="347472" cy="347472"/>
          </a:xfrm>
          <a:prstGeom prst="round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705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4</a:t>
            </a:r>
          </a:p>
        </p:txBody>
      </p:sp>
      <p:sp>
        <p:nvSpPr>
          <p:cNvPr id="22" name="TextBox 21"/>
          <p:cNvSpPr txBox="1"/>
          <p:nvPr/>
        </p:nvSpPr>
        <p:spPr>
          <a:xfrm>
            <a:off x="784098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Apply</a:t>
            </a:r>
          </a:p>
        </p:txBody>
      </p:sp>
      <p:sp>
        <p:nvSpPr>
          <p:cNvPr id="23" name="TextBox 22"/>
          <p:cNvSpPr txBox="1"/>
          <p:nvPr/>
        </p:nvSpPr>
        <p:spPr>
          <a:xfrm>
            <a:off x="779526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mini case → capstone</a:t>
            </a:r>
          </a:p>
        </p:txBody>
      </p:sp>
      <p:sp>
        <p:nvSpPr>
          <p:cNvPr id="24" name="Rounded Rectangle 23"/>
          <p:cNvSpPr/>
          <p:nvPr/>
        </p:nvSpPr>
        <p:spPr>
          <a:xfrm>
            <a:off x="10936224" y="1975104"/>
            <a:ext cx="347472" cy="347472"/>
          </a:xfrm>
          <a:prstGeom prst="round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00023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5</a:t>
            </a:r>
          </a:p>
        </p:txBody>
      </p:sp>
      <p:sp>
        <p:nvSpPr>
          <p:cNvPr id="26" name="TextBox 25"/>
          <p:cNvSpPr txBox="1"/>
          <p:nvPr/>
        </p:nvSpPr>
        <p:spPr>
          <a:xfrm>
            <a:off x="1042416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Evaluate</a:t>
            </a:r>
          </a:p>
        </p:txBody>
      </p:sp>
      <p:sp>
        <p:nvSpPr>
          <p:cNvPr id="27" name="TextBox 26"/>
          <p:cNvSpPr txBox="1"/>
          <p:nvPr/>
        </p:nvSpPr>
        <p:spPr>
          <a:xfrm>
            <a:off x="1037844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exit check</a:t>
            </a:r>
          </a:p>
        </p:txBody>
      </p:sp>
      <p:sp>
        <p:nvSpPr>
          <p:cNvPr id="28" name="Rounded Rectangle 27"/>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Map first. Drill down only where the map or performance data shows a weak link.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ACTIVATE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Warm-up: put the three moves in order</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5</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S05  ·  instructor-added</a:t>
            </a:r>
          </a:p>
        </p:txBody>
      </p:sp>
      <p:sp>
        <p:nvSpPr>
          <p:cNvPr id="8" name="Rounded Rectangle 7"/>
          <p:cNvSpPr/>
          <p:nvPr/>
        </p:nvSpPr>
        <p:spPr>
          <a:xfrm>
            <a:off x="685800" y="1005840"/>
            <a:ext cx="10789920" cy="685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152144"/>
            <a:ext cx="45720" cy="39319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115568"/>
            <a:ext cx="10533888" cy="292608"/>
          </a:xfrm>
          <a:prstGeom prst="rect">
            <a:avLst/>
          </a:prstGeom>
          <a:noFill/>
        </p:spPr>
        <p:txBody>
          <a:bodyPr wrap="square" anchor="t" lIns="27432" rIns="27432" tIns="18288" bIns="18288">
            <a:spAutoFit/>
          </a:bodyPr>
          <a:lstStyle/>
          <a:p>
            <a:pPr algn="l"/>
            <a:r>
              <a:rPr sz="1300" b="1">
                <a:solidFill>
                  <a:srgbClr val="0F172A"/>
                </a:solidFill>
                <a:latin typeface="Aptos"/>
              </a:rPr>
              <a:t>learner task</a:t>
            </a:r>
          </a:p>
        </p:txBody>
      </p:sp>
      <p:sp>
        <p:nvSpPr>
          <p:cNvPr id="11" name="TextBox 10"/>
          <p:cNvSpPr txBox="1"/>
          <p:nvPr/>
        </p:nvSpPr>
        <p:spPr>
          <a:xfrm>
            <a:off x="850392" y="1444752"/>
            <a:ext cx="10533888" cy="155448"/>
          </a:xfrm>
          <a:prstGeom prst="rect">
            <a:avLst/>
          </a:prstGeom>
          <a:noFill/>
        </p:spPr>
        <p:txBody>
          <a:bodyPr wrap="square" anchor="t" lIns="27432" rIns="27432" tIns="18288" bIns="18288">
            <a:spAutoFit/>
          </a:bodyPr>
          <a:lstStyle/>
          <a:p>
            <a:pPr algn="l"/>
            <a:r>
              <a:rPr sz="1000" b="0">
                <a:solidFill>
                  <a:srgbClr val="475569"/>
                </a:solidFill>
                <a:latin typeface="Aptos"/>
              </a:rPr>
              <a:t>Order the three.</a:t>
            </a:r>
          </a:p>
        </p:txBody>
      </p:sp>
      <p:sp>
        <p:nvSpPr>
          <p:cNvPr id="12" name="Rounded Rectangle 11"/>
          <p:cNvSpPr/>
          <p:nvPr/>
        </p:nvSpPr>
        <p:spPr>
          <a:xfrm>
            <a:off x="960120" y="1965960"/>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1938528"/>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A</a:t>
            </a:r>
          </a:p>
        </p:txBody>
      </p:sp>
      <p:sp>
        <p:nvSpPr>
          <p:cNvPr id="14" name="TextBox 13"/>
          <p:cNvSpPr txBox="1"/>
          <p:nvPr/>
        </p:nvSpPr>
        <p:spPr>
          <a:xfrm>
            <a:off x="1463040" y="2039112"/>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Before administration</a:t>
            </a:r>
          </a:p>
        </p:txBody>
      </p:sp>
      <p:sp>
        <p:nvSpPr>
          <p:cNvPr id="15" name="Rounded Rectangle 14"/>
          <p:cNvSpPr/>
          <p:nvPr/>
        </p:nvSpPr>
        <p:spPr>
          <a:xfrm>
            <a:off x="960120" y="2532888"/>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2587752"/>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B</a:t>
            </a:r>
          </a:p>
        </p:txBody>
      </p:sp>
      <p:sp>
        <p:nvSpPr>
          <p:cNvPr id="17" name="TextBox 16"/>
          <p:cNvSpPr txBox="1"/>
          <p:nvPr/>
        </p:nvSpPr>
        <p:spPr>
          <a:xfrm>
            <a:off x="1463040" y="2596896"/>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During administration</a:t>
            </a:r>
          </a:p>
        </p:txBody>
      </p:sp>
      <p:sp>
        <p:nvSpPr>
          <p:cNvPr id="18" name="Rounded Rectangle 17"/>
          <p:cNvSpPr/>
          <p:nvPr/>
        </p:nvSpPr>
        <p:spPr>
          <a:xfrm>
            <a:off x="960120" y="3099815"/>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236976"/>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C</a:t>
            </a:r>
          </a:p>
        </p:txBody>
      </p:sp>
      <p:sp>
        <p:nvSpPr>
          <p:cNvPr id="20" name="TextBox 19"/>
          <p:cNvSpPr txBox="1"/>
          <p:nvPr/>
        </p:nvSpPr>
        <p:spPr>
          <a:xfrm>
            <a:off x="1463040" y="3154680"/>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After administration</a:t>
            </a:r>
          </a:p>
        </p:txBody>
      </p:sp>
      <p:sp>
        <p:nvSpPr>
          <p:cNvPr id="21" name="Rounded Rectangle 20"/>
          <p:cNvSpPr/>
          <p:nvPr/>
        </p:nvSpPr>
        <p:spPr>
          <a:xfrm>
            <a:off x="1188720" y="5989320"/>
            <a:ext cx="9784080" cy="41148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7C3AED"/>
                </a:solidFill>
                <a:latin typeface="Aptos"/>
              </a:rPr>
              <a:t>Use sequence misses to identify where the concept chain breaks.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BEFORE ADMINISTRATION</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Before administration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6</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S06  ·  source-aligned</a:t>
            </a:r>
          </a:p>
        </p:txBody>
      </p:sp>
      <p:sp>
        <p:nvSpPr>
          <p:cNvPr id="8" name="Rounded Rectangle 7"/>
          <p:cNvSpPr/>
          <p:nvPr/>
        </p:nvSpPr>
        <p:spPr>
          <a:xfrm>
            <a:off x="502920" y="1143000"/>
            <a:ext cx="11185855"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10929823" cy="292608"/>
          </a:xfrm>
          <a:prstGeom prst="rect">
            <a:avLst/>
          </a:prstGeom>
          <a:noFill/>
        </p:spPr>
        <p:txBody>
          <a:bodyPr wrap="square" anchor="t" lIns="27432" rIns="27432" tIns="18288" bIns="18288">
            <a:spAutoFit/>
          </a:bodyPr>
          <a:lstStyle/>
          <a:p>
            <a:pPr algn="l"/>
            <a:r>
              <a:rPr sz="1300" b="1">
                <a:solidFill>
                  <a:srgbClr val="0F172A"/>
                </a:solidFill>
                <a:latin typeface="Aptos"/>
              </a:rPr>
              <a:t>Before administration</a:t>
            </a:r>
          </a:p>
        </p:txBody>
      </p:sp>
      <p:sp>
        <p:nvSpPr>
          <p:cNvPr id="11" name="TextBox 10"/>
          <p:cNvSpPr txBox="1"/>
          <p:nvPr/>
        </p:nvSpPr>
        <p:spPr>
          <a:xfrm>
            <a:off x="667512" y="1581912"/>
            <a:ext cx="10929823" cy="704088"/>
          </a:xfrm>
          <a:prstGeom prst="rect">
            <a:avLst/>
          </a:prstGeom>
          <a:noFill/>
        </p:spPr>
        <p:txBody>
          <a:bodyPr wrap="square" anchor="t" lIns="27432" rIns="27432" tIns="18288" bIns="18288">
            <a:spAutoFit/>
          </a:bodyPr>
          <a:lstStyle/>
          <a:p>
            <a:pPr algn="l"/>
            <a:r>
              <a:rPr sz="900" b="0">
                <a:solidFill>
                  <a:srgbClr val="475569"/>
                </a:solidFill>
                <a:latin typeface="Aptos"/>
              </a:rPr>
              <a:t>Verify patient identity, medication, indication, dose, route, time, allergies, relevant laboratory data, interactions, and required independent checks.</a:t>
            </a:r>
          </a:p>
        </p:txBody>
      </p:sp>
      <p:sp>
        <p:nvSpPr>
          <p:cNvPr id="12" name="Rounded Rectangle 11"/>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Identify safeguards for high-alert medications.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DURING ADMINISTRATION</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During administration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7</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 generate solutions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S07  ·  source-aligned</a:t>
            </a:r>
          </a:p>
        </p:txBody>
      </p:sp>
      <p:sp>
        <p:nvSpPr>
          <p:cNvPr id="8" name="Rounded Rectangle 7"/>
          <p:cNvSpPr/>
          <p:nvPr/>
        </p:nvSpPr>
        <p:spPr>
          <a:xfrm>
            <a:off x="502920" y="1143000"/>
            <a:ext cx="11185855"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10929823" cy="292608"/>
          </a:xfrm>
          <a:prstGeom prst="rect">
            <a:avLst/>
          </a:prstGeom>
          <a:noFill/>
        </p:spPr>
        <p:txBody>
          <a:bodyPr wrap="square" anchor="t" lIns="27432" rIns="27432" tIns="18288" bIns="18288">
            <a:spAutoFit/>
          </a:bodyPr>
          <a:lstStyle/>
          <a:p>
            <a:pPr algn="l"/>
            <a:r>
              <a:rPr sz="1300" b="1">
                <a:solidFill>
                  <a:srgbClr val="0F172A"/>
                </a:solidFill>
                <a:latin typeface="Aptos"/>
              </a:rPr>
              <a:t>During administration</a:t>
            </a:r>
          </a:p>
        </p:txBody>
      </p:sp>
      <p:sp>
        <p:nvSpPr>
          <p:cNvPr id="11" name="TextBox 10"/>
          <p:cNvSpPr txBox="1"/>
          <p:nvPr/>
        </p:nvSpPr>
        <p:spPr>
          <a:xfrm>
            <a:off x="667512" y="1581912"/>
            <a:ext cx="10929823" cy="704088"/>
          </a:xfrm>
          <a:prstGeom prst="rect">
            <a:avLst/>
          </a:prstGeom>
          <a:noFill/>
        </p:spPr>
        <p:txBody>
          <a:bodyPr wrap="square" anchor="t" lIns="27432" rIns="27432" tIns="18288" bIns="18288">
            <a:spAutoFit/>
          </a:bodyPr>
          <a:lstStyle/>
          <a:p>
            <a:pPr algn="l"/>
            <a:r>
              <a:rPr sz="900" b="0">
                <a:solidFill>
                  <a:srgbClr val="475569"/>
                </a:solidFill>
                <a:latin typeface="Aptos"/>
              </a:rPr>
              <a:t>Use the correct equipment and rate, minimize interruptions, and do not bypass smart-device or barcode safeguards without resolving the cause.</a:t>
            </a:r>
          </a:p>
        </p:txBody>
      </p:sp>
      <p:sp>
        <p:nvSpPr>
          <p:cNvPr id="12" name="Rounded Rectangle 11"/>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Recognize parameters that require holding and clarification.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AFTER ADMINISTRATION</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After administration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8</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take action,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S08  ·  source-aligned</a:t>
            </a:r>
          </a:p>
        </p:txBody>
      </p:sp>
      <p:sp>
        <p:nvSpPr>
          <p:cNvPr id="8" name="Rounded Rectangle 7"/>
          <p:cNvSpPr/>
          <p:nvPr/>
        </p:nvSpPr>
        <p:spPr>
          <a:xfrm>
            <a:off x="502920" y="1143000"/>
            <a:ext cx="11185855"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10929823" cy="292608"/>
          </a:xfrm>
          <a:prstGeom prst="rect">
            <a:avLst/>
          </a:prstGeom>
          <a:noFill/>
        </p:spPr>
        <p:txBody>
          <a:bodyPr wrap="square" anchor="t" lIns="27432" rIns="27432" tIns="18288" bIns="18288">
            <a:spAutoFit/>
          </a:bodyPr>
          <a:lstStyle/>
          <a:p>
            <a:pPr algn="l"/>
            <a:r>
              <a:rPr sz="1300" b="1">
                <a:solidFill>
                  <a:srgbClr val="0F172A"/>
                </a:solidFill>
                <a:latin typeface="Aptos"/>
              </a:rPr>
              <a:t>After administration</a:t>
            </a:r>
          </a:p>
        </p:txBody>
      </p:sp>
      <p:sp>
        <p:nvSpPr>
          <p:cNvPr id="11" name="TextBox 10"/>
          <p:cNvSpPr txBox="1"/>
          <p:nvPr/>
        </p:nvSpPr>
        <p:spPr>
          <a:xfrm>
            <a:off x="667512" y="1581912"/>
            <a:ext cx="10929823" cy="704088"/>
          </a:xfrm>
          <a:prstGeom prst="rect">
            <a:avLst/>
          </a:prstGeom>
          <a:noFill/>
        </p:spPr>
        <p:txBody>
          <a:bodyPr wrap="square" anchor="t" lIns="27432" rIns="27432" tIns="18288" bIns="18288">
            <a:spAutoFit/>
          </a:bodyPr>
          <a:lstStyle/>
          <a:p>
            <a:pPr algn="l"/>
            <a:r>
              <a:rPr sz="900" b="0">
                <a:solidFill>
                  <a:srgbClr val="475569"/>
                </a:solidFill>
                <a:latin typeface="Aptos"/>
              </a:rPr>
              <a:t>Monitor the expected effect and predictable harms, document the response, and act immediately on evidence of an adverse event.</a:t>
            </a:r>
          </a:p>
        </p:txBody>
      </p:sp>
      <p:sp>
        <p:nvSpPr>
          <p:cNvPr id="12" name="Rounded Rectangle 11"/>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Monitor for therapeutic and adverse effects.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Activity: match the cue to the move it calls for</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9</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S09  ·  source-aligned</a:t>
            </a:r>
          </a:p>
        </p:txBody>
      </p:sp>
      <p:sp>
        <p:nvSpPr>
          <p:cNvPr id="8" name="TextBox 7"/>
          <p:cNvSpPr txBox="1"/>
          <p:nvPr/>
        </p:nvSpPr>
        <p:spPr>
          <a:xfrm>
            <a:off x="731520" y="1005840"/>
            <a:ext cx="10698480" cy="256032"/>
          </a:xfrm>
          <a:prstGeom prst="rect">
            <a:avLst/>
          </a:prstGeom>
          <a:noFill/>
        </p:spPr>
        <p:txBody>
          <a:bodyPr wrap="square" anchor="t" lIns="27432" rIns="27432" tIns="18288" bIns="18288">
            <a:spAutoFit/>
          </a:bodyPr>
          <a:lstStyle/>
          <a:p>
            <a:pPr algn="l"/>
            <a:r>
              <a:rPr sz="950" b="1">
                <a:solidFill>
                  <a:srgbClr val="0F172A"/>
                </a:solidFill>
                <a:latin typeface="Aptos"/>
              </a:rPr>
              <a:t>Work with one partner: match each source to the cue or clinical meaning most directly involved.</a:t>
            </a:r>
          </a:p>
        </p:txBody>
      </p:sp>
      <p:sp>
        <p:nvSpPr>
          <p:cNvPr id="9" name="Rounded Rectangle 8"/>
          <p:cNvSpPr/>
          <p:nvPr/>
        </p:nvSpPr>
        <p:spPr>
          <a:xfrm>
            <a:off x="777240" y="1508760"/>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2103" y="1655063"/>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1618488"/>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A</a:t>
            </a:r>
          </a:p>
        </p:txBody>
      </p:sp>
      <p:sp>
        <p:nvSpPr>
          <p:cNvPr id="12" name="TextBox 11"/>
          <p:cNvSpPr txBox="1"/>
          <p:nvPr/>
        </p:nvSpPr>
        <p:spPr>
          <a:xfrm>
            <a:off x="941832" y="1947672"/>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A. The prescribed dose is inconsistent with the available concentration and usual range.</a:t>
            </a:r>
          </a:p>
        </p:txBody>
      </p:sp>
      <p:sp>
        <p:nvSpPr>
          <p:cNvPr id="13" name="Rounded Rectangle 12"/>
          <p:cNvSpPr/>
          <p:nvPr/>
        </p:nvSpPr>
        <p:spPr>
          <a:xfrm>
            <a:off x="6537960" y="1508760"/>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92824" y="1655063"/>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02552" y="1618488"/>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1</a:t>
            </a:r>
          </a:p>
        </p:txBody>
      </p:sp>
      <p:sp>
        <p:nvSpPr>
          <p:cNvPr id="16" name="TextBox 15"/>
          <p:cNvSpPr txBox="1"/>
          <p:nvPr/>
        </p:nvSpPr>
        <p:spPr>
          <a:xfrm>
            <a:off x="6702552" y="1947672"/>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1. Before administration</a:t>
            </a:r>
          </a:p>
        </p:txBody>
      </p:sp>
      <p:sp>
        <p:nvSpPr>
          <p:cNvPr id="17" name="Rounded Rectangle 16"/>
          <p:cNvSpPr/>
          <p:nvPr/>
        </p:nvSpPr>
        <p:spPr>
          <a:xfrm>
            <a:off x="777240" y="2203704"/>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2103" y="2350008"/>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2313432"/>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B</a:t>
            </a:r>
          </a:p>
        </p:txBody>
      </p:sp>
      <p:sp>
        <p:nvSpPr>
          <p:cNvPr id="20" name="TextBox 19"/>
          <p:cNvSpPr txBox="1"/>
          <p:nvPr/>
        </p:nvSpPr>
        <p:spPr>
          <a:xfrm>
            <a:off x="941832" y="2642616"/>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B. A required patient-specific laboratory result is unavailable.</a:t>
            </a:r>
          </a:p>
        </p:txBody>
      </p:sp>
      <p:sp>
        <p:nvSpPr>
          <p:cNvPr id="21" name="Rounded Rectangle 20"/>
          <p:cNvSpPr/>
          <p:nvPr/>
        </p:nvSpPr>
        <p:spPr>
          <a:xfrm>
            <a:off x="6537960" y="2203704"/>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92824" y="2350008"/>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02552" y="2313432"/>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2</a:t>
            </a:r>
          </a:p>
        </p:txBody>
      </p:sp>
      <p:sp>
        <p:nvSpPr>
          <p:cNvPr id="24" name="TextBox 23"/>
          <p:cNvSpPr txBox="1"/>
          <p:nvPr/>
        </p:nvSpPr>
        <p:spPr>
          <a:xfrm>
            <a:off x="6702552" y="2642616"/>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2. During administration</a:t>
            </a:r>
          </a:p>
        </p:txBody>
      </p:sp>
      <p:sp>
        <p:nvSpPr>
          <p:cNvPr id="25" name="Rounded Rectangle 24"/>
          <p:cNvSpPr/>
          <p:nvPr/>
        </p:nvSpPr>
        <p:spPr>
          <a:xfrm>
            <a:off x="777240" y="2898648"/>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2103" y="3044952"/>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1832" y="3008376"/>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C</a:t>
            </a:r>
          </a:p>
        </p:txBody>
      </p:sp>
      <p:sp>
        <p:nvSpPr>
          <p:cNvPr id="28" name="TextBox 27"/>
          <p:cNvSpPr txBox="1"/>
          <p:nvPr/>
        </p:nvSpPr>
        <p:spPr>
          <a:xfrm>
            <a:off x="941832" y="3337560"/>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C. Barcode scanning produces a mismatch alert.</a:t>
            </a:r>
          </a:p>
        </p:txBody>
      </p:sp>
      <p:sp>
        <p:nvSpPr>
          <p:cNvPr id="29" name="Rounded Rectangle 28"/>
          <p:cNvSpPr/>
          <p:nvPr/>
        </p:nvSpPr>
        <p:spPr>
          <a:xfrm>
            <a:off x="6537960" y="2898648"/>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92824" y="3044952"/>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02552" y="3008376"/>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3</a:t>
            </a:r>
          </a:p>
        </p:txBody>
      </p:sp>
      <p:sp>
        <p:nvSpPr>
          <p:cNvPr id="32" name="TextBox 31"/>
          <p:cNvSpPr txBox="1"/>
          <p:nvPr/>
        </p:nvSpPr>
        <p:spPr>
          <a:xfrm>
            <a:off x="6702552" y="3337560"/>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3. After administration</a:t>
            </a:r>
          </a:p>
        </p:txBody>
      </p:sp>
      <p:sp>
        <p:nvSpPr>
          <p:cNvPr id="33" name="Rounded Rectangle 32"/>
          <p:cNvSpPr/>
          <p:nvPr/>
        </p:nvSpPr>
        <p:spPr>
          <a:xfrm>
            <a:off x="777240" y="3593592"/>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2103" y="3739896"/>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1832" y="3703320"/>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D</a:t>
            </a:r>
          </a:p>
        </p:txBody>
      </p:sp>
      <p:sp>
        <p:nvSpPr>
          <p:cNvPr id="36" name="TextBox 35"/>
          <p:cNvSpPr txBox="1"/>
          <p:nvPr/>
        </p:nvSpPr>
        <p:spPr>
          <a:xfrm>
            <a:off x="941832" y="4032504"/>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D. Policy requires an independent double check for this medication.</a:t>
            </a:r>
          </a:p>
        </p:txBody>
      </p:sp>
      <p:sp>
        <p:nvSpPr>
          <p:cNvPr id="37" name="Rounded Rectangle 36"/>
          <p:cNvSpPr/>
          <p:nvPr/>
        </p:nvSpPr>
        <p:spPr>
          <a:xfrm>
            <a:off x="6537960" y="3593592"/>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92824" y="3739896"/>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02552" y="3703320"/>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4</a:t>
            </a:r>
          </a:p>
        </p:txBody>
      </p:sp>
      <p:sp>
        <p:nvSpPr>
          <p:cNvPr id="40" name="TextBox 39"/>
          <p:cNvSpPr txBox="1"/>
          <p:nvPr/>
        </p:nvSpPr>
        <p:spPr>
          <a:xfrm>
            <a:off x="6702552" y="4032504"/>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4. Evaluate the result</a:t>
            </a:r>
          </a:p>
        </p:txBody>
      </p:sp>
      <p:sp>
        <p:nvSpPr>
          <p:cNvPr id="41" name="Rounded Rectangle 40"/>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Output: write matches and one sentence explaining one match.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Debrief: the reasoning behind each action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10</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S10  ·  source-aligned</a:t>
            </a:r>
          </a:p>
        </p:txBody>
      </p:sp>
      <p:sp>
        <p:nvSpPr>
          <p:cNvPr id="8" name="Rounded Rectangle 7"/>
          <p:cNvSpPr/>
          <p:nvPr/>
        </p:nvSpPr>
        <p:spPr>
          <a:xfrm>
            <a:off x="502920" y="109728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4358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07007"/>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Hold administration and clarify the order before preparing</a:t>
            </a:r>
          </a:p>
        </p:txBody>
      </p:sp>
      <p:sp>
        <p:nvSpPr>
          <p:cNvPr id="11" name="TextBox 10"/>
          <p:cNvSpPr txBox="1"/>
          <p:nvPr/>
        </p:nvSpPr>
        <p:spPr>
          <a:xfrm>
            <a:off x="667512" y="1536192"/>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A dose discrepancy must be resolved before medication reaches the patient.</a:t>
            </a:r>
          </a:p>
        </p:txBody>
      </p:sp>
      <p:sp>
        <p:nvSpPr>
          <p:cNvPr id="12" name="Rounded Rectangle 11"/>
          <p:cNvSpPr/>
          <p:nvPr/>
        </p:nvSpPr>
        <p:spPr>
          <a:xfrm>
            <a:off x="6178143" y="109728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24358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2735" y="1207007"/>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Obtain or verify the required result before administering </a:t>
            </a:r>
          </a:p>
        </p:txBody>
      </p:sp>
      <p:sp>
        <p:nvSpPr>
          <p:cNvPr id="15" name="TextBox 14"/>
          <p:cNvSpPr txBox="1"/>
          <p:nvPr/>
        </p:nvSpPr>
        <p:spPr>
          <a:xfrm>
            <a:off x="6342735" y="1536192"/>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Relevant laboratory data can determine whether administration is safe.</a:t>
            </a:r>
          </a:p>
        </p:txBody>
      </p:sp>
      <p:sp>
        <p:nvSpPr>
          <p:cNvPr id="16" name="Rounded Rectangle 15"/>
          <p:cNvSpPr/>
          <p:nvPr/>
        </p:nvSpPr>
        <p:spPr>
          <a:xfrm>
            <a:off x="502920" y="2496312"/>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7784" y="2642616"/>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2606040"/>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Stop and resolve the patient, medication, and order mismat</a:t>
            </a:r>
          </a:p>
        </p:txBody>
      </p:sp>
      <p:sp>
        <p:nvSpPr>
          <p:cNvPr id="19" name="TextBox 18"/>
          <p:cNvSpPr txBox="1"/>
          <p:nvPr/>
        </p:nvSpPr>
        <p:spPr>
          <a:xfrm>
            <a:off x="667512" y="2935224"/>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A mismatch alert is a safety signal and should not be bypassed for convenience.</a:t>
            </a:r>
          </a:p>
        </p:txBody>
      </p:sp>
      <p:sp>
        <p:nvSpPr>
          <p:cNvPr id="20" name="Rounded Rectangle 19"/>
          <p:cNvSpPr/>
          <p:nvPr/>
        </p:nvSpPr>
        <p:spPr>
          <a:xfrm>
            <a:off x="6178143" y="2496312"/>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007" y="2642616"/>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2735" y="2606040"/>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Have the qualified second clinician independently verify t</a:t>
            </a:r>
          </a:p>
        </p:txBody>
      </p:sp>
      <p:sp>
        <p:nvSpPr>
          <p:cNvPr id="23" name="TextBox 22"/>
          <p:cNvSpPr txBox="1"/>
          <p:nvPr/>
        </p:nvSpPr>
        <p:spPr>
          <a:xfrm>
            <a:off x="6342735" y="2935224"/>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An independent check is performed separately to reduce shared-error bias.</a:t>
            </a:r>
          </a:p>
        </p:txBody>
      </p:sp>
      <p:sp>
        <p:nvSpPr>
          <p:cNvPr id="24" name="Rounded Rectangle 23"/>
          <p:cNvSpPr/>
          <p:nvPr/>
        </p:nvSpPr>
        <p:spPr>
          <a:xfrm>
            <a:off x="1188720" y="5989320"/>
            <a:ext cx="9784080" cy="411480"/>
          </a:xfrm>
          <a:prstGeom prst="roundRect">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EA580C"/>
                </a:solidFill>
                <a:latin typeface="Aptos"/>
              </a:rPr>
              <a:t>Explain why each keyed action follows from its cue.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Checkpoint</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11</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S11  ·  source-aligned</a:t>
            </a:r>
          </a:p>
        </p:txBody>
      </p:sp>
      <p:sp>
        <p:nvSpPr>
          <p:cNvPr id="8" name="Rounded Rectangle 7"/>
          <p:cNvSpPr/>
          <p:nvPr/>
        </p:nvSpPr>
        <p:spPr>
          <a:xfrm>
            <a:off x="777240" y="1097280"/>
            <a:ext cx="10698480" cy="868680"/>
          </a:xfrm>
          <a:prstGeom prst="roundRect">
            <a:avLst/>
          </a:prstGeom>
          <a:solidFill>
            <a:srgbClr val="F5F3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2103" y="1243584"/>
            <a:ext cx="45720" cy="576071"/>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1207007"/>
            <a:ext cx="10442448" cy="292608"/>
          </a:xfrm>
          <a:prstGeom prst="rect">
            <a:avLst/>
          </a:prstGeom>
          <a:noFill/>
        </p:spPr>
        <p:txBody>
          <a:bodyPr wrap="square" anchor="t" lIns="27432" rIns="27432" tIns="18288" bIns="18288">
            <a:spAutoFit/>
          </a:bodyPr>
          <a:lstStyle/>
          <a:p>
            <a:pPr algn="l"/>
            <a:r>
              <a:rPr sz="1300" b="1">
                <a:solidFill>
                  <a:srgbClr val="0F172A"/>
                </a:solidFill>
                <a:latin typeface="Aptos"/>
              </a:rPr>
              <a:t>checkpoint question</a:t>
            </a:r>
          </a:p>
        </p:txBody>
      </p:sp>
      <p:sp>
        <p:nvSpPr>
          <p:cNvPr id="11" name="TextBox 10"/>
          <p:cNvSpPr txBox="1"/>
          <p:nvPr/>
        </p:nvSpPr>
        <p:spPr>
          <a:xfrm>
            <a:off x="941832" y="1536192"/>
            <a:ext cx="10442448" cy="338328"/>
          </a:xfrm>
          <a:prstGeom prst="rect">
            <a:avLst/>
          </a:prstGeom>
          <a:noFill/>
        </p:spPr>
        <p:txBody>
          <a:bodyPr wrap="square" anchor="t" lIns="27432" rIns="27432" tIns="18288" bIns="18288">
            <a:spAutoFit/>
          </a:bodyPr>
          <a:lstStyle/>
          <a:p>
            <a:pPr algn="l"/>
            <a:r>
              <a:rPr sz="1000" b="0">
                <a:solidFill>
                  <a:srgbClr val="475569"/>
                </a:solidFill>
                <a:latin typeface="Aptos"/>
              </a:rPr>
              <a:t>A required patient-specific laboratory result is unavailable. What should the nurse do?</a:t>
            </a:r>
          </a:p>
        </p:txBody>
      </p:sp>
      <p:sp>
        <p:nvSpPr>
          <p:cNvPr id="12" name="Rounded Rectangle 11"/>
          <p:cNvSpPr/>
          <p:nvPr/>
        </p:nvSpPr>
        <p:spPr>
          <a:xfrm>
            <a:off x="1005840" y="2240280"/>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2359152"/>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A</a:t>
            </a:r>
          </a:p>
        </p:txBody>
      </p:sp>
      <p:sp>
        <p:nvSpPr>
          <p:cNvPr id="14" name="TextBox 13"/>
          <p:cNvSpPr txBox="1"/>
          <p:nvPr/>
        </p:nvSpPr>
        <p:spPr>
          <a:xfrm>
            <a:off x="1554480" y="2340864"/>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A. Delay action until the end of the shift.</a:t>
            </a:r>
          </a:p>
        </p:txBody>
      </p:sp>
      <p:sp>
        <p:nvSpPr>
          <p:cNvPr id="15" name="Rounded Rectangle 14"/>
          <p:cNvSpPr/>
          <p:nvPr/>
        </p:nvSpPr>
        <p:spPr>
          <a:xfrm>
            <a:off x="1005840" y="2807208"/>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2926080"/>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B</a:t>
            </a:r>
          </a:p>
        </p:txBody>
      </p:sp>
      <p:sp>
        <p:nvSpPr>
          <p:cNvPr id="17" name="TextBox 16"/>
          <p:cNvSpPr txBox="1"/>
          <p:nvPr/>
        </p:nvSpPr>
        <p:spPr>
          <a:xfrm>
            <a:off x="1554480" y="2907792"/>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B. Document the finding without reassessment or follow-up.</a:t>
            </a:r>
          </a:p>
        </p:txBody>
      </p:sp>
      <p:sp>
        <p:nvSpPr>
          <p:cNvPr id="18" name="Rounded Rectangle 17"/>
          <p:cNvSpPr/>
          <p:nvPr/>
        </p:nvSpPr>
        <p:spPr>
          <a:xfrm>
            <a:off x="1005840" y="3374136"/>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3493008"/>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C</a:t>
            </a:r>
          </a:p>
        </p:txBody>
      </p:sp>
      <p:sp>
        <p:nvSpPr>
          <p:cNvPr id="20" name="TextBox 19"/>
          <p:cNvSpPr txBox="1"/>
          <p:nvPr/>
        </p:nvSpPr>
        <p:spPr>
          <a:xfrm>
            <a:off x="1554480" y="3474720"/>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C. Obtain or verify the required result before administering the medication.</a:t>
            </a:r>
          </a:p>
        </p:txBody>
      </p:sp>
      <p:sp>
        <p:nvSpPr>
          <p:cNvPr id="21" name="Rounded Rectangle 20"/>
          <p:cNvSpPr/>
          <p:nvPr/>
        </p:nvSpPr>
        <p:spPr>
          <a:xfrm>
            <a:off x="1005840" y="3941064"/>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4059936"/>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D</a:t>
            </a:r>
          </a:p>
        </p:txBody>
      </p:sp>
      <p:sp>
        <p:nvSpPr>
          <p:cNvPr id="23" name="TextBox 22"/>
          <p:cNvSpPr txBox="1"/>
          <p:nvPr/>
        </p:nvSpPr>
        <p:spPr>
          <a:xfrm>
            <a:off x="1554480" y="4041648"/>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D. Delegate the clinical judgment decision to unlicensed assistive personnel.</a:t>
            </a:r>
          </a:p>
        </p:txBody>
      </p:sp>
      <p:sp>
        <p:nvSpPr>
          <p:cNvPr id="24" name="Rounded Rectangle 23"/>
          <p:cNvSpPr/>
          <p:nvPr/>
        </p:nvSpPr>
        <p:spPr>
          <a:xfrm>
            <a:off x="1188720" y="5989320"/>
            <a:ext cx="9784080" cy="41148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7C3AED"/>
                </a:solidFill>
                <a:latin typeface="Aptos"/>
              </a:rPr>
              <a:t>Choose the best response.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APPLY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Mini case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12</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 take action</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S12  ·  source-aligned</a:t>
            </a:r>
          </a:p>
        </p:txBody>
      </p:sp>
      <p:sp>
        <p:nvSpPr>
          <p:cNvPr id="8" name="Rounded Rectangle 7"/>
          <p:cNvSpPr/>
          <p:nvPr/>
        </p:nvSpPr>
        <p:spPr>
          <a:xfrm>
            <a:off x="731520" y="1051560"/>
            <a:ext cx="10744200" cy="713232"/>
          </a:xfrm>
          <a:prstGeom prst="roundRect">
            <a:avLst/>
          </a:prstGeom>
          <a:solidFill>
            <a:srgbClr val="FFF7ED"/>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6384" y="1197863"/>
            <a:ext cx="45720" cy="420624"/>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161288"/>
            <a:ext cx="10488168" cy="292608"/>
          </a:xfrm>
          <a:prstGeom prst="rect">
            <a:avLst/>
          </a:prstGeom>
          <a:noFill/>
        </p:spPr>
        <p:txBody>
          <a:bodyPr wrap="square" anchor="t" lIns="27432" rIns="27432" tIns="18288" bIns="18288">
            <a:spAutoFit/>
          </a:bodyPr>
          <a:lstStyle/>
          <a:p>
            <a:pPr algn="l"/>
            <a:r>
              <a:rPr sz="1200" b="1">
                <a:solidFill>
                  <a:srgbClr val="0F172A"/>
                </a:solidFill>
                <a:latin typeface="Aptos"/>
              </a:rPr>
              <a:t>mini case</a:t>
            </a:r>
          </a:p>
        </p:txBody>
      </p:sp>
      <p:sp>
        <p:nvSpPr>
          <p:cNvPr id="11" name="TextBox 10"/>
          <p:cNvSpPr txBox="1"/>
          <p:nvPr/>
        </p:nvSpPr>
        <p:spPr>
          <a:xfrm>
            <a:off x="896112" y="1490472"/>
            <a:ext cx="10488168" cy="182880"/>
          </a:xfrm>
          <a:prstGeom prst="rect">
            <a:avLst/>
          </a:prstGeom>
          <a:noFill/>
        </p:spPr>
        <p:txBody>
          <a:bodyPr wrap="square" anchor="t" lIns="27432" rIns="27432" tIns="18288" bIns="18288">
            <a:spAutoFit/>
          </a:bodyPr>
          <a:lstStyle/>
          <a:p>
            <a:pPr algn="l"/>
            <a:r>
              <a:rPr sz="900" b="0">
                <a:solidFill>
                  <a:srgbClr val="475569"/>
                </a:solidFill>
                <a:latin typeface="Aptos"/>
              </a:rPr>
              <a:t>Barcode scanning produces a mismatch alert.</a:t>
            </a:r>
          </a:p>
        </p:txBody>
      </p:sp>
      <p:sp>
        <p:nvSpPr>
          <p:cNvPr id="12" name="Rounded Rectangle 11"/>
          <p:cNvSpPr/>
          <p:nvPr/>
        </p:nvSpPr>
        <p:spPr>
          <a:xfrm>
            <a:off x="502920" y="20574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7784" y="220370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21671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cues</a:t>
            </a:r>
          </a:p>
        </p:txBody>
      </p:sp>
      <p:sp>
        <p:nvSpPr>
          <p:cNvPr id="15" name="TextBox 14"/>
          <p:cNvSpPr txBox="1"/>
          <p:nvPr/>
        </p:nvSpPr>
        <p:spPr>
          <a:xfrm>
            <a:off x="667512" y="24963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Keyed action: Stop and resolve the patient, medication, and order mismatch.
- Because: A mismatch alert is a safety signal and should not be bypassed for convenience.</a:t>
            </a:r>
          </a:p>
        </p:txBody>
      </p:sp>
      <p:sp>
        <p:nvSpPr>
          <p:cNvPr id="16" name="Rounded Rectangle 15"/>
          <p:cNvSpPr/>
          <p:nvPr/>
        </p:nvSpPr>
        <p:spPr>
          <a:xfrm>
            <a:off x="6178143" y="20574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3007" y="22037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2735" y="21671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your task</a:t>
            </a:r>
          </a:p>
        </p:txBody>
      </p:sp>
      <p:sp>
        <p:nvSpPr>
          <p:cNvPr id="19" name="TextBox 18"/>
          <p:cNvSpPr txBox="1"/>
          <p:nvPr/>
        </p:nvSpPr>
        <p:spPr>
          <a:xfrm>
            <a:off x="6342735" y="24963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Write one assessment sentence and one action sentence.</a:t>
            </a:r>
          </a:p>
        </p:txBody>
      </p:sp>
      <p:sp>
        <p:nvSpPr>
          <p:cNvPr id="20" name="Rounded Rectangle 19"/>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Two sentences: what you assess, then what you do.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SIGNAL</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Sort by urgency</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13</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S13  ·  source-aligned</a:t>
            </a:r>
          </a:p>
        </p:txBody>
      </p:sp>
      <p:sp>
        <p:nvSpPr>
          <p:cNvPr id="8" name="Rounded Rectangle 7"/>
          <p:cNvSpPr/>
          <p:nvPr/>
        </p:nvSpPr>
        <p:spPr>
          <a:xfrm>
            <a:off x="502920" y="11430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Act now</a:t>
            </a:r>
          </a:p>
        </p:txBody>
      </p:sp>
      <p:sp>
        <p:nvSpPr>
          <p:cNvPr id="11" name="TextBox 10"/>
          <p:cNvSpPr txBox="1"/>
          <p:nvPr/>
        </p:nvSpPr>
        <p:spPr>
          <a:xfrm>
            <a:off x="667512" y="15819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The prescribed dose is inconsistent with the available concentration and usual range.
- A required patient-specific laboratory result is unavailable.
- Barcode scanning produces a mismatch alert.</a:t>
            </a:r>
          </a:p>
        </p:txBody>
      </p:sp>
      <p:sp>
        <p:nvSpPr>
          <p:cNvPr id="12" name="Rounded Rectangle 11"/>
          <p:cNvSpPr/>
          <p:nvPr/>
        </p:nvSpPr>
        <p:spPr>
          <a:xfrm>
            <a:off x="6178143" y="11430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2735" y="12527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Act in sequence</a:t>
            </a:r>
          </a:p>
        </p:txBody>
      </p:sp>
      <p:sp>
        <p:nvSpPr>
          <p:cNvPr id="15" name="TextBox 14"/>
          <p:cNvSpPr txBox="1"/>
          <p:nvPr/>
        </p:nvSpPr>
        <p:spPr>
          <a:xfrm>
            <a:off x="6342735" y="15819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Policy requires an independent double check for this medication.
- The patient develops signs of an acute adverse reaction during administration.</a:t>
            </a:r>
          </a:p>
        </p:txBody>
      </p:sp>
      <p:sp>
        <p:nvSpPr>
          <p:cNvPr id="16" name="Rounded Rectangle 15"/>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Place each cue and justify 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APPLY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Documentation frame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14</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generate solutions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S14  ·  source-aligned</a:t>
            </a:r>
          </a:p>
        </p:txBody>
      </p:sp>
      <p:sp>
        <p:nvSpPr>
          <p:cNvPr id="8" name="Rounded Rectangle 7"/>
          <p:cNvSpPr/>
          <p:nvPr/>
        </p:nvSpPr>
        <p:spPr>
          <a:xfrm>
            <a:off x="502920"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Medication and indication</a:t>
            </a:r>
          </a:p>
        </p:txBody>
      </p:sp>
      <p:sp>
        <p:nvSpPr>
          <p:cNvPr id="11" name="TextBox 10"/>
          <p:cNvSpPr txBox="1"/>
          <p:nvPr/>
        </p:nvSpPr>
        <p:spPr>
          <a:xfrm>
            <a:off x="667512"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12" name="Rounded Rectangle 11"/>
          <p:cNvSpPr/>
          <p:nvPr/>
        </p:nvSpPr>
        <p:spPr>
          <a:xfrm>
            <a:off x="4286402"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1266" y="128930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0994"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Patient-specific parameter</a:t>
            </a:r>
          </a:p>
        </p:txBody>
      </p:sp>
      <p:sp>
        <p:nvSpPr>
          <p:cNvPr id="15" name="TextBox 14"/>
          <p:cNvSpPr txBox="1"/>
          <p:nvPr/>
        </p:nvSpPr>
        <p:spPr>
          <a:xfrm>
            <a:off x="4450994"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16" name="Rounded Rectangle 15"/>
          <p:cNvSpPr/>
          <p:nvPr/>
        </p:nvSpPr>
        <p:spPr>
          <a:xfrm>
            <a:off x="8069884"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4748" y="128930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4476"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Independent check</a:t>
            </a:r>
          </a:p>
        </p:txBody>
      </p:sp>
      <p:sp>
        <p:nvSpPr>
          <p:cNvPr id="19" name="TextBox 18"/>
          <p:cNvSpPr txBox="1"/>
          <p:nvPr/>
        </p:nvSpPr>
        <p:spPr>
          <a:xfrm>
            <a:off x="8234476"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20" name="Rounded Rectangle 19"/>
          <p:cNvSpPr/>
          <p:nvPr/>
        </p:nvSpPr>
        <p:spPr>
          <a:xfrm>
            <a:off x="502920" y="2542032"/>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57784" y="2688336"/>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2651760"/>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Monitoring plan</a:t>
            </a:r>
          </a:p>
        </p:txBody>
      </p:sp>
      <p:sp>
        <p:nvSpPr>
          <p:cNvPr id="23" name="TextBox 22"/>
          <p:cNvSpPr txBox="1"/>
          <p:nvPr/>
        </p:nvSpPr>
        <p:spPr>
          <a:xfrm>
            <a:off x="667512" y="2980944"/>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24" name="Rounded Rectangle 23"/>
          <p:cNvSpPr/>
          <p:nvPr/>
        </p:nvSpPr>
        <p:spPr>
          <a:xfrm>
            <a:off x="4286402" y="2542032"/>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1266" y="2688336"/>
            <a:ext cx="45720" cy="941832"/>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0994" y="2651760"/>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Adverse-response action</a:t>
            </a:r>
          </a:p>
        </p:txBody>
      </p:sp>
      <p:sp>
        <p:nvSpPr>
          <p:cNvPr id="27" name="TextBox 26"/>
          <p:cNvSpPr txBox="1"/>
          <p:nvPr/>
        </p:nvSpPr>
        <p:spPr>
          <a:xfrm>
            <a:off x="4450994" y="2980944"/>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28" name="Rounded Rectangle 27"/>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Record the lesson's decisions in a reusable frame.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APPLY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Capstone: choose the next safe action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15</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take action,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S15  ·  source-aligned</a:t>
            </a:r>
          </a:p>
        </p:txBody>
      </p:sp>
      <p:sp>
        <p:nvSpPr>
          <p:cNvPr id="8" name="Rounded Rectangle 7"/>
          <p:cNvSpPr/>
          <p:nvPr/>
        </p:nvSpPr>
        <p:spPr>
          <a:xfrm>
            <a:off x="685800" y="1005840"/>
            <a:ext cx="10835640" cy="621792"/>
          </a:xfrm>
          <a:prstGeom prst="roundRect">
            <a:avLst/>
          </a:prstGeom>
          <a:solidFill>
            <a:srgbClr val="FEF2F2"/>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152144"/>
            <a:ext cx="45720" cy="329184"/>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115568"/>
            <a:ext cx="10579608" cy="292608"/>
          </a:xfrm>
          <a:prstGeom prst="rect">
            <a:avLst/>
          </a:prstGeom>
          <a:noFill/>
        </p:spPr>
        <p:txBody>
          <a:bodyPr wrap="square" anchor="t" lIns="27432" rIns="27432" tIns="18288" bIns="18288">
            <a:spAutoFit/>
          </a:bodyPr>
          <a:lstStyle/>
          <a:p>
            <a:pPr algn="l"/>
            <a:r>
              <a:rPr sz="1150" b="1">
                <a:solidFill>
                  <a:srgbClr val="0F172A"/>
                </a:solidFill>
                <a:latin typeface="Aptos"/>
              </a:rPr>
              <a:t>capstone scenario</a:t>
            </a:r>
          </a:p>
        </p:txBody>
      </p:sp>
      <p:sp>
        <p:nvSpPr>
          <p:cNvPr id="11" name="TextBox 10"/>
          <p:cNvSpPr txBox="1"/>
          <p:nvPr/>
        </p:nvSpPr>
        <p:spPr>
          <a:xfrm>
            <a:off x="850392" y="1444752"/>
            <a:ext cx="10579608" cy="91440"/>
          </a:xfrm>
          <a:prstGeom prst="rect">
            <a:avLst/>
          </a:prstGeom>
          <a:noFill/>
        </p:spPr>
        <p:txBody>
          <a:bodyPr wrap="square" anchor="t" lIns="27432" rIns="27432" tIns="18288" bIns="18288">
            <a:spAutoFit/>
          </a:bodyPr>
          <a:lstStyle/>
          <a:p>
            <a:pPr algn="l"/>
            <a:r>
              <a:rPr sz="850" b="0">
                <a:solidFill>
                  <a:srgbClr val="475569"/>
                </a:solidFill>
                <a:latin typeface="Aptos"/>
              </a:rPr>
              <a:t>The patient develops signs of an acute adverse reaction during administration.</a:t>
            </a:r>
          </a:p>
        </p:txBody>
      </p:sp>
      <p:sp>
        <p:nvSpPr>
          <p:cNvPr id="12" name="Rounded Rectangle 11"/>
          <p:cNvSpPr/>
          <p:nvPr/>
        </p:nvSpPr>
        <p:spPr>
          <a:xfrm>
            <a:off x="914400" y="1874519"/>
            <a:ext cx="1037844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9264" y="2020824"/>
            <a:ext cx="45720" cy="365759"/>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1984248"/>
            <a:ext cx="10122408" cy="292608"/>
          </a:xfrm>
          <a:prstGeom prst="rect">
            <a:avLst/>
          </a:prstGeom>
          <a:noFill/>
        </p:spPr>
        <p:txBody>
          <a:bodyPr wrap="square" anchor="t" lIns="27432" rIns="27432" tIns="18288" bIns="18288">
            <a:spAutoFit/>
          </a:bodyPr>
          <a:lstStyle/>
          <a:p>
            <a:pPr algn="l"/>
            <a:r>
              <a:rPr sz="1250" b="1">
                <a:solidFill>
                  <a:srgbClr val="0F172A"/>
                </a:solidFill>
                <a:latin typeface="Aptos"/>
              </a:rPr>
              <a:t>priority nursing response</a:t>
            </a:r>
          </a:p>
        </p:txBody>
      </p:sp>
      <p:sp>
        <p:nvSpPr>
          <p:cNvPr id="15" name="TextBox 14"/>
          <p:cNvSpPr txBox="1"/>
          <p:nvPr/>
        </p:nvSpPr>
        <p:spPr>
          <a:xfrm>
            <a:off x="1078992" y="2313432"/>
            <a:ext cx="10122408" cy="128016"/>
          </a:xfrm>
          <a:prstGeom prst="rect">
            <a:avLst/>
          </a:prstGeom>
          <a:noFill/>
        </p:spPr>
        <p:txBody>
          <a:bodyPr wrap="square" anchor="t" lIns="27432" rIns="27432" tIns="18288" bIns="18288">
            <a:spAutoFit/>
          </a:bodyPr>
          <a:lstStyle/>
          <a:p>
            <a:pPr algn="l"/>
            <a:r>
              <a:rPr sz="900" b="0">
                <a:solidFill>
                  <a:srgbClr val="475569"/>
                </a:solidFill>
                <a:latin typeface="Aptos"/>
              </a:rPr>
              <a:t>What is the priority nursing action?</a:t>
            </a:r>
          </a:p>
        </p:txBody>
      </p:sp>
      <p:sp>
        <p:nvSpPr>
          <p:cNvPr id="16" name="Rounded Rectangle 15"/>
          <p:cNvSpPr/>
          <p:nvPr/>
        </p:nvSpPr>
        <p:spPr>
          <a:xfrm>
            <a:off x="1097280" y="2788920"/>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4440" y="2898648"/>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A</a:t>
            </a:r>
          </a:p>
        </p:txBody>
      </p:sp>
      <p:sp>
        <p:nvSpPr>
          <p:cNvPr id="18" name="TextBox 17"/>
          <p:cNvSpPr txBox="1"/>
          <p:nvPr/>
        </p:nvSpPr>
        <p:spPr>
          <a:xfrm>
            <a:off x="1627632" y="2871215"/>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A. Delay action until the end of the shift.</a:t>
            </a:r>
          </a:p>
        </p:txBody>
      </p:sp>
      <p:sp>
        <p:nvSpPr>
          <p:cNvPr id="19" name="Rounded Rectangle 18"/>
          <p:cNvSpPr/>
          <p:nvPr/>
        </p:nvSpPr>
        <p:spPr>
          <a:xfrm>
            <a:off x="1097280" y="3319272"/>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3429000"/>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B</a:t>
            </a:r>
          </a:p>
        </p:txBody>
      </p:sp>
      <p:sp>
        <p:nvSpPr>
          <p:cNvPr id="21" name="TextBox 20"/>
          <p:cNvSpPr txBox="1"/>
          <p:nvPr/>
        </p:nvSpPr>
        <p:spPr>
          <a:xfrm>
            <a:off x="1627632" y="3401568"/>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B. Stop the medication when appropriate, assess the patient, and activate the emergency response pathway.</a:t>
            </a:r>
          </a:p>
        </p:txBody>
      </p:sp>
      <p:sp>
        <p:nvSpPr>
          <p:cNvPr id="22" name="Rounded Rectangle 21"/>
          <p:cNvSpPr/>
          <p:nvPr/>
        </p:nvSpPr>
        <p:spPr>
          <a:xfrm>
            <a:off x="1097280" y="3849624"/>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40" y="3959352"/>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C</a:t>
            </a:r>
          </a:p>
        </p:txBody>
      </p:sp>
      <p:sp>
        <p:nvSpPr>
          <p:cNvPr id="24" name="TextBox 23"/>
          <p:cNvSpPr txBox="1"/>
          <p:nvPr/>
        </p:nvSpPr>
        <p:spPr>
          <a:xfrm>
            <a:off x="1627632" y="3931920"/>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C. Document the finding without reassessment or follow-up.</a:t>
            </a:r>
          </a:p>
        </p:txBody>
      </p:sp>
      <p:sp>
        <p:nvSpPr>
          <p:cNvPr id="25" name="Rounded Rectangle 24"/>
          <p:cNvSpPr/>
          <p:nvPr/>
        </p:nvSpPr>
        <p:spPr>
          <a:xfrm>
            <a:off x="1097280" y="4379975"/>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4489703"/>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D</a:t>
            </a:r>
          </a:p>
        </p:txBody>
      </p:sp>
      <p:sp>
        <p:nvSpPr>
          <p:cNvPr id="27" name="TextBox 26"/>
          <p:cNvSpPr txBox="1"/>
          <p:nvPr/>
        </p:nvSpPr>
        <p:spPr>
          <a:xfrm>
            <a:off x="1627632" y="4462271"/>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D. Delegate the clinical judgment decision to unlicensed assistive personnel.</a:t>
            </a:r>
          </a:p>
        </p:txBody>
      </p:sp>
      <p:sp>
        <p:nvSpPr>
          <p:cNvPr id="28" name="Rounded Rectangle 27"/>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Choose the priority action.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CLOSE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Rapid retrieval: exit check</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16</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S16  ·  source-aligned</a:t>
            </a:r>
          </a:p>
        </p:txBody>
      </p:sp>
      <p:sp>
        <p:nvSpPr>
          <p:cNvPr id="8" name="Rounded Rectangle 7"/>
          <p:cNvSpPr/>
          <p:nvPr/>
        </p:nvSpPr>
        <p:spPr>
          <a:xfrm>
            <a:off x="777240" y="1143000"/>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1216152"/>
            <a:ext cx="45720" cy="292608"/>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261872"/>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Know why the patient is receiving the medication.</a:t>
            </a:r>
          </a:p>
        </p:txBody>
      </p:sp>
      <p:sp>
        <p:nvSpPr>
          <p:cNvPr id="11" name="Rounded Rectangle 10"/>
          <p:cNvSpPr/>
          <p:nvPr/>
        </p:nvSpPr>
        <p:spPr>
          <a:xfrm>
            <a:off x="777240" y="1801368"/>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8680" y="1874519"/>
            <a:ext cx="45720" cy="292608"/>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1920240"/>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Resolve incomplete or inconsistent orders.</a:t>
            </a:r>
          </a:p>
        </p:txBody>
      </p:sp>
      <p:sp>
        <p:nvSpPr>
          <p:cNvPr id="14" name="Rounded Rectangle 13"/>
          <p:cNvSpPr/>
          <p:nvPr/>
        </p:nvSpPr>
        <p:spPr>
          <a:xfrm>
            <a:off x="777240" y="2459736"/>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2532888"/>
            <a:ext cx="45720" cy="292608"/>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578608"/>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Use required independent checks.</a:t>
            </a:r>
          </a:p>
        </p:txBody>
      </p:sp>
      <p:sp>
        <p:nvSpPr>
          <p:cNvPr id="17" name="Rounded Rectangle 16"/>
          <p:cNvSpPr/>
          <p:nvPr/>
        </p:nvSpPr>
        <p:spPr>
          <a:xfrm>
            <a:off x="777240" y="3118104"/>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3191256"/>
            <a:ext cx="45720" cy="292608"/>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236976"/>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Monitoring is part of administration.</a:t>
            </a:r>
          </a:p>
        </p:txBody>
      </p:sp>
      <p:sp>
        <p:nvSpPr>
          <p:cNvPr id="20" name="Rounded Rectangle 19"/>
          <p:cNvSpPr/>
          <p:nvPr/>
        </p:nvSpPr>
        <p:spPr>
          <a:xfrm>
            <a:off x="777240" y="3776472"/>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8680" y="3849624"/>
            <a:ext cx="45720" cy="292608"/>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3895344"/>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Monitor for therapeutic and adverse effects.</a:t>
            </a:r>
          </a:p>
        </p:txBody>
      </p:sp>
      <p:sp>
        <p:nvSpPr>
          <p:cNvPr id="23" name="Rounded Rectangle 22"/>
          <p:cNvSpPr/>
          <p:nvPr/>
        </p:nvSpPr>
        <p:spPr>
          <a:xfrm>
            <a:off x="1188720" y="5989320"/>
            <a:ext cx="9784080" cy="411480"/>
          </a:xfrm>
          <a:prstGeom prst="roundRect">
            <a:avLst/>
          </a:prstGeom>
          <a:solidFill>
            <a:srgbClr val="FFFFFF"/>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475569"/>
                </a:solidFill>
                <a:latin typeface="Aptos"/>
              </a:rPr>
              <a:t>Answer all of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CLOSE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Takeaway</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17</a:t>
            </a:r>
          </a:p>
        </p:txBody>
      </p:sp>
      <p:sp>
        <p:nvSpPr>
          <p:cNvPr id="5" name="TextBox 4"/>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6" name="TextBox 5"/>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S17  ·  instructor-added</a:t>
            </a:r>
          </a:p>
        </p:txBody>
      </p:sp>
      <p:sp>
        <p:nvSpPr>
          <p:cNvPr id="7" name="Rounded Rectangle 6"/>
          <p:cNvSpPr/>
          <p:nvPr/>
        </p:nvSpPr>
        <p:spPr>
          <a:xfrm>
            <a:off x="502920"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7784" y="147218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Know Why The Patient Is Receiving The Me</a:t>
            </a:r>
          </a:p>
        </p:txBody>
      </p:sp>
      <p:sp>
        <p:nvSpPr>
          <p:cNvPr id="10" name="TextBox 9"/>
          <p:cNvSpPr txBox="1"/>
          <p:nvPr/>
        </p:nvSpPr>
        <p:spPr>
          <a:xfrm>
            <a:off x="667512"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Know why the patient is receiving the medication.</a:t>
            </a:r>
          </a:p>
        </p:txBody>
      </p:sp>
      <p:sp>
        <p:nvSpPr>
          <p:cNvPr id="11" name="Rounded Rectangle 10"/>
          <p:cNvSpPr/>
          <p:nvPr/>
        </p:nvSpPr>
        <p:spPr>
          <a:xfrm>
            <a:off x="3340531"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5395" y="147218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5123"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Resolve Incomplete Or Inconsistent Order</a:t>
            </a:r>
          </a:p>
        </p:txBody>
      </p:sp>
      <p:sp>
        <p:nvSpPr>
          <p:cNvPr id="14" name="TextBox 13"/>
          <p:cNvSpPr txBox="1"/>
          <p:nvPr/>
        </p:nvSpPr>
        <p:spPr>
          <a:xfrm>
            <a:off x="3505123"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Resolve incomplete or inconsistent orders.</a:t>
            </a:r>
          </a:p>
        </p:txBody>
      </p:sp>
      <p:sp>
        <p:nvSpPr>
          <p:cNvPr id="15" name="Rounded Rectangle 14"/>
          <p:cNvSpPr/>
          <p:nvPr/>
        </p:nvSpPr>
        <p:spPr>
          <a:xfrm>
            <a:off x="6178143"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3007" y="147218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2735"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Use Required Independent Checks</a:t>
            </a:r>
          </a:p>
        </p:txBody>
      </p:sp>
      <p:sp>
        <p:nvSpPr>
          <p:cNvPr id="18" name="TextBox 17"/>
          <p:cNvSpPr txBox="1"/>
          <p:nvPr/>
        </p:nvSpPr>
        <p:spPr>
          <a:xfrm>
            <a:off x="6342735"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Use required independent checks.</a:t>
            </a:r>
          </a:p>
        </p:txBody>
      </p:sp>
      <p:sp>
        <p:nvSpPr>
          <p:cNvPr id="19" name="Rounded Rectangle 18"/>
          <p:cNvSpPr/>
          <p:nvPr/>
        </p:nvSpPr>
        <p:spPr>
          <a:xfrm>
            <a:off x="9015755"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70619" y="147218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0347"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Monitoring Is Part Of Administration</a:t>
            </a:r>
          </a:p>
        </p:txBody>
      </p:sp>
      <p:sp>
        <p:nvSpPr>
          <p:cNvPr id="22" name="TextBox 21"/>
          <p:cNvSpPr txBox="1"/>
          <p:nvPr/>
        </p:nvSpPr>
        <p:spPr>
          <a:xfrm>
            <a:off x="9180347"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Monitoring is part of administration.</a:t>
            </a:r>
          </a:p>
        </p:txBody>
      </p:sp>
      <p:sp>
        <p:nvSpPr>
          <p:cNvPr id="23" name="Rounded Rectangle 22"/>
          <p:cNvSpPr/>
          <p:nvPr/>
        </p:nvSpPr>
        <p:spPr>
          <a:xfrm>
            <a:off x="1234440" y="4892040"/>
            <a:ext cx="9646920" cy="8229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289304" y="5038344"/>
            <a:ext cx="45720" cy="530352"/>
          </a:xfrm>
          <a:prstGeom prst="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99032" y="5001768"/>
            <a:ext cx="9390888" cy="292608"/>
          </a:xfrm>
          <a:prstGeom prst="rect">
            <a:avLst/>
          </a:prstGeom>
          <a:noFill/>
        </p:spPr>
        <p:txBody>
          <a:bodyPr wrap="square" anchor="t" lIns="27432" rIns="27432" tIns="18288" bIns="18288">
            <a:spAutoFit/>
          </a:bodyPr>
          <a:lstStyle/>
          <a:p>
            <a:pPr algn="l"/>
            <a:r>
              <a:rPr sz="1200" b="1">
                <a:solidFill>
                  <a:srgbClr val="0F172A"/>
                </a:solidFill>
                <a:latin typeface="Aptos"/>
              </a:rPr>
              <a:t>final bedside frame</a:t>
            </a:r>
          </a:p>
        </p:txBody>
      </p:sp>
      <p:sp>
        <p:nvSpPr>
          <p:cNvPr id="26" name="TextBox 25"/>
          <p:cNvSpPr txBox="1"/>
          <p:nvPr/>
        </p:nvSpPr>
        <p:spPr>
          <a:xfrm>
            <a:off x="1399032" y="5330952"/>
            <a:ext cx="9390888" cy="292608"/>
          </a:xfrm>
          <a:prstGeom prst="rect">
            <a:avLst/>
          </a:prstGeom>
          <a:noFill/>
        </p:spPr>
        <p:txBody>
          <a:bodyPr wrap="square" anchor="t" lIns="27432" rIns="27432" tIns="18288" bIns="18288">
            <a:spAutoFit/>
          </a:bodyPr>
          <a:lstStyle/>
          <a:p>
            <a:pPr algn="l"/>
            <a:r>
              <a:rPr sz="800" b="0">
                <a:solidFill>
                  <a:srgbClr val="475569"/>
                </a:solidFill>
                <a:latin typeface="Aptos"/>
              </a:rPr>
              <a:t>Verify the complete medication order, patient-specific parameters, independent checks when required, monitoring, and response to harm.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