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High-Alert Medication Administration. Verify the complete medication order, patient-specific parameters, independent checks when required, monitoring, and response to harm. Five lanes carry the lesson: before administration, during administration, after administration, apply, evaluate.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one cue. The prescribed dose is inconsistent with the available concentration and usual range. Decide what you would do before the lesson tells you, and hold on to it; the same cue returns as the first assessment item.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organizes the lesson: Verify the complete medication order, patient-specific parameters, independent checks when required, monitoring, and response to harm.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The three teaching lanes are the topic's own sections; apply and evaluate close the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before any of this is taught. These three headings are the whole lesson in order, but they are shuffled on the slide. Put them in the sequence the nurse actually performs them at the bedside, then compare with a neighbour before the reveal. Getting the order wrong here is more useful than getting it right: it shows you which move you would have skipped under pressure.</a:t>
            </a:r>
          </a:p>
          <a:p/>
          <a:p>
            <a:r>
              <a:t>ANSWER KEY:</a:t>
            </a:r>
          </a:p>
          <a:p>
            <a:r>
              <a:t>- Before administration</a:t>
            </a:r>
          </a:p>
          <a:p>
            <a:r>
              <a:t>- During administration</a:t>
            </a:r>
          </a:p>
          <a:p>
            <a:r>
              <a:t>- After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administration. Verify patient identity, medication, indication, dose, route, time, allergies, relevant laboratory data, interactions, and required independent checks. Everything on this slide is the source topic's own wording; the bullets are that same sentence broken up for the screen. This is lane 1 of 3, and it answers: Identify safeguards for high-alert medications.</a:t>
            </a:r>
          </a:p>
          <a:p/>
          <a:p>
            <a:r>
              <a:t>VISUAL NOTES: Section 1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administration. Use the correct equipment and rate, minimize interruptions, and do not bypass smart-device or barcode safeguards without resolving the cause. Everything on this slide is the source topic's own wording; the bullets are that same sentence broken up for the screen. This is lane 2 of 3, and it answers: Recognize parameters that require holding and clarification.</a:t>
            </a:r>
          </a:p>
          <a:p/>
          <a:p>
            <a:r>
              <a:t>VISUAL NOTES: Section 2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administration. Monitor the expected effect and predictable harms, document the response, and act immediately on evidence of an adverse event. Everything on this slide is the source topic's own wording; the bullets are that same sentence broken up for the screen. This is lane 3 of 3, and it answers: Monitor for therapeutic and adverse effects.</a:t>
            </a:r>
          </a:p>
          <a:p/>
          <a:p>
            <a:r>
              <a:t>VISUAL NOTES: Section 3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with one partner. Match each cue to the section of the lesson that tells you what to do with it.</a:t>
            </a:r>
          </a:p>
          <a:p/>
          <a:p>
            <a:r>
              <a:t>ANSWER KEY:</a:t>
            </a:r>
          </a:p>
          <a:p>
            <a:r>
              <a:t>- A relates to: Before administration</a:t>
            </a:r>
          </a:p>
          <a:p>
            <a:r>
              <a:t>- B relates to: During administration</a:t>
            </a:r>
          </a:p>
          <a:p>
            <a:r>
              <a:t>- C relates to: After administration</a:t>
            </a:r>
          </a:p>
          <a:p>
            <a:r>
              <a:t>- D relates to: After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rationale below is the topic's own. Read them as a set: they describe one habit of mind, not five rules.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and it targets the middle of the lesson. The cue is: A required patient-specific laboratory result is unavailable. Read all four options and commit to one before the reveal, because the value of a checkpoint is in being wrong out loud rather than quietly. The reasoning you are being tested on is this: Relevant laboratory data can determine whether administration is safe.</a:t>
            </a:r>
          </a:p>
          <a:p/>
          <a:p>
            <a:r>
              <a:t>CORRECT: C</a:t>
            </a:r>
          </a:p>
          <a:p>
            <a:r>
              <a:t>RATIONALE: Relevant laboratory data can determine whether administration is safe.</a:t>
            </a:r>
          </a:p>
          <a:p/>
          <a:p>
            <a:r>
              <a:t>ANSWER KEY:</a:t>
            </a:r>
          </a:p>
          <a:p>
            <a:r>
              <a:t>- C. Obtain or verify the required result before administering the medication.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bedside moment, and this time you write rather than choose. The situation: Barcode scanning produces a mismatch alert. Write two sentences before the debrief: one naming what you assess, one naming what you do about it. Keep them in that order, because the order is the judgement. The keyed reasoning is: A mismatch alert is a safety signal and should not be bypassed for convenience.</a:t>
            </a:r>
          </a:p>
          <a:p/>
          <a:p>
            <a:r>
              <a:t>ANSWER KEY:</a:t>
            </a:r>
          </a:p>
          <a:p>
            <a:r>
              <a:t>- Stop and resolve the patient, medication, and order mismatch.</a:t>
            </a:r>
          </a:p>
          <a:p>
            <a:r>
              <a:t>- A mismatch alert is a safety signal and should not be bypassed for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and the sorting rule is the point of the slide. Put a cue on the left when delay changes the outcome for the patient, and on the right when the correct action is verification, planning or teaching that a short delay does not worsen. Justify one of your placements aloud. Learners who can sort these reliably are the ones who prioritise well under load.</a:t>
            </a:r>
          </a:p>
          <a:p/>
          <a:p>
            <a:r>
              <a:t>ANSWER KEY:</a:t>
            </a:r>
          </a:p>
          <a:p>
            <a:r>
              <a:t>- Act now: the cues whose keyed action is immediate</a:t>
            </a:r>
          </a:p>
          <a:p>
            <a:r>
              <a:t>- Act in sequence: the cues whose keyed action is verification or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fields the topic asks you to be able to fill in for any patient. If you cannot complete one, that is the part of the assessment still to 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question, and the hardest cue the topic carries: The patient develops signs of an acute adverse reaction during administration. All four options are things a nurse might plausibly do, which is what makes it a capstone rather than a checkpoint. Choose the priority action, not merely a defensible one. The reasoning that separates them: Immediate assessment and response limit ongoing exposure and address instability.</a:t>
            </a:r>
          </a:p>
          <a:p/>
          <a:p>
            <a:r>
              <a:t>CORRECT: B</a:t>
            </a:r>
          </a:p>
          <a:p>
            <a:r>
              <a:t>RATIONALE: Immediate assessment and response limit ongoing exposure and address instability.</a:t>
            </a:r>
          </a:p>
          <a:p/>
          <a:p>
            <a:r>
              <a:t>ANSWER KEY:</a:t>
            </a:r>
          </a:p>
          <a:p>
            <a:r>
              <a:t>- B. Stop the medication when appropriate, assess the patient, and activate the emergency response pathway.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no notes. Answer each of these aloud or on paper, one per lane of the lesson. The answers are on the slides you have just seen and in the facilitator guide, so this is retrieval rather than assessment. If any one of them produces silence across the room, that is the lane to re-teach before this cohort meets the situation on a real unit.</a:t>
            </a:r>
          </a:p>
          <a:p/>
          <a:p>
            <a:r>
              <a:t>ANSWER KEY:</a:t>
            </a:r>
          </a:p>
          <a:p>
            <a:r>
              <a:t>- Know why the patient is receiving the medication.</a:t>
            </a:r>
          </a:p>
          <a:p>
            <a:r>
              <a:t>- Resolve incomplete or inconsistent orders.</a:t>
            </a:r>
          </a:p>
          <a:p>
            <a:r>
              <a:t>- Use required independent checks.</a:t>
            </a:r>
          </a:p>
          <a:p>
            <a:r>
              <a:t>- Monitoring is part of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frame.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High-Alert Medication Administration</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NCLEX  ·  Pharmacological and Parenteral Therapies  ·  High-Alert_Medication_Administration</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Verify the complete medication order, patient-specific parameters, independent checks when required, monitoring, and response to harm.</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High-Alert Medication Administration</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Prelicensure RN · Pharmacological and Parenteral Therapies · safety risk: high</a:t>
            </a:r>
          </a:p>
        </p:txBody>
      </p:sp>
      <p:sp>
        <p:nvSpPr>
          <p:cNvPr id="24" name="TextBox 23"/>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5" name="TextBox 24"/>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The prescribed dose is inconsistent with the available concentration and usual range.</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Objective in play: Identify safeguards for high-alert medications.
- Concept: Medication Safety</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Rounded Rectangle 18"/>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2" name="TextBox 21"/>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Thirty seconds: what is your first action, and why that one first?</a:t>
            </a:r>
          </a:p>
        </p:txBody>
      </p:sp>
      <p:sp>
        <p:nvSpPr>
          <p:cNvPr id="23" name="Rounded Rectangle 22"/>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question this lesson answers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Verify the complete medication order, patient-specific parameters, independent checks when required, monitoring, and response to harm.</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Before Administration</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Before administration</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During Administration</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During administration</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After Administration</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After administration</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Apply</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case and items</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retrieval; takeaway</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Lesson map</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Before Administration</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Before administration</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During Administration</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During administration</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After Administration</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After administration</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Apply</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mini case → capstone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exit check</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ACTIVATE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Warm-up: put the three moves in order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instructor-added</a:t>
            </a:r>
          </a:p>
        </p:txBody>
      </p:sp>
      <p:sp>
        <p:nvSpPr>
          <p:cNvPr id="8" name="Rounded Rectangle 7"/>
          <p:cNvSpPr/>
          <p:nvPr/>
        </p:nvSpPr>
        <p:spPr>
          <a:xfrm>
            <a:off x="685800" y="1005840"/>
            <a:ext cx="10789920" cy="685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93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33888" cy="292608"/>
          </a:xfrm>
          <a:prstGeom prst="rect">
            <a:avLst/>
          </a:prstGeom>
          <a:noFill/>
        </p:spPr>
        <p:txBody>
          <a:bodyPr wrap="square" anchor="t" lIns="27432" rIns="27432" tIns="18288" bIns="18288">
            <a:spAutoFit/>
          </a:bodyPr>
          <a:lstStyle/>
          <a:p>
            <a:pPr algn="l"/>
            <a:r>
              <a:rPr sz="1300" b="1">
                <a:solidFill>
                  <a:srgbClr val="0F172A"/>
                </a:solidFill>
                <a:latin typeface="Aptos"/>
              </a:rPr>
              <a:t>learner task</a:t>
            </a:r>
          </a:p>
        </p:txBody>
      </p:sp>
      <p:sp>
        <p:nvSpPr>
          <p:cNvPr id="11" name="TextBox 10"/>
          <p:cNvSpPr txBox="1"/>
          <p:nvPr/>
        </p:nvSpPr>
        <p:spPr>
          <a:xfrm>
            <a:off x="850392" y="1444752"/>
            <a:ext cx="10533888" cy="155448"/>
          </a:xfrm>
          <a:prstGeom prst="rect">
            <a:avLst/>
          </a:prstGeom>
          <a:noFill/>
        </p:spPr>
        <p:txBody>
          <a:bodyPr wrap="square" anchor="t" lIns="27432" rIns="27432" tIns="18288" bIns="18288">
            <a:spAutoFit/>
          </a:bodyPr>
          <a:lstStyle/>
          <a:p>
            <a:pPr algn="l"/>
            <a:r>
              <a:rPr sz="1000" b="0">
                <a:solidFill>
                  <a:srgbClr val="475569"/>
                </a:solidFill>
                <a:latin typeface="Aptos"/>
              </a:rPr>
              <a:t>Order the three.</a:t>
            </a:r>
          </a:p>
        </p:txBody>
      </p:sp>
      <p:sp>
        <p:nvSpPr>
          <p:cNvPr id="12" name="Rounded Rectangle 11"/>
          <p:cNvSpPr/>
          <p:nvPr/>
        </p:nvSpPr>
        <p:spPr>
          <a:xfrm>
            <a:off x="960120" y="1965960"/>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938528"/>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463040" y="2039112"/>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Before administration</a:t>
            </a:r>
          </a:p>
        </p:txBody>
      </p:sp>
      <p:sp>
        <p:nvSpPr>
          <p:cNvPr id="15" name="Rounded Rectangle 14"/>
          <p:cNvSpPr/>
          <p:nvPr/>
        </p:nvSpPr>
        <p:spPr>
          <a:xfrm>
            <a:off x="960120" y="2532888"/>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587752"/>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463040" y="2596896"/>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During administration</a:t>
            </a:r>
          </a:p>
        </p:txBody>
      </p:sp>
      <p:sp>
        <p:nvSpPr>
          <p:cNvPr id="18" name="Rounded Rectangle 17"/>
          <p:cNvSpPr/>
          <p:nvPr/>
        </p:nvSpPr>
        <p:spPr>
          <a:xfrm>
            <a:off x="960120" y="3099815"/>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36976"/>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463040" y="3154680"/>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After administration</a:t>
            </a:r>
          </a:p>
        </p:txBody>
      </p:sp>
      <p:sp>
        <p:nvSpPr>
          <p:cNvPr id="21" name="Rounded Rectangle 20"/>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Use sequence misses to identify where the concept chain breaks.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BEFORE ADMINISTRATION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Before administration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Before administration</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Verify patient identity, medication, indication, dose, route, time, allergies, relevant laboratory data, interactions, and required independent checks.</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Identify safeguards for high-alert medications.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DURING ADMINISTRATION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During administration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During administration</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Use the correct equipment and rate, minimize interruptions, and do not bypass smart-device or barcode safeguards without resolving the cause.</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Recognize parameters that require holding and clarification.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AFTER ADMINISTRATION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After administration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After administration</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Monitor the expected effect and predictable harms, document the response, and act immediately on evidence of an adverse event.</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Monitor for therapeutic and adverse effects.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Activity: match the cue to the move it calls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TextBox 7"/>
          <p:cNvSpPr txBox="1"/>
          <p:nvPr/>
        </p:nvSpPr>
        <p:spPr>
          <a:xfrm>
            <a:off x="731520" y="1005840"/>
            <a:ext cx="10698480" cy="256032"/>
          </a:xfrm>
          <a:prstGeom prst="rect">
            <a:avLst/>
          </a:prstGeom>
          <a:noFill/>
        </p:spPr>
        <p:txBody>
          <a:bodyPr wrap="square" anchor="t" lIns="27432" rIns="27432" tIns="18288" bIns="18288">
            <a:spAutoFit/>
          </a:bodyPr>
          <a:lstStyle/>
          <a:p>
            <a:pPr algn="l"/>
            <a:r>
              <a:rPr sz="950" b="1">
                <a:solidFill>
                  <a:srgbClr val="0F172A"/>
                </a:solidFill>
                <a:latin typeface="Aptos"/>
              </a:rPr>
              <a:t>Work with one partner: match each source to the cue or clinical meaning most directly involved.</a:t>
            </a:r>
          </a:p>
        </p:txBody>
      </p:sp>
      <p:sp>
        <p:nvSpPr>
          <p:cNvPr id="9" name="Rounded Rectangle 8"/>
          <p:cNvSpPr/>
          <p:nvPr/>
        </p:nvSpPr>
        <p:spPr>
          <a:xfrm>
            <a:off x="777240" y="1508760"/>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3" y="1655063"/>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18488"/>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A</a:t>
            </a:r>
          </a:p>
        </p:txBody>
      </p:sp>
      <p:sp>
        <p:nvSpPr>
          <p:cNvPr id="12" name="TextBox 11"/>
          <p:cNvSpPr txBox="1"/>
          <p:nvPr/>
        </p:nvSpPr>
        <p:spPr>
          <a:xfrm>
            <a:off x="941832" y="1947672"/>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A. The prescribed dose is inconsistent with the available concentration and usual range.</a:t>
            </a:r>
          </a:p>
        </p:txBody>
      </p:sp>
      <p:sp>
        <p:nvSpPr>
          <p:cNvPr id="13" name="Rounded Rectangle 12"/>
          <p:cNvSpPr/>
          <p:nvPr/>
        </p:nvSpPr>
        <p:spPr>
          <a:xfrm>
            <a:off x="6537960" y="1508760"/>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92824" y="1655063"/>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2552" y="1618488"/>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1</a:t>
            </a:r>
          </a:p>
        </p:txBody>
      </p:sp>
      <p:sp>
        <p:nvSpPr>
          <p:cNvPr id="16" name="TextBox 15"/>
          <p:cNvSpPr txBox="1"/>
          <p:nvPr/>
        </p:nvSpPr>
        <p:spPr>
          <a:xfrm>
            <a:off x="6702552" y="1947672"/>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1. Before administration</a:t>
            </a:r>
          </a:p>
        </p:txBody>
      </p:sp>
      <p:sp>
        <p:nvSpPr>
          <p:cNvPr id="17" name="Rounded Rectangle 16"/>
          <p:cNvSpPr/>
          <p:nvPr/>
        </p:nvSpPr>
        <p:spPr>
          <a:xfrm>
            <a:off x="777240" y="2203704"/>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3" y="2350008"/>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2313432"/>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B</a:t>
            </a:r>
          </a:p>
        </p:txBody>
      </p:sp>
      <p:sp>
        <p:nvSpPr>
          <p:cNvPr id="20" name="TextBox 19"/>
          <p:cNvSpPr txBox="1"/>
          <p:nvPr/>
        </p:nvSpPr>
        <p:spPr>
          <a:xfrm>
            <a:off x="941832" y="2642616"/>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B. A required patient-specific laboratory result is unavailable.</a:t>
            </a:r>
          </a:p>
        </p:txBody>
      </p:sp>
      <p:sp>
        <p:nvSpPr>
          <p:cNvPr id="21" name="Rounded Rectangle 20"/>
          <p:cNvSpPr/>
          <p:nvPr/>
        </p:nvSpPr>
        <p:spPr>
          <a:xfrm>
            <a:off x="6537960" y="2203704"/>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2824" y="2350008"/>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313432"/>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2</a:t>
            </a:r>
          </a:p>
        </p:txBody>
      </p:sp>
      <p:sp>
        <p:nvSpPr>
          <p:cNvPr id="24" name="TextBox 23"/>
          <p:cNvSpPr txBox="1"/>
          <p:nvPr/>
        </p:nvSpPr>
        <p:spPr>
          <a:xfrm>
            <a:off x="6702552" y="2642616"/>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2. During administration</a:t>
            </a:r>
          </a:p>
        </p:txBody>
      </p:sp>
      <p:sp>
        <p:nvSpPr>
          <p:cNvPr id="25" name="Rounded Rectangle 24"/>
          <p:cNvSpPr/>
          <p:nvPr/>
        </p:nvSpPr>
        <p:spPr>
          <a:xfrm>
            <a:off x="777240" y="2898648"/>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2103" y="3044952"/>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3008376"/>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C</a:t>
            </a:r>
          </a:p>
        </p:txBody>
      </p:sp>
      <p:sp>
        <p:nvSpPr>
          <p:cNvPr id="28" name="TextBox 27"/>
          <p:cNvSpPr txBox="1"/>
          <p:nvPr/>
        </p:nvSpPr>
        <p:spPr>
          <a:xfrm>
            <a:off x="941832" y="3337560"/>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C. Barcode scanning produces a mismatch alert.</a:t>
            </a:r>
          </a:p>
        </p:txBody>
      </p:sp>
      <p:sp>
        <p:nvSpPr>
          <p:cNvPr id="29" name="Rounded Rectangle 28"/>
          <p:cNvSpPr/>
          <p:nvPr/>
        </p:nvSpPr>
        <p:spPr>
          <a:xfrm>
            <a:off x="6537960" y="2898648"/>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2824" y="3044952"/>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2552" y="3008376"/>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3</a:t>
            </a:r>
          </a:p>
        </p:txBody>
      </p:sp>
      <p:sp>
        <p:nvSpPr>
          <p:cNvPr id="32" name="TextBox 31"/>
          <p:cNvSpPr txBox="1"/>
          <p:nvPr/>
        </p:nvSpPr>
        <p:spPr>
          <a:xfrm>
            <a:off x="6702552" y="3337560"/>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3. After administration</a:t>
            </a:r>
          </a:p>
        </p:txBody>
      </p:sp>
      <p:sp>
        <p:nvSpPr>
          <p:cNvPr id="33" name="Rounded Rectangle 32"/>
          <p:cNvSpPr/>
          <p:nvPr/>
        </p:nvSpPr>
        <p:spPr>
          <a:xfrm>
            <a:off x="777240" y="3593592"/>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3" y="3739896"/>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703320"/>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D</a:t>
            </a:r>
          </a:p>
        </p:txBody>
      </p:sp>
      <p:sp>
        <p:nvSpPr>
          <p:cNvPr id="36" name="TextBox 35"/>
          <p:cNvSpPr txBox="1"/>
          <p:nvPr/>
        </p:nvSpPr>
        <p:spPr>
          <a:xfrm>
            <a:off x="941832" y="4032504"/>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D. Policy requires an independent double check for this medication.</a:t>
            </a:r>
          </a:p>
        </p:txBody>
      </p:sp>
      <p:sp>
        <p:nvSpPr>
          <p:cNvPr id="37" name="Rounded Rectangle 36"/>
          <p:cNvSpPr/>
          <p:nvPr/>
        </p:nvSpPr>
        <p:spPr>
          <a:xfrm>
            <a:off x="6537960" y="3593592"/>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92824" y="3739896"/>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3703320"/>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4</a:t>
            </a:r>
          </a:p>
        </p:txBody>
      </p:sp>
      <p:sp>
        <p:nvSpPr>
          <p:cNvPr id="40" name="TextBox 39"/>
          <p:cNvSpPr txBox="1"/>
          <p:nvPr/>
        </p:nvSpPr>
        <p:spPr>
          <a:xfrm>
            <a:off x="6702552" y="4032504"/>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4. Evaluate the result</a:t>
            </a:r>
          </a:p>
        </p:txBody>
      </p:sp>
      <p:sp>
        <p:nvSpPr>
          <p:cNvPr id="41" name="Rounded Rectangle 4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Output: write matches and one sentence explaining one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Debrief: the reasoning behind each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435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Hold administration and clarify the order before preparing</a:t>
            </a:r>
          </a:p>
        </p:txBody>
      </p:sp>
      <p:sp>
        <p:nvSpPr>
          <p:cNvPr id="11" name="TextBox 10"/>
          <p:cNvSpPr txBox="1"/>
          <p:nvPr/>
        </p:nvSpPr>
        <p:spPr>
          <a:xfrm>
            <a:off x="667512"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A dose discrepancy must be resolved before medication reaches the patient.</a:t>
            </a:r>
          </a:p>
        </p:txBody>
      </p:sp>
      <p:sp>
        <p:nvSpPr>
          <p:cNvPr id="12" name="Rounded Rectangle 11"/>
          <p:cNvSpPr/>
          <p:nvPr/>
        </p:nvSpPr>
        <p:spPr>
          <a:xfrm>
            <a:off x="6178143"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435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Obtain or verify the required result before administering </a:t>
            </a:r>
          </a:p>
        </p:txBody>
      </p:sp>
      <p:sp>
        <p:nvSpPr>
          <p:cNvPr id="15" name="TextBox 14"/>
          <p:cNvSpPr txBox="1"/>
          <p:nvPr/>
        </p:nvSpPr>
        <p:spPr>
          <a:xfrm>
            <a:off x="6342735"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Relevant laboratory data can determine whether administration is safe.</a:t>
            </a:r>
          </a:p>
        </p:txBody>
      </p:sp>
      <p:sp>
        <p:nvSpPr>
          <p:cNvPr id="16" name="Rounded Rectangle 15"/>
          <p:cNvSpPr/>
          <p:nvPr/>
        </p:nvSpPr>
        <p:spPr>
          <a:xfrm>
            <a:off x="502920"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 y="264261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Stop and resolve the patient, medication, and order mismat</a:t>
            </a:r>
          </a:p>
        </p:txBody>
      </p:sp>
      <p:sp>
        <p:nvSpPr>
          <p:cNvPr id="19" name="TextBox 18"/>
          <p:cNvSpPr txBox="1"/>
          <p:nvPr/>
        </p:nvSpPr>
        <p:spPr>
          <a:xfrm>
            <a:off x="667512"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A mismatch alert is a safety signal and should not be bypassed for convenience.</a:t>
            </a:r>
          </a:p>
        </p:txBody>
      </p:sp>
      <p:sp>
        <p:nvSpPr>
          <p:cNvPr id="20" name="Rounded Rectangle 19"/>
          <p:cNvSpPr/>
          <p:nvPr/>
        </p:nvSpPr>
        <p:spPr>
          <a:xfrm>
            <a:off x="6178143"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264261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2735"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Have the qualified second clinician independently verify t</a:t>
            </a:r>
          </a:p>
        </p:txBody>
      </p:sp>
      <p:sp>
        <p:nvSpPr>
          <p:cNvPr id="23" name="TextBox 22"/>
          <p:cNvSpPr txBox="1"/>
          <p:nvPr/>
        </p:nvSpPr>
        <p:spPr>
          <a:xfrm>
            <a:off x="6342735"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An independent check is performed separately to reduce shared-error bias.</a:t>
            </a:r>
          </a:p>
        </p:txBody>
      </p:sp>
      <p:sp>
        <p:nvSpPr>
          <p:cNvPr id="24" name="Rounded Rectangle 23"/>
          <p:cNvSpPr/>
          <p:nvPr/>
        </p:nvSpPr>
        <p:spPr>
          <a:xfrm>
            <a:off x="1188720" y="5989320"/>
            <a:ext cx="9784080" cy="41148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EA580C"/>
                </a:solidFill>
                <a:latin typeface="Aptos"/>
              </a:rPr>
              <a:t>Explain why each keyed action follows from its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A required patient-specific laboratory result is unavailable. What should the nurse do?</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Delay action until the end of the shift.</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Document the finding without reassessment or follow-up.</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Obtain or verify the required result before administering the medication.</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Delegate the clinical judgment decision to unlicensed assistive personnel.</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Choose the best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Mini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Barcode scanning produces a mismatch alert.</a:t>
            </a:r>
          </a:p>
        </p:txBody>
      </p:sp>
      <p:sp>
        <p:nvSpPr>
          <p:cNvPr id="12" name="Rounded Rectangle 11"/>
          <p:cNvSpPr/>
          <p:nvPr/>
        </p:nvSpPr>
        <p:spPr>
          <a:xfrm>
            <a:off x="502920"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Keyed action: Stop and resolve the patient, medication, and order mismatch.
- Because: A mismatch alert is a safety signal and should not be bypassed for convenience.</a:t>
            </a:r>
          </a:p>
        </p:txBody>
      </p:sp>
      <p:sp>
        <p:nvSpPr>
          <p:cNvPr id="16" name="Rounded Rectangle 15"/>
          <p:cNvSpPr/>
          <p:nvPr/>
        </p:nvSpPr>
        <p:spPr>
          <a:xfrm>
            <a:off x="6178143"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6342735"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Write one assessment sentence and one action sentence.</a:t>
            </a:r>
          </a:p>
        </p:txBody>
      </p:sp>
      <p:sp>
        <p:nvSpPr>
          <p:cNvPr id="20" name="Rounded Rectangle 1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Two sentences: what you assess, then what you 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SIGNAL</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Sort by urgency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now</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The prescribed dose is inconsistent with the available concentration and usual range.
- A required patient-specific laboratory result is unavailable.
- Barcode scanning produces a mismatch alert.</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in sequence</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Policy requires an independent double check for this medication.
- The patient develops signs of an acute adverse reaction during administration.</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Place each cue and justify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Documentation frame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Medication and indication</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Patient-specific parameter</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Independent check</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Monitoring plan</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Adverse-response action</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Record the lesson's decisions in a reusable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choose the next safe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The patient develops signs of an acute adverse reaction during administration.</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priority nursing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Delay action until the end of the shift.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Stop the medication when appropriate, assess the patient, and activate the emergency response pathway.</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finding without reassessment or follow-up.</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Delegate the clinical judgment decision to unlicensed assistive personnel.</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Choose the priority 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Know why the patient is receiving the medication.</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Resolve incomplete or inconsistent orders.</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Use required independent checks.</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Monitoring is part of administration.</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Monitor for therapeutic and adverse effects.</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of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Know Why The Patient Is Receiving The Me</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Know why the patient is receiving the medication.</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Resolve Incomplete Or Inconsistent Order</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Resolve incomplete or inconsistent orders.</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Use Required Independent Checks</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Use required independent checks.</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Monitoring Is Part Of Administration</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Monitoring is part of administration.</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Verify the complete medication order, patient-specific parameters, independent checks when required, monitoring, and response to harm.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