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 Delegation and Supervision. The concept underneath it is care coordination, and the module rates its safety risk high — its top rating, so this is one to be able to do under pressure rather than one to recognise on a test. Here is the whole lesson in one sentence. Match the task to the delegatee, retain nursing judgment, communicate expectations, and evaluate the result. By the end you should be able to do three things: differentiate tasks that require nursing judgment from tasks that may be delegated; select an appropriate delegatee using patient stability, task predictability, and local scope; and provide direction, supervision, and outcome evaluation after delegation. We get there in three moves, and then spend the second half putting all of them against patient cues, because knowing this and doing it at the bedside are not the same skill.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with a cue rather than a definition, because that is the order the unit gives you: the patient arrives first and the explanation catches up later. Here it is. A newly admitted patient has changing neurologic findings. Decide now, before any of this is taught, what you would do and why that thing first. Write it somewhere you will still be able to read at the end, because this exact cue comes back as the first assessment item. Comparing the two answers is most of what the rest of this session is for.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that follows answers one question. Match the task to the delegatee, retain nursing judgment, communicate expectations, and evaluate the result. Keep that sentence in view for the rest of the session. When a slide stops making sense it is almost always because you have lost which part of this sentence it is working on, and naming the part is the fastest way back. The lesson takes the question in three moves — decision frame, then communication, then supervision — and then asks you to apply all of them to cues you have not seen.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first, detail second. The lanes on the left are the lesson's teaching moves, in the order a nurse actually performs them; apply and evaluate on the right are where you are made to use them. The reason to show this before teaching any of it is orientation: every cue you meet today sits in one of these lanes, and knowing which lane a cue belongs to usually tells you what to do with it before you can explain why. When you get stuck later, come back to this slide rather than to the last one you read.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before any of this is taught. These three headings are the whole lesson in order, but they are shuffled on the slide. Put them in the sequence the nurse actually performs them at the bedside, then compare with a neighbour before the reveal. Getting the order wrong here is more useful than getting it right: it shows you which move you would have skipped under pressure.</a:t>
            </a:r>
          </a:p>
          <a:p/>
          <a:p>
            <a:r>
              <a:t>ANSWER KEY:</a:t>
            </a:r>
          </a:p>
          <a:p>
            <a:r>
              <a:t>- Decision frame</a:t>
            </a:r>
          </a:p>
          <a:p>
            <a:r>
              <a:t>- Communication</a:t>
            </a:r>
          </a:p>
          <a:p>
            <a:r>
              <a:t>- Supervision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frame. The nurse assesses the patient and task before delegating. Assessment, teaching, evaluation, and unstable-patient decisions remain with the licensed nurse. This is the first of the three, and the two after it assume it. What you get wrong here does not stay here; it propagates quietly into every decision the rest of the lesson asks you to make. Do not move on until you can say this part back without the slide. The test is the objective: if you can differentiate tasks that require nursing judgment from tasks that may be delegated, this lane has done its job, and if you cannot, nothing later in the lesson will fix it — it will only hide it.</a:t>
            </a:r>
          </a:p>
          <a:p/>
          <a:p>
            <a:r>
              <a:t>VISUAL NOTES: Section 1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Communication. State the task, expected result, reporting parameters, and time frame. Confirm understanding and availability for questions. This is the middle move, and it is where most of the disagreement in this lesson will sit: the point at which a defensible action and the priority action stop being the same answer. Do not move on until you can say this part back without the slide. The test is the objective: if you can select an appropriate delegatee using patient stability, task predictability, and local scope, this lane has done its job, and if you cannot, nothing later in the lesson will fix it — it will only hide it.</a:t>
            </a:r>
          </a:p>
          <a:p/>
          <a:p>
            <a:r>
              <a:t>VISUAL NOTES: Section 2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Supervision. Delegation transfers performance of a task, not accountability for the nursing decision. Reassess the patient and evaluate completion. This is the last of the three, and it is the one most often left implicit -- the step learners can describe accurately and then do not actually perform when the first two have gone well. Say it out loud; that is how it survives contact with a busy shift. Do not move on until you can say this part back without the slide. The test is the objective: if you can provide direction, supervision, and outcome evaluation after delegation, this lane has done its job, and if you cannot, nothing later in the lesson will fix it — it will only hide it.</a:t>
            </a:r>
          </a:p>
          <a:p/>
          <a:p>
            <a:r>
              <a:t>VISUAL NOTES: Section 3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pairs, four minutes. Every cue on the left was written for one of the lesson moves on the right; your job is to say which, and to be able to defend one of the four out loud. Where the two of you match a cue differently, stop and stay there — you have found a cue whose lane is genuinely arguable, and those are worth more than the three you agreed on instantly. Bring one disagreement to the debrief.</a:t>
            </a:r>
          </a:p>
          <a:p/>
          <a:p>
            <a:r>
              <a:t>ANSWER KEY:</a:t>
            </a:r>
          </a:p>
          <a:p>
            <a:r>
              <a:t>- A relates to: Decision frame</a:t>
            </a:r>
          </a:p>
          <a:p>
            <a:r>
              <a:t>- B relates to: Communication</a:t>
            </a:r>
          </a:p>
          <a:p>
            <a:r>
              <a:t>- C relates to: Supervision</a:t>
            </a:r>
          </a:p>
          <a:p>
            <a:r>
              <a:t>- D relates to: Supervision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four rationales as a set rather than one at a time. They are deliberately repetitive: the same habit of mind is showing up behind four different cues, and that repetition is the teaching point rather than an accident of writing. A learner who memorises four rules will meet a fifth cue and stall. A learner who can name the one habit will handle cues this lesson never showed them. Say the habit out loud in your own words before you leave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and it targets the middle of the lesson. The cue is: A stable patient needs routine intake and output recorded. Read all four options and commit to one before the reveal, because the value of a checkpoint is in being wrong out loud rather than quietly. The reasoning you are being tested on is this: A predictable task may be delegated when direction and supervision are provided.</a:t>
            </a:r>
          </a:p>
          <a:p/>
          <a:p>
            <a:r>
              <a:t>CORRECT: C</a:t>
            </a:r>
          </a:p>
          <a:p>
            <a:r>
              <a:t>RATIONALE: A predictable task may be delegated when direction and supervision are provided.</a:t>
            </a:r>
          </a:p>
          <a:p/>
          <a:p>
            <a:r>
              <a:t>ANSWER KEY:</a:t>
            </a:r>
          </a:p>
          <a:p>
            <a:r>
              <a:t>- C. Delegate measurement with clear reporting parameters and review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bedside moment, and this time you write rather than choose. The situation: A patient requires initial teaching for a new diagnosis. Write two sentences before the debrief: one naming what you assess, one naming what you do about it. Keep them in that order, because the order is the judgement. The keyed reasoning is: Initial teaching and evaluation require nursing judgment.</a:t>
            </a:r>
          </a:p>
          <a:p/>
          <a:p>
            <a:r>
              <a:t>ANSWER KEY:</a:t>
            </a:r>
          </a:p>
          <a:p>
            <a:r>
              <a:t>- The registered nurse performs and evaluates the initial teaching.</a:t>
            </a:r>
          </a:p>
          <a:p>
            <a:r>
              <a:t>- Initial teaching and evaluation require nursing judgment.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and the sorting rule is the point of the slide. Put a cue on the left when delay changes the outcome for the patient, and on the right when the correct action is verification, planning or teaching that a short delay does not worsen. Justify one of your placements aloud. Learners who can sort these reliably are the ones who prioritise well under load.</a:t>
            </a:r>
          </a:p>
          <a:p/>
          <a:p>
            <a:r>
              <a:t>ANSWER KEY:</a:t>
            </a:r>
          </a:p>
          <a:p>
            <a:r>
              <a:t>- Act now: the cues whose keyed action is immediate</a:t>
            </a:r>
          </a:p>
          <a:p>
            <a:r>
              <a:t>- Act in sequence: the cues whose keyed action is verification or planning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lesson turned into something you can write down. The module asks you to be able to fill every one of these fields for any patient in this situation, and the value is in the blanks: a field you cannot complete is not a documentation gap, it is an assessment you have not done yet. Fill them now for the mini-case patient, and notice which field you reach for last — that one is your weak lane.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question, and the hardest cue the topic carries: The task is permitted by policy but the delegatee has not demonstrated competence. All four options are things a nurse might plausibly do, which is what makes it a capstone rather than a checkpoint. Choose the priority action, not merely a defensible one. The reasoning that separates them: Permitted scope does not replace validation of individual competence.</a:t>
            </a:r>
          </a:p>
          <a:p/>
          <a:p>
            <a:r>
              <a:t>CORRECT: B</a:t>
            </a:r>
          </a:p>
          <a:p>
            <a:r>
              <a:t>RATIONALE: Permitted scope does not replace validation of individual competence.</a:t>
            </a:r>
          </a:p>
          <a:p/>
          <a:p>
            <a:r>
              <a:t>ANSWER KEY:</a:t>
            </a:r>
          </a:p>
          <a:p>
            <a:r>
              <a:t>- B. Assign the task to a competent team member or complete it as the nurse.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with no notes. Answer each of these aloud or on paper, one per lane of the lesson. The answers are on the slides you have just seen and in the facilitator guide, so this is retrieval rather than assessment. If any one of them produces silence across the room, that is the lane to re-teach before this cohort meets the situation on a real unit.</a:t>
            </a:r>
          </a:p>
          <a:p/>
          <a:p>
            <a:r>
              <a:t>ANSWER KEY:</a:t>
            </a:r>
          </a:p>
          <a:p>
            <a:r>
              <a:t>- Assess before delegating.</a:t>
            </a:r>
          </a:p>
          <a:p>
            <a:r>
              <a:t>- Do not delegate nursing judgment.</a:t>
            </a:r>
          </a:p>
          <a:p>
            <a:r>
              <a:t>- Give explicit report-back parameters.</a:t>
            </a:r>
          </a:p>
          <a:p>
            <a:r>
              <a:t>- Evaluate the patient outcome.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where we opened. The question was: Match the task to the delegatee, retain nursing judgment, communicate expectations, and evaluate the result. The lines on this slide are the module's own answer, and they are what should still be there in a week when the detail has gone. If you keep one, keep the first: Assess before delegating. Everything else here is that sentence applied to a different cue. Go back now to what you wrote at the opening case and see whether you would still do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02920" y="457200"/>
            <a:ext cx="2194560" cy="182880"/>
          </a:xfrm>
          <a:prstGeom prst="rect">
            <a:avLst/>
          </a:prstGeom>
          <a:noFill/>
        </p:spPr>
        <p:txBody>
          <a:bodyPr wrap="square" anchor="t" lIns="27432" rIns="27432" tIns="18288" bIns="18288">
            <a:spAutoFit/>
          </a:bodyPr>
          <a:lstStyle/>
          <a:p>
            <a:pPr algn="l"/>
            <a:r>
              <a:rPr sz="720" b="1">
                <a:solidFill>
                  <a:srgbClr val="2563EB"/>
                </a:solidFill>
                <a:latin typeface="Aptos"/>
              </a:rPr>
              <a:t>OPEN</a:t>
            </a:r>
          </a:p>
        </p:txBody>
      </p:sp>
      <p:sp>
        <p:nvSpPr>
          <p:cNvPr id="3" name="TextBox 2"/>
          <p:cNvSpPr txBox="1"/>
          <p:nvPr/>
        </p:nvSpPr>
        <p:spPr>
          <a:xfrm>
            <a:off x="502920" y="822960"/>
            <a:ext cx="7498079" cy="548640"/>
          </a:xfrm>
          <a:prstGeom prst="rect">
            <a:avLst/>
          </a:prstGeom>
          <a:noFill/>
        </p:spPr>
        <p:txBody>
          <a:bodyPr wrap="square" anchor="t" lIns="27432" rIns="27432" tIns="18288" bIns="18288">
            <a:spAutoFit/>
          </a:bodyPr>
          <a:lstStyle/>
          <a:p>
            <a:pPr algn="l"/>
            <a:r>
              <a:rPr sz="2800" b="1">
                <a:solidFill>
                  <a:srgbClr val="0F172A"/>
                </a:solidFill>
                <a:latin typeface="Aptos"/>
              </a:rPr>
              <a:t>Safe Delegation and Supervision</a:t>
            </a:r>
          </a:p>
        </p:txBody>
      </p:sp>
      <p:sp>
        <p:nvSpPr>
          <p:cNvPr id="4" name="TextBox 3"/>
          <p:cNvSpPr txBox="1"/>
          <p:nvPr/>
        </p:nvSpPr>
        <p:spPr>
          <a:xfrm>
            <a:off x="530352" y="1463040"/>
            <a:ext cx="7589520" cy="438912"/>
          </a:xfrm>
          <a:prstGeom prst="rect">
            <a:avLst/>
          </a:prstGeom>
          <a:noFill/>
        </p:spPr>
        <p:txBody>
          <a:bodyPr wrap="square" anchor="t" lIns="27432" rIns="27432" tIns="18288" bIns="18288">
            <a:spAutoFit/>
          </a:bodyPr>
          <a:lstStyle/>
          <a:p>
            <a:pPr algn="l"/>
            <a:r>
              <a:rPr sz="1200" b="0">
                <a:solidFill>
                  <a:srgbClr val="475569"/>
                </a:solidFill>
                <a:latin typeface="Aptos"/>
              </a:rPr>
              <a:t>NCLEX  ·  Management of Care  ·  Safe_Delegation_and_Supervision</a:t>
            </a:r>
          </a:p>
        </p:txBody>
      </p:sp>
      <p:sp>
        <p:nvSpPr>
          <p:cNvPr id="5" name="Rounded Rectangle 4"/>
          <p:cNvSpPr/>
          <p:nvPr/>
        </p:nvSpPr>
        <p:spPr>
          <a:xfrm>
            <a:off x="502920" y="2331720"/>
            <a:ext cx="530352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7784" y="2478024"/>
            <a:ext cx="45720" cy="758951"/>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244144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clinical question</a:t>
            </a:r>
          </a:p>
        </p:txBody>
      </p:sp>
      <p:sp>
        <p:nvSpPr>
          <p:cNvPr id="8" name="TextBox 7"/>
          <p:cNvSpPr txBox="1"/>
          <p:nvPr/>
        </p:nvSpPr>
        <p:spPr>
          <a:xfrm>
            <a:off x="667512" y="2770632"/>
            <a:ext cx="5047488" cy="521207"/>
          </a:xfrm>
          <a:prstGeom prst="rect">
            <a:avLst/>
          </a:prstGeom>
          <a:noFill/>
        </p:spPr>
        <p:txBody>
          <a:bodyPr wrap="square" anchor="t" lIns="27432" rIns="27432" tIns="18288" bIns="18288">
            <a:spAutoFit/>
          </a:bodyPr>
          <a:lstStyle/>
          <a:p>
            <a:pPr algn="l"/>
            <a:r>
              <a:rPr sz="900" b="0">
                <a:solidFill>
                  <a:srgbClr val="475569"/>
                </a:solidFill>
                <a:latin typeface="Aptos"/>
              </a:rPr>
              <a:t>Match the task to the delegatee, retain nursing judgment, communicate expectations, and evaluate the result.</a:t>
            </a:r>
          </a:p>
        </p:txBody>
      </p:sp>
      <p:sp>
        <p:nvSpPr>
          <p:cNvPr id="9" name="Rounded Rectangle 8"/>
          <p:cNvSpPr/>
          <p:nvPr/>
        </p:nvSpPr>
        <p:spPr>
          <a:xfrm>
            <a:off x="502920" y="3611880"/>
            <a:ext cx="5303520" cy="132588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7784" y="3758184"/>
            <a:ext cx="45720" cy="1033271"/>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72160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today is not a vocabulary tour</a:t>
            </a:r>
          </a:p>
        </p:txBody>
      </p:sp>
      <p:sp>
        <p:nvSpPr>
          <p:cNvPr id="12" name="TextBox 11"/>
          <p:cNvSpPr txBox="1"/>
          <p:nvPr/>
        </p:nvSpPr>
        <p:spPr>
          <a:xfrm>
            <a:off x="667512" y="4050791"/>
            <a:ext cx="5047488" cy="795528"/>
          </a:xfrm>
          <a:prstGeom prst="rect">
            <a:avLst/>
          </a:prstGeom>
          <a:noFill/>
        </p:spPr>
        <p:txBody>
          <a:bodyPr wrap="square" anchor="t" lIns="27432" rIns="27432" tIns="18288" bIns="18288">
            <a:spAutoFit/>
          </a:bodyPr>
          <a:lstStyle/>
          <a:p>
            <a:pPr algn="l"/>
            <a:r>
              <a:rPr sz="900" b="0">
                <a:solidFill>
                  <a:srgbClr val="475569"/>
                </a:solidFill>
                <a:latin typeface="Aptos"/>
              </a:rPr>
              <a:t>you will use the science only when it explains a patient question or a safety decision.</a:t>
            </a:r>
          </a:p>
        </p:txBody>
      </p:sp>
      <p:sp>
        <p:nvSpPr>
          <p:cNvPr id="13" name="Rounded Rectangle 12"/>
          <p:cNvSpPr/>
          <p:nvPr/>
        </p:nvSpPr>
        <p:spPr>
          <a:xfrm>
            <a:off x="8458200" y="502920"/>
            <a:ext cx="1965960" cy="196596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0" y="914400"/>
            <a:ext cx="1417320" cy="274320"/>
          </a:xfrm>
          <a:prstGeom prst="rect">
            <a:avLst/>
          </a:prstGeom>
          <a:noFill/>
        </p:spPr>
        <p:txBody>
          <a:bodyPr wrap="square" anchor="t" lIns="27432" rIns="27432" tIns="18288" bIns="18288">
            <a:spAutoFit/>
          </a:bodyPr>
          <a:lstStyle/>
          <a:p>
            <a:pPr algn="ctr"/>
            <a:r>
              <a:rPr sz="1300" b="1">
                <a:solidFill>
                  <a:srgbClr val="2563EB"/>
                </a:solidFill>
                <a:latin typeface="Aptos"/>
              </a:rPr>
              <a:t>Nurse lens</a:t>
            </a:r>
          </a:p>
        </p:txBody>
      </p:sp>
      <p:sp>
        <p:nvSpPr>
          <p:cNvPr id="15" name="TextBox 14"/>
          <p:cNvSpPr txBox="1"/>
          <p:nvPr/>
        </p:nvSpPr>
        <p:spPr>
          <a:xfrm>
            <a:off x="8915400" y="1234440"/>
            <a:ext cx="1097280" cy="685800"/>
          </a:xfrm>
          <a:prstGeom prst="rect">
            <a:avLst/>
          </a:prstGeom>
          <a:noFill/>
        </p:spPr>
        <p:txBody>
          <a:bodyPr wrap="square" anchor="t" lIns="27432" rIns="27432" tIns="18288" bIns="18288">
            <a:spAutoFit/>
          </a:bodyPr>
          <a:lstStyle/>
          <a:p>
            <a:pPr algn="ctr"/>
            <a:r>
              <a:rPr sz="1000" b="1">
                <a:solidFill>
                  <a:srgbClr val="0F172A"/>
                </a:solidFill>
                <a:latin typeface="Aptos"/>
              </a:rPr>
              <a:t>TEACH
ASSESS
ESCALATE</a:t>
            </a:r>
          </a:p>
        </p:txBody>
      </p:sp>
      <p:sp>
        <p:nvSpPr>
          <p:cNvPr id="16" name="Rounded Rectangle 15"/>
          <p:cNvSpPr/>
          <p:nvPr/>
        </p:nvSpPr>
        <p:spPr>
          <a:xfrm>
            <a:off x="64008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4944" y="5404104"/>
            <a:ext cx="45720" cy="365759"/>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1</a:t>
            </a:r>
          </a:p>
        </p:txBody>
      </p:sp>
      <p:sp>
        <p:nvSpPr>
          <p:cNvPr id="19" name="TextBox 18"/>
          <p:cNvSpPr txBox="1"/>
          <p:nvPr/>
        </p:nvSpPr>
        <p:spPr>
          <a:xfrm>
            <a:off x="804671"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Safe Delegation and Supervision</a:t>
            </a:r>
          </a:p>
        </p:txBody>
      </p:sp>
      <p:sp>
        <p:nvSpPr>
          <p:cNvPr id="20" name="Rounded Rectangle 19"/>
          <p:cNvSpPr/>
          <p:nvPr/>
        </p:nvSpPr>
        <p:spPr>
          <a:xfrm>
            <a:off x="342900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83864" y="5404104"/>
            <a:ext cx="45720" cy="365759"/>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93592"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2</a:t>
            </a:r>
          </a:p>
        </p:txBody>
      </p:sp>
      <p:sp>
        <p:nvSpPr>
          <p:cNvPr id="23" name="TextBox 22"/>
          <p:cNvSpPr txBox="1"/>
          <p:nvPr/>
        </p:nvSpPr>
        <p:spPr>
          <a:xfrm>
            <a:off x="3593592"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Prelicensure RN · Management of Care · safety risk: high</a:t>
            </a:r>
          </a:p>
        </p:txBody>
      </p:sp>
      <p:sp>
        <p:nvSpPr>
          <p:cNvPr id="24" name="TextBox 23"/>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25" name="TextBox 24"/>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S01  ·  instructor-added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OPEN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Opening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S02  ·  source-aligned</a:t>
            </a:r>
          </a:p>
        </p:txBody>
      </p:sp>
      <p:sp>
        <p:nvSpPr>
          <p:cNvPr id="8" name="Rounded Rectangle 7"/>
          <p:cNvSpPr/>
          <p:nvPr/>
        </p:nvSpPr>
        <p:spPr>
          <a:xfrm>
            <a:off x="548640" y="1097280"/>
            <a:ext cx="5394960" cy="1325880"/>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3503" y="1243584"/>
            <a:ext cx="45720" cy="1033271"/>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7"/>
            <a:ext cx="5138928" cy="292608"/>
          </a:xfrm>
          <a:prstGeom prst="rect">
            <a:avLst/>
          </a:prstGeom>
          <a:noFill/>
        </p:spPr>
        <p:txBody>
          <a:bodyPr wrap="square" anchor="t" lIns="27432" rIns="27432" tIns="18288" bIns="18288">
            <a:spAutoFit/>
          </a:bodyPr>
          <a:lstStyle/>
          <a:p>
            <a:pPr algn="l"/>
            <a:r>
              <a:rPr sz="1300" b="1">
                <a:solidFill>
                  <a:srgbClr val="0F172A"/>
                </a:solidFill>
                <a:latin typeface="Aptos"/>
              </a:rPr>
              <a:t>patient says</a:t>
            </a:r>
          </a:p>
        </p:txBody>
      </p:sp>
      <p:sp>
        <p:nvSpPr>
          <p:cNvPr id="11" name="TextBox 10"/>
          <p:cNvSpPr txBox="1"/>
          <p:nvPr/>
        </p:nvSpPr>
        <p:spPr>
          <a:xfrm>
            <a:off x="713232" y="1536192"/>
            <a:ext cx="5138928" cy="795528"/>
          </a:xfrm>
          <a:prstGeom prst="rect">
            <a:avLst/>
          </a:prstGeom>
          <a:noFill/>
        </p:spPr>
        <p:txBody>
          <a:bodyPr wrap="square" anchor="t" lIns="27432" rIns="27432" tIns="18288" bIns="18288">
            <a:spAutoFit/>
          </a:bodyPr>
          <a:lstStyle/>
          <a:p>
            <a:pPr algn="l"/>
            <a:r>
              <a:rPr sz="1000" b="0">
                <a:solidFill>
                  <a:srgbClr val="475569"/>
                </a:solidFill>
                <a:latin typeface="Aptos"/>
              </a:rPr>
              <a:t>A newly admitted patient has changing neurologic findings.</a:t>
            </a:r>
          </a:p>
        </p:txBody>
      </p:sp>
      <p:sp>
        <p:nvSpPr>
          <p:cNvPr id="12" name="Rounded Rectangle 11"/>
          <p:cNvSpPr/>
          <p:nvPr/>
        </p:nvSpPr>
        <p:spPr>
          <a:xfrm>
            <a:off x="54864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3503" y="2889504"/>
            <a:ext cx="45720" cy="153619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know so far</a:t>
            </a:r>
          </a:p>
        </p:txBody>
      </p:sp>
      <p:sp>
        <p:nvSpPr>
          <p:cNvPr id="15" name="TextBox 14"/>
          <p:cNvSpPr txBox="1"/>
          <p:nvPr/>
        </p:nvSpPr>
        <p:spPr>
          <a:xfrm>
            <a:off x="713232" y="3182112"/>
            <a:ext cx="2395728" cy="1298448"/>
          </a:xfrm>
          <a:prstGeom prst="rect">
            <a:avLst/>
          </a:prstGeom>
          <a:noFill/>
        </p:spPr>
        <p:txBody>
          <a:bodyPr wrap="square" anchor="t" lIns="27432" rIns="27432" tIns="18288" bIns="18288">
            <a:spAutoFit/>
          </a:bodyPr>
          <a:lstStyle/>
          <a:p>
            <a:pPr algn="l"/>
            <a:r>
              <a:rPr sz="850" b="0">
                <a:solidFill>
                  <a:srgbClr val="475569"/>
                </a:solidFill>
                <a:latin typeface="Aptos"/>
              </a:rPr>
              <a:t>- Objective in play: Differentiate tasks that require nursing judgment from tasks that may be delegated.
- Concept: Care Coordination</a:t>
            </a:r>
          </a:p>
        </p:txBody>
      </p:sp>
      <p:sp>
        <p:nvSpPr>
          <p:cNvPr id="16" name="Rounded Rectangle 15"/>
          <p:cNvSpPr/>
          <p:nvPr/>
        </p:nvSpPr>
        <p:spPr>
          <a:xfrm>
            <a:off x="342900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83864" y="2889504"/>
            <a:ext cx="45720" cy="1536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9359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do not know yet</a:t>
            </a:r>
          </a:p>
        </p:txBody>
      </p:sp>
      <p:sp>
        <p:nvSpPr>
          <p:cNvPr id="19" name="Rounded Rectangle 18"/>
          <p:cNvSpPr/>
          <p:nvPr/>
        </p:nvSpPr>
        <p:spPr>
          <a:xfrm>
            <a:off x="6629400" y="1097280"/>
            <a:ext cx="4389120" cy="3520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84264" y="1243584"/>
            <a:ext cx="45720" cy="3227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93992" y="1207007"/>
            <a:ext cx="4133087" cy="292608"/>
          </a:xfrm>
          <a:prstGeom prst="rect">
            <a:avLst/>
          </a:prstGeom>
          <a:noFill/>
        </p:spPr>
        <p:txBody>
          <a:bodyPr wrap="square" anchor="t" lIns="27432" rIns="27432" tIns="18288" bIns="18288">
            <a:spAutoFit/>
          </a:bodyPr>
          <a:lstStyle/>
          <a:p>
            <a:pPr algn="l"/>
            <a:r>
              <a:rPr sz="1400" b="1">
                <a:solidFill>
                  <a:srgbClr val="0F172A"/>
                </a:solidFill>
                <a:latin typeface="Aptos"/>
              </a:rPr>
              <a:t>your first task</a:t>
            </a:r>
          </a:p>
        </p:txBody>
      </p:sp>
      <p:sp>
        <p:nvSpPr>
          <p:cNvPr id="22" name="TextBox 21"/>
          <p:cNvSpPr txBox="1"/>
          <p:nvPr/>
        </p:nvSpPr>
        <p:spPr>
          <a:xfrm>
            <a:off x="6793992" y="1536192"/>
            <a:ext cx="4133087" cy="2990088"/>
          </a:xfrm>
          <a:prstGeom prst="rect">
            <a:avLst/>
          </a:prstGeom>
          <a:noFill/>
        </p:spPr>
        <p:txBody>
          <a:bodyPr wrap="square" anchor="t" lIns="27432" rIns="27432" tIns="18288" bIns="18288">
            <a:spAutoFit/>
          </a:bodyPr>
          <a:lstStyle/>
          <a:p>
            <a:pPr algn="l"/>
            <a:r>
              <a:rPr sz="1000" b="0">
                <a:solidFill>
                  <a:srgbClr val="475569"/>
                </a:solidFill>
                <a:latin typeface="Aptos"/>
              </a:rPr>
              <a:t>Thirty seconds: what is your first action, and why that one first?</a:t>
            </a:r>
          </a:p>
        </p:txBody>
      </p:sp>
      <p:sp>
        <p:nvSpPr>
          <p:cNvPr id="23" name="Rounded Rectangle 22"/>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Before facts: decide what information is missing and what could be unsafe.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The question this lesson answers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S03  ·  instructor-added</a:t>
            </a:r>
          </a:p>
        </p:txBody>
      </p:sp>
      <p:sp>
        <p:nvSpPr>
          <p:cNvPr id="8" name="Rounded Rectangle 7"/>
          <p:cNvSpPr/>
          <p:nvPr/>
        </p:nvSpPr>
        <p:spPr>
          <a:xfrm>
            <a:off x="1463040" y="960120"/>
            <a:ext cx="9235440" cy="77724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91640" y="1143000"/>
            <a:ext cx="8778240" cy="384048"/>
          </a:xfrm>
          <a:prstGeom prst="rect">
            <a:avLst/>
          </a:prstGeom>
          <a:noFill/>
        </p:spPr>
        <p:txBody>
          <a:bodyPr wrap="square" anchor="ctr" lIns="27432" rIns="27432" tIns="18288" bIns="18288">
            <a:spAutoFit/>
          </a:bodyPr>
          <a:lstStyle/>
          <a:p>
            <a:pPr algn="ctr"/>
            <a:r>
              <a:rPr sz="1600" b="1">
                <a:solidFill>
                  <a:srgbClr val="FFFFFF"/>
                </a:solidFill>
                <a:latin typeface="Aptos"/>
              </a:rPr>
              <a:t>Match the task to the delegatee, retain nursing judgment, communicate expectations, and evaluate the result.</a:t>
            </a:r>
          </a:p>
        </p:txBody>
      </p:sp>
      <p:sp>
        <p:nvSpPr>
          <p:cNvPr id="10" name="Rounded Rectangle 9"/>
          <p:cNvSpPr/>
          <p:nvPr/>
        </p:nvSpPr>
        <p:spPr>
          <a:xfrm>
            <a:off x="594360"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 y="2295144"/>
            <a:ext cx="45720" cy="882396"/>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Decision Frame</a:t>
            </a:r>
          </a:p>
        </p:txBody>
      </p:sp>
      <p:sp>
        <p:nvSpPr>
          <p:cNvPr id="13" name="TextBox 12"/>
          <p:cNvSpPr txBox="1"/>
          <p:nvPr/>
        </p:nvSpPr>
        <p:spPr>
          <a:xfrm>
            <a:off x="758952"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Decision frame</a:t>
            </a:r>
          </a:p>
        </p:txBody>
      </p:sp>
      <p:sp>
        <p:nvSpPr>
          <p:cNvPr id="14" name="Rounded Rectangle 13"/>
          <p:cNvSpPr/>
          <p:nvPr/>
        </p:nvSpPr>
        <p:spPr>
          <a:xfrm>
            <a:off x="3386251"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41115" y="2295144"/>
            <a:ext cx="45720" cy="882396"/>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0843"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Communication</a:t>
            </a:r>
          </a:p>
        </p:txBody>
      </p:sp>
      <p:sp>
        <p:nvSpPr>
          <p:cNvPr id="17" name="TextBox 16"/>
          <p:cNvSpPr txBox="1"/>
          <p:nvPr/>
        </p:nvSpPr>
        <p:spPr>
          <a:xfrm>
            <a:off x="3550843"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Communication</a:t>
            </a:r>
          </a:p>
        </p:txBody>
      </p:sp>
      <p:sp>
        <p:nvSpPr>
          <p:cNvPr id="18" name="Rounded Rectangle 17"/>
          <p:cNvSpPr/>
          <p:nvPr/>
        </p:nvSpPr>
        <p:spPr>
          <a:xfrm>
            <a:off x="6178143"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2295144"/>
            <a:ext cx="45720" cy="882396"/>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2735"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Supervision</a:t>
            </a:r>
          </a:p>
        </p:txBody>
      </p:sp>
      <p:sp>
        <p:nvSpPr>
          <p:cNvPr id="21" name="TextBox 20"/>
          <p:cNvSpPr txBox="1"/>
          <p:nvPr/>
        </p:nvSpPr>
        <p:spPr>
          <a:xfrm>
            <a:off x="6342735"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Supervision</a:t>
            </a:r>
          </a:p>
        </p:txBody>
      </p:sp>
      <p:sp>
        <p:nvSpPr>
          <p:cNvPr id="22" name="Rounded Rectangle 21"/>
          <p:cNvSpPr/>
          <p:nvPr/>
        </p:nvSpPr>
        <p:spPr>
          <a:xfrm>
            <a:off x="8970035"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24899" y="2295144"/>
            <a:ext cx="45720" cy="882396"/>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34627"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Apply</a:t>
            </a:r>
          </a:p>
        </p:txBody>
      </p:sp>
      <p:sp>
        <p:nvSpPr>
          <p:cNvPr id="25" name="TextBox 24"/>
          <p:cNvSpPr txBox="1"/>
          <p:nvPr/>
        </p:nvSpPr>
        <p:spPr>
          <a:xfrm>
            <a:off x="9134627"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case and items</a:t>
            </a:r>
          </a:p>
        </p:txBody>
      </p:sp>
      <p:sp>
        <p:nvSpPr>
          <p:cNvPr id="26" name="Rounded Rectangle 25"/>
          <p:cNvSpPr/>
          <p:nvPr/>
        </p:nvSpPr>
        <p:spPr>
          <a:xfrm>
            <a:off x="594360" y="3488436"/>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 y="3634740"/>
            <a:ext cx="45720" cy="882396"/>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3598164"/>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Evaluate</a:t>
            </a:r>
          </a:p>
        </p:txBody>
      </p:sp>
      <p:sp>
        <p:nvSpPr>
          <p:cNvPr id="29" name="TextBox 28"/>
          <p:cNvSpPr txBox="1"/>
          <p:nvPr/>
        </p:nvSpPr>
        <p:spPr>
          <a:xfrm>
            <a:off x="758952" y="3927348"/>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retrieval; takeaway</a:t>
            </a:r>
          </a:p>
        </p:txBody>
      </p:sp>
      <p:sp>
        <p:nvSpPr>
          <p:cNvPr id="30" name="Rounded Rectangle 2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Every concept must answer: what do I teach, what do I assess, what must I escalate?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Lesson map</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4</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S04  ·  instructor-added</a:t>
            </a:r>
          </a:p>
        </p:txBody>
      </p:sp>
      <p:cxnSp>
        <p:nvCxnSpPr>
          <p:cNvPr id="7" name="Connector 6"/>
          <p:cNvCxnSpPr/>
          <p:nvPr/>
        </p:nvCxnSpPr>
        <p:spPr>
          <a:xfrm>
            <a:off x="1143000" y="2148840"/>
            <a:ext cx="96012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03503" y="1975104"/>
            <a:ext cx="347472" cy="347472"/>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1</a:t>
            </a:r>
          </a:p>
        </p:txBody>
      </p:sp>
      <p:sp>
        <p:nvSpPr>
          <p:cNvPr id="10" name="TextBox 9"/>
          <p:cNvSpPr txBox="1"/>
          <p:nvPr/>
        </p:nvSpPr>
        <p:spPr>
          <a:xfrm>
            <a:off x="91439"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Decision Frame</a:t>
            </a:r>
          </a:p>
        </p:txBody>
      </p:sp>
      <p:sp>
        <p:nvSpPr>
          <p:cNvPr id="11" name="TextBox 10"/>
          <p:cNvSpPr txBox="1"/>
          <p:nvPr/>
        </p:nvSpPr>
        <p:spPr>
          <a:xfrm>
            <a:off x="45719"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Decision frame</a:t>
            </a:r>
          </a:p>
        </p:txBody>
      </p:sp>
      <p:sp>
        <p:nvSpPr>
          <p:cNvPr id="12" name="Rounded Rectangle 11"/>
          <p:cNvSpPr/>
          <p:nvPr/>
        </p:nvSpPr>
        <p:spPr>
          <a:xfrm>
            <a:off x="3186684" y="1975104"/>
            <a:ext cx="347472" cy="347472"/>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5069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2</a:t>
            </a:r>
          </a:p>
        </p:txBody>
      </p:sp>
      <p:sp>
        <p:nvSpPr>
          <p:cNvPr id="14" name="TextBox 13"/>
          <p:cNvSpPr txBox="1"/>
          <p:nvPr/>
        </p:nvSpPr>
        <p:spPr>
          <a:xfrm>
            <a:off x="267462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Communication</a:t>
            </a:r>
          </a:p>
        </p:txBody>
      </p:sp>
      <p:sp>
        <p:nvSpPr>
          <p:cNvPr id="15" name="TextBox 14"/>
          <p:cNvSpPr txBox="1"/>
          <p:nvPr/>
        </p:nvSpPr>
        <p:spPr>
          <a:xfrm>
            <a:off x="262890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Communication</a:t>
            </a:r>
          </a:p>
        </p:txBody>
      </p:sp>
      <p:sp>
        <p:nvSpPr>
          <p:cNvPr id="16" name="Rounded Rectangle 15"/>
          <p:cNvSpPr/>
          <p:nvPr/>
        </p:nvSpPr>
        <p:spPr>
          <a:xfrm>
            <a:off x="5769864" y="1975104"/>
            <a:ext cx="347472" cy="347472"/>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3387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3</a:t>
            </a:r>
          </a:p>
        </p:txBody>
      </p:sp>
      <p:sp>
        <p:nvSpPr>
          <p:cNvPr id="18" name="TextBox 17"/>
          <p:cNvSpPr txBox="1"/>
          <p:nvPr/>
        </p:nvSpPr>
        <p:spPr>
          <a:xfrm>
            <a:off x="525780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Supervision</a:t>
            </a:r>
          </a:p>
        </p:txBody>
      </p:sp>
      <p:sp>
        <p:nvSpPr>
          <p:cNvPr id="19" name="TextBox 18"/>
          <p:cNvSpPr txBox="1"/>
          <p:nvPr/>
        </p:nvSpPr>
        <p:spPr>
          <a:xfrm>
            <a:off x="521208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Supervision</a:t>
            </a:r>
          </a:p>
        </p:txBody>
      </p:sp>
      <p:sp>
        <p:nvSpPr>
          <p:cNvPr id="20" name="Rounded Rectangle 19"/>
          <p:cNvSpPr/>
          <p:nvPr/>
        </p:nvSpPr>
        <p:spPr>
          <a:xfrm>
            <a:off x="8353044" y="1975104"/>
            <a:ext cx="347472" cy="347472"/>
          </a:xfrm>
          <a:prstGeom prst="round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705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4</a:t>
            </a:r>
          </a:p>
        </p:txBody>
      </p:sp>
      <p:sp>
        <p:nvSpPr>
          <p:cNvPr id="22" name="TextBox 21"/>
          <p:cNvSpPr txBox="1"/>
          <p:nvPr/>
        </p:nvSpPr>
        <p:spPr>
          <a:xfrm>
            <a:off x="784098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Apply</a:t>
            </a:r>
          </a:p>
        </p:txBody>
      </p:sp>
      <p:sp>
        <p:nvSpPr>
          <p:cNvPr id="23" name="TextBox 22"/>
          <p:cNvSpPr txBox="1"/>
          <p:nvPr/>
        </p:nvSpPr>
        <p:spPr>
          <a:xfrm>
            <a:off x="779526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mini case → capstone</a:t>
            </a:r>
          </a:p>
        </p:txBody>
      </p:sp>
      <p:sp>
        <p:nvSpPr>
          <p:cNvPr id="24" name="Rounded Rectangle 23"/>
          <p:cNvSpPr/>
          <p:nvPr/>
        </p:nvSpPr>
        <p:spPr>
          <a:xfrm>
            <a:off x="10936224" y="1975104"/>
            <a:ext cx="347472" cy="347472"/>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0023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5</a:t>
            </a:r>
          </a:p>
        </p:txBody>
      </p:sp>
      <p:sp>
        <p:nvSpPr>
          <p:cNvPr id="26" name="TextBox 25"/>
          <p:cNvSpPr txBox="1"/>
          <p:nvPr/>
        </p:nvSpPr>
        <p:spPr>
          <a:xfrm>
            <a:off x="1042416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Evaluate</a:t>
            </a:r>
          </a:p>
        </p:txBody>
      </p:sp>
      <p:sp>
        <p:nvSpPr>
          <p:cNvPr id="27" name="TextBox 26"/>
          <p:cNvSpPr txBox="1"/>
          <p:nvPr/>
        </p:nvSpPr>
        <p:spPr>
          <a:xfrm>
            <a:off x="1037844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exit check</a:t>
            </a:r>
          </a:p>
        </p:txBody>
      </p:sp>
      <p:sp>
        <p:nvSpPr>
          <p:cNvPr id="28" name="Rounded Rectangle 27"/>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Map first. Drill down only where the map or performance data shows a weak link.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ACTIVATE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Warm-up: put the three moves in order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S05  ·  instructor-added</a:t>
            </a:r>
          </a:p>
        </p:txBody>
      </p:sp>
      <p:sp>
        <p:nvSpPr>
          <p:cNvPr id="8" name="Rounded Rectangle 7"/>
          <p:cNvSpPr/>
          <p:nvPr/>
        </p:nvSpPr>
        <p:spPr>
          <a:xfrm>
            <a:off x="685800" y="1005840"/>
            <a:ext cx="10789920" cy="685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93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33888" cy="292608"/>
          </a:xfrm>
          <a:prstGeom prst="rect">
            <a:avLst/>
          </a:prstGeom>
          <a:noFill/>
        </p:spPr>
        <p:txBody>
          <a:bodyPr wrap="square" anchor="t" lIns="27432" rIns="27432" tIns="18288" bIns="18288">
            <a:spAutoFit/>
          </a:bodyPr>
          <a:lstStyle/>
          <a:p>
            <a:pPr algn="l"/>
            <a:r>
              <a:rPr sz="1300" b="1">
                <a:solidFill>
                  <a:srgbClr val="0F172A"/>
                </a:solidFill>
                <a:latin typeface="Aptos"/>
              </a:rPr>
              <a:t>learner task</a:t>
            </a:r>
          </a:p>
        </p:txBody>
      </p:sp>
      <p:sp>
        <p:nvSpPr>
          <p:cNvPr id="11" name="TextBox 10"/>
          <p:cNvSpPr txBox="1"/>
          <p:nvPr/>
        </p:nvSpPr>
        <p:spPr>
          <a:xfrm>
            <a:off x="850392" y="1444752"/>
            <a:ext cx="10533888" cy="155448"/>
          </a:xfrm>
          <a:prstGeom prst="rect">
            <a:avLst/>
          </a:prstGeom>
          <a:noFill/>
        </p:spPr>
        <p:txBody>
          <a:bodyPr wrap="square" anchor="t" lIns="27432" rIns="27432" tIns="18288" bIns="18288">
            <a:spAutoFit/>
          </a:bodyPr>
          <a:lstStyle/>
          <a:p>
            <a:pPr algn="l"/>
            <a:r>
              <a:rPr sz="1000" b="0">
                <a:solidFill>
                  <a:srgbClr val="475569"/>
                </a:solidFill>
                <a:latin typeface="Aptos"/>
              </a:rPr>
              <a:t>Order the three.</a:t>
            </a:r>
          </a:p>
        </p:txBody>
      </p:sp>
      <p:sp>
        <p:nvSpPr>
          <p:cNvPr id="12" name="Rounded Rectangle 11"/>
          <p:cNvSpPr/>
          <p:nvPr/>
        </p:nvSpPr>
        <p:spPr>
          <a:xfrm>
            <a:off x="960120" y="1965960"/>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1938528"/>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463040" y="2039112"/>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Decision frame</a:t>
            </a:r>
          </a:p>
        </p:txBody>
      </p:sp>
      <p:sp>
        <p:nvSpPr>
          <p:cNvPr id="15" name="Rounded Rectangle 14"/>
          <p:cNvSpPr/>
          <p:nvPr/>
        </p:nvSpPr>
        <p:spPr>
          <a:xfrm>
            <a:off x="960120" y="2532888"/>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587752"/>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463040" y="2596896"/>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Communication</a:t>
            </a:r>
          </a:p>
        </p:txBody>
      </p:sp>
      <p:sp>
        <p:nvSpPr>
          <p:cNvPr id="18" name="Rounded Rectangle 17"/>
          <p:cNvSpPr/>
          <p:nvPr/>
        </p:nvSpPr>
        <p:spPr>
          <a:xfrm>
            <a:off x="960120" y="3099815"/>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236976"/>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463040" y="3154680"/>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Supervision</a:t>
            </a:r>
          </a:p>
        </p:txBody>
      </p:sp>
      <p:sp>
        <p:nvSpPr>
          <p:cNvPr id="21" name="Rounded Rectangle 20"/>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Use sequence misses to identify where the concept chain breaks.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DECISION FRAME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Decision frame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S06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Decision frame</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The nurse assesses the patient and task before delegating. Assessment, teaching, evaluation, and unstable-patient decisions remain with the licensed nurse.</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Differentiate tasks that require nursing judgment from tasks that may be delegated.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COMMUNICATION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Communication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S07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Communication</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State the task, expected result, reporting parameters, and time frame. Confirm understanding and availability for questions.</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Select an appropriate delegatee using patient stability, task predictability, and local scope.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SUPERVISION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Supervision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S08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Supervision</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Delegation transfers performance of a task, not accountability for the nursing decision. Reassess the patient and evaluate completion.</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Provide direction, supervision, and outcome evaluation after delegation.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Activity: match the cue to the move it calls for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S09  ·  source-aligned</a:t>
            </a:r>
          </a:p>
        </p:txBody>
      </p:sp>
      <p:sp>
        <p:nvSpPr>
          <p:cNvPr id="8" name="TextBox 7"/>
          <p:cNvSpPr txBox="1"/>
          <p:nvPr/>
        </p:nvSpPr>
        <p:spPr>
          <a:xfrm>
            <a:off x="731520" y="1005840"/>
            <a:ext cx="10698480" cy="256032"/>
          </a:xfrm>
          <a:prstGeom prst="rect">
            <a:avLst/>
          </a:prstGeom>
          <a:noFill/>
        </p:spPr>
        <p:txBody>
          <a:bodyPr wrap="square" anchor="t" lIns="27432" rIns="27432" tIns="18288" bIns="18288">
            <a:spAutoFit/>
          </a:bodyPr>
          <a:lstStyle/>
          <a:p>
            <a:pPr algn="l"/>
            <a:r>
              <a:rPr sz="950" b="1">
                <a:solidFill>
                  <a:srgbClr val="0F172A"/>
                </a:solidFill>
                <a:latin typeface="Aptos"/>
              </a:rPr>
              <a:t>Work with one partner: match each source to the cue or clinical meaning most directly involved.</a:t>
            </a:r>
          </a:p>
        </p:txBody>
      </p:sp>
      <p:sp>
        <p:nvSpPr>
          <p:cNvPr id="9" name="Rounded Rectangle 8"/>
          <p:cNvSpPr/>
          <p:nvPr/>
        </p:nvSpPr>
        <p:spPr>
          <a:xfrm>
            <a:off x="777240" y="1508760"/>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32103" y="1655063"/>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18488"/>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A</a:t>
            </a:r>
          </a:p>
        </p:txBody>
      </p:sp>
      <p:sp>
        <p:nvSpPr>
          <p:cNvPr id="12" name="TextBox 11"/>
          <p:cNvSpPr txBox="1"/>
          <p:nvPr/>
        </p:nvSpPr>
        <p:spPr>
          <a:xfrm>
            <a:off x="941832" y="1947672"/>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A. A newly admitted patient has changing neurologic findings.</a:t>
            </a:r>
          </a:p>
        </p:txBody>
      </p:sp>
      <p:sp>
        <p:nvSpPr>
          <p:cNvPr id="13" name="Rounded Rectangle 12"/>
          <p:cNvSpPr/>
          <p:nvPr/>
        </p:nvSpPr>
        <p:spPr>
          <a:xfrm>
            <a:off x="6537960" y="1508760"/>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92824" y="1655063"/>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02552" y="1618488"/>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1</a:t>
            </a:r>
          </a:p>
        </p:txBody>
      </p:sp>
      <p:sp>
        <p:nvSpPr>
          <p:cNvPr id="16" name="TextBox 15"/>
          <p:cNvSpPr txBox="1"/>
          <p:nvPr/>
        </p:nvSpPr>
        <p:spPr>
          <a:xfrm>
            <a:off x="6702552" y="1947672"/>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1. Decision frame</a:t>
            </a:r>
          </a:p>
        </p:txBody>
      </p:sp>
      <p:sp>
        <p:nvSpPr>
          <p:cNvPr id="17" name="Rounded Rectangle 16"/>
          <p:cNvSpPr/>
          <p:nvPr/>
        </p:nvSpPr>
        <p:spPr>
          <a:xfrm>
            <a:off x="777240" y="2203704"/>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3" y="2350008"/>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2313432"/>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B</a:t>
            </a:r>
          </a:p>
        </p:txBody>
      </p:sp>
      <p:sp>
        <p:nvSpPr>
          <p:cNvPr id="20" name="TextBox 19"/>
          <p:cNvSpPr txBox="1"/>
          <p:nvPr/>
        </p:nvSpPr>
        <p:spPr>
          <a:xfrm>
            <a:off x="941832" y="2642616"/>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B. A stable patient needs routine intake and output recorded.</a:t>
            </a:r>
          </a:p>
        </p:txBody>
      </p:sp>
      <p:sp>
        <p:nvSpPr>
          <p:cNvPr id="21" name="Rounded Rectangle 20"/>
          <p:cNvSpPr/>
          <p:nvPr/>
        </p:nvSpPr>
        <p:spPr>
          <a:xfrm>
            <a:off x="6537960" y="2203704"/>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92824" y="2350008"/>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02552" y="2313432"/>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2</a:t>
            </a:r>
          </a:p>
        </p:txBody>
      </p:sp>
      <p:sp>
        <p:nvSpPr>
          <p:cNvPr id="24" name="TextBox 23"/>
          <p:cNvSpPr txBox="1"/>
          <p:nvPr/>
        </p:nvSpPr>
        <p:spPr>
          <a:xfrm>
            <a:off x="6702552" y="2642616"/>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2. Communication</a:t>
            </a:r>
          </a:p>
        </p:txBody>
      </p:sp>
      <p:sp>
        <p:nvSpPr>
          <p:cNvPr id="25" name="Rounded Rectangle 24"/>
          <p:cNvSpPr/>
          <p:nvPr/>
        </p:nvSpPr>
        <p:spPr>
          <a:xfrm>
            <a:off x="777240" y="2898648"/>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2103" y="3044952"/>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 y="3008376"/>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C</a:t>
            </a:r>
          </a:p>
        </p:txBody>
      </p:sp>
      <p:sp>
        <p:nvSpPr>
          <p:cNvPr id="28" name="TextBox 27"/>
          <p:cNvSpPr txBox="1"/>
          <p:nvPr/>
        </p:nvSpPr>
        <p:spPr>
          <a:xfrm>
            <a:off x="941832" y="3337560"/>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C. A patient requires initial teaching for a new diagnosis.</a:t>
            </a:r>
          </a:p>
        </p:txBody>
      </p:sp>
      <p:sp>
        <p:nvSpPr>
          <p:cNvPr id="29" name="Rounded Rectangle 28"/>
          <p:cNvSpPr/>
          <p:nvPr/>
        </p:nvSpPr>
        <p:spPr>
          <a:xfrm>
            <a:off x="6537960" y="2898648"/>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92824" y="3044952"/>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2552" y="3008376"/>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3</a:t>
            </a:r>
          </a:p>
        </p:txBody>
      </p:sp>
      <p:sp>
        <p:nvSpPr>
          <p:cNvPr id="32" name="TextBox 31"/>
          <p:cNvSpPr txBox="1"/>
          <p:nvPr/>
        </p:nvSpPr>
        <p:spPr>
          <a:xfrm>
            <a:off x="6702552" y="3337560"/>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3. Supervision</a:t>
            </a:r>
          </a:p>
        </p:txBody>
      </p:sp>
      <p:sp>
        <p:nvSpPr>
          <p:cNvPr id="33" name="Rounded Rectangle 32"/>
          <p:cNvSpPr/>
          <p:nvPr/>
        </p:nvSpPr>
        <p:spPr>
          <a:xfrm>
            <a:off x="777240" y="3593592"/>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32103" y="3739896"/>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2" y="3703320"/>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D</a:t>
            </a:r>
          </a:p>
        </p:txBody>
      </p:sp>
      <p:sp>
        <p:nvSpPr>
          <p:cNvPr id="36" name="TextBox 35"/>
          <p:cNvSpPr txBox="1"/>
          <p:nvPr/>
        </p:nvSpPr>
        <p:spPr>
          <a:xfrm>
            <a:off x="941832" y="4032504"/>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D. A delegatee reports a value outside the stated parameters.</a:t>
            </a:r>
          </a:p>
        </p:txBody>
      </p:sp>
      <p:sp>
        <p:nvSpPr>
          <p:cNvPr id="37" name="Rounded Rectangle 36"/>
          <p:cNvSpPr/>
          <p:nvPr/>
        </p:nvSpPr>
        <p:spPr>
          <a:xfrm>
            <a:off x="6537960" y="3593592"/>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92824" y="3739896"/>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02552" y="3703320"/>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4</a:t>
            </a:r>
          </a:p>
        </p:txBody>
      </p:sp>
      <p:sp>
        <p:nvSpPr>
          <p:cNvPr id="40" name="TextBox 39"/>
          <p:cNvSpPr txBox="1"/>
          <p:nvPr/>
        </p:nvSpPr>
        <p:spPr>
          <a:xfrm>
            <a:off x="6702552" y="4032504"/>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4. Evaluate the result</a:t>
            </a:r>
          </a:p>
        </p:txBody>
      </p:sp>
      <p:sp>
        <p:nvSpPr>
          <p:cNvPr id="41" name="Rounded Rectangle 40"/>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Output: write matches and one sentence explaining one match.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Debrief: the reasoning behind each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10</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S10  ·  source-aligned</a:t>
            </a:r>
          </a:p>
        </p:txBody>
      </p:sp>
      <p:sp>
        <p:nvSpPr>
          <p:cNvPr id="8" name="Rounded Rectangle 7"/>
          <p:cNvSpPr/>
          <p:nvPr/>
        </p:nvSpPr>
        <p:spPr>
          <a:xfrm>
            <a:off x="502920"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435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The registered nurse performs the focused assessment and d</a:t>
            </a:r>
          </a:p>
        </p:txBody>
      </p:sp>
      <p:sp>
        <p:nvSpPr>
          <p:cNvPr id="11" name="TextBox 10"/>
          <p:cNvSpPr txBox="1"/>
          <p:nvPr/>
        </p:nvSpPr>
        <p:spPr>
          <a:xfrm>
            <a:off x="667512"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An unstable or changing condition requires licensed nursing assessment and judgment.</a:t>
            </a:r>
          </a:p>
        </p:txBody>
      </p:sp>
      <p:sp>
        <p:nvSpPr>
          <p:cNvPr id="12" name="Rounded Rectangle 11"/>
          <p:cNvSpPr/>
          <p:nvPr/>
        </p:nvSpPr>
        <p:spPr>
          <a:xfrm>
            <a:off x="6178143"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435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Delegate measurement with clear reporting parameters and r</a:t>
            </a:r>
          </a:p>
        </p:txBody>
      </p:sp>
      <p:sp>
        <p:nvSpPr>
          <p:cNvPr id="15" name="TextBox 14"/>
          <p:cNvSpPr txBox="1"/>
          <p:nvPr/>
        </p:nvSpPr>
        <p:spPr>
          <a:xfrm>
            <a:off x="6342735"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A predictable task may be delegated when direction and supervision are provided.</a:t>
            </a:r>
          </a:p>
        </p:txBody>
      </p:sp>
      <p:sp>
        <p:nvSpPr>
          <p:cNvPr id="16" name="Rounded Rectangle 15"/>
          <p:cNvSpPr/>
          <p:nvPr/>
        </p:nvSpPr>
        <p:spPr>
          <a:xfrm>
            <a:off x="502920"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7784" y="2642616"/>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The registered nurse performs and evaluates the initial te</a:t>
            </a:r>
          </a:p>
        </p:txBody>
      </p:sp>
      <p:sp>
        <p:nvSpPr>
          <p:cNvPr id="19" name="TextBox 18"/>
          <p:cNvSpPr txBox="1"/>
          <p:nvPr/>
        </p:nvSpPr>
        <p:spPr>
          <a:xfrm>
            <a:off x="667512"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Initial teaching and evaluation require nursing judgment.</a:t>
            </a:r>
          </a:p>
        </p:txBody>
      </p:sp>
      <p:sp>
        <p:nvSpPr>
          <p:cNvPr id="20" name="Rounded Rectangle 19"/>
          <p:cNvSpPr/>
          <p:nvPr/>
        </p:nvSpPr>
        <p:spPr>
          <a:xfrm>
            <a:off x="6178143"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264261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2735"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Assess the patient and determine the appropriate nursing r</a:t>
            </a:r>
          </a:p>
        </p:txBody>
      </p:sp>
      <p:sp>
        <p:nvSpPr>
          <p:cNvPr id="23" name="TextBox 22"/>
          <p:cNvSpPr txBox="1"/>
          <p:nvPr/>
        </p:nvSpPr>
        <p:spPr>
          <a:xfrm>
            <a:off x="6342735"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The nurse must interpret abnormal findings and act on the patient response.</a:t>
            </a:r>
          </a:p>
        </p:txBody>
      </p:sp>
      <p:sp>
        <p:nvSpPr>
          <p:cNvPr id="24" name="Rounded Rectangle 23"/>
          <p:cNvSpPr/>
          <p:nvPr/>
        </p:nvSpPr>
        <p:spPr>
          <a:xfrm>
            <a:off x="1188720" y="5989320"/>
            <a:ext cx="9784080" cy="411480"/>
          </a:xfrm>
          <a:prstGeom prst="roundRect">
            <a:avLst/>
          </a:prstGeom>
          <a:solidFill>
            <a:srgbClr val="FFF7ED"/>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EA580C"/>
                </a:solidFill>
                <a:latin typeface="Aptos"/>
              </a:rPr>
              <a:t>Explain why each keyed action follows from its cue.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Checkpoint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11</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S11  ·  source-aligned</a:t>
            </a:r>
          </a:p>
        </p:txBody>
      </p:sp>
      <p:sp>
        <p:nvSpPr>
          <p:cNvPr id="8" name="Rounded Rectangle 7"/>
          <p:cNvSpPr/>
          <p:nvPr/>
        </p:nvSpPr>
        <p:spPr>
          <a:xfrm>
            <a:off x="777240" y="1097280"/>
            <a:ext cx="10698480" cy="868680"/>
          </a:xfrm>
          <a:prstGeom prst="roundRect">
            <a:avLst/>
          </a:prstGeom>
          <a:solidFill>
            <a:srgbClr val="F5F3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3" y="1243584"/>
            <a:ext cx="45720" cy="576071"/>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207007"/>
            <a:ext cx="10442448" cy="292608"/>
          </a:xfrm>
          <a:prstGeom prst="rect">
            <a:avLst/>
          </a:prstGeom>
          <a:noFill/>
        </p:spPr>
        <p:txBody>
          <a:bodyPr wrap="square" anchor="t" lIns="27432" rIns="27432" tIns="18288" bIns="18288">
            <a:spAutoFit/>
          </a:bodyPr>
          <a:lstStyle/>
          <a:p>
            <a:pPr algn="l"/>
            <a:r>
              <a:rPr sz="1300" b="1">
                <a:solidFill>
                  <a:srgbClr val="0F172A"/>
                </a:solidFill>
                <a:latin typeface="Aptos"/>
              </a:rPr>
              <a:t>checkpoint question</a:t>
            </a:r>
          </a:p>
        </p:txBody>
      </p:sp>
      <p:sp>
        <p:nvSpPr>
          <p:cNvPr id="11" name="TextBox 10"/>
          <p:cNvSpPr txBox="1"/>
          <p:nvPr/>
        </p:nvSpPr>
        <p:spPr>
          <a:xfrm>
            <a:off x="941832" y="1536192"/>
            <a:ext cx="10442448" cy="338328"/>
          </a:xfrm>
          <a:prstGeom prst="rect">
            <a:avLst/>
          </a:prstGeom>
          <a:noFill/>
        </p:spPr>
        <p:txBody>
          <a:bodyPr wrap="square" anchor="t" lIns="27432" rIns="27432" tIns="18288" bIns="18288">
            <a:spAutoFit/>
          </a:bodyPr>
          <a:lstStyle/>
          <a:p>
            <a:pPr algn="l"/>
            <a:r>
              <a:rPr sz="1000" b="0">
                <a:solidFill>
                  <a:srgbClr val="475569"/>
                </a:solidFill>
                <a:latin typeface="Aptos"/>
              </a:rPr>
              <a:t>A stable patient needs routine intake and output recorded. What should the nurse do?</a:t>
            </a:r>
          </a:p>
        </p:txBody>
      </p:sp>
      <p:sp>
        <p:nvSpPr>
          <p:cNvPr id="12" name="Rounded Rectangle 11"/>
          <p:cNvSpPr/>
          <p:nvPr/>
        </p:nvSpPr>
        <p:spPr>
          <a:xfrm>
            <a:off x="1005840" y="2240280"/>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2359152"/>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554480" y="2340864"/>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A. Delay action until the end of the shift.</a:t>
            </a:r>
          </a:p>
        </p:txBody>
      </p:sp>
      <p:sp>
        <p:nvSpPr>
          <p:cNvPr id="15" name="Rounded Rectangle 14"/>
          <p:cNvSpPr/>
          <p:nvPr/>
        </p:nvSpPr>
        <p:spPr>
          <a:xfrm>
            <a:off x="1005840" y="2807208"/>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2926080"/>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554480" y="2907792"/>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B. Document the finding without reassessment or follow-up.</a:t>
            </a:r>
          </a:p>
        </p:txBody>
      </p:sp>
      <p:sp>
        <p:nvSpPr>
          <p:cNvPr id="18" name="Rounded Rectangle 17"/>
          <p:cNvSpPr/>
          <p:nvPr/>
        </p:nvSpPr>
        <p:spPr>
          <a:xfrm>
            <a:off x="1005840" y="3374136"/>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493008"/>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554480" y="3474720"/>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C. Delegate measurement with clear reporting parameters and review the result.</a:t>
            </a:r>
          </a:p>
        </p:txBody>
      </p:sp>
      <p:sp>
        <p:nvSpPr>
          <p:cNvPr id="21" name="Rounded Rectangle 20"/>
          <p:cNvSpPr/>
          <p:nvPr/>
        </p:nvSpPr>
        <p:spPr>
          <a:xfrm>
            <a:off x="1005840" y="3941064"/>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4059936"/>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D</a:t>
            </a:r>
          </a:p>
        </p:txBody>
      </p:sp>
      <p:sp>
        <p:nvSpPr>
          <p:cNvPr id="23" name="TextBox 22"/>
          <p:cNvSpPr txBox="1"/>
          <p:nvPr/>
        </p:nvSpPr>
        <p:spPr>
          <a:xfrm>
            <a:off x="1554480" y="4041648"/>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D. Delegate the clinical judgment decision to unlicensed assistive personnel.</a:t>
            </a:r>
          </a:p>
        </p:txBody>
      </p:sp>
      <p:sp>
        <p:nvSpPr>
          <p:cNvPr id="24" name="Rounded Rectangle 2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Choose the best response.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Mini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S12  ·  source-aligned</a:t>
            </a:r>
          </a:p>
        </p:txBody>
      </p:sp>
      <p:sp>
        <p:nvSpPr>
          <p:cNvPr id="8" name="Rounded Rectangle 7"/>
          <p:cNvSpPr/>
          <p:nvPr/>
        </p:nvSpPr>
        <p:spPr>
          <a:xfrm>
            <a:off x="731520" y="1051560"/>
            <a:ext cx="10744200" cy="713232"/>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1197863"/>
            <a:ext cx="45720" cy="420624"/>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161288"/>
            <a:ext cx="10488168" cy="292608"/>
          </a:xfrm>
          <a:prstGeom prst="rect">
            <a:avLst/>
          </a:prstGeom>
          <a:noFill/>
        </p:spPr>
        <p:txBody>
          <a:bodyPr wrap="square" anchor="t" lIns="27432" rIns="27432" tIns="18288" bIns="18288">
            <a:spAutoFit/>
          </a:bodyPr>
          <a:lstStyle/>
          <a:p>
            <a:pPr algn="l"/>
            <a:r>
              <a:rPr sz="1200" b="1">
                <a:solidFill>
                  <a:srgbClr val="0F172A"/>
                </a:solidFill>
                <a:latin typeface="Aptos"/>
              </a:rPr>
              <a:t>mini case</a:t>
            </a:r>
          </a:p>
        </p:txBody>
      </p:sp>
      <p:sp>
        <p:nvSpPr>
          <p:cNvPr id="11" name="TextBox 10"/>
          <p:cNvSpPr txBox="1"/>
          <p:nvPr/>
        </p:nvSpPr>
        <p:spPr>
          <a:xfrm>
            <a:off x="896112" y="1490472"/>
            <a:ext cx="10488168" cy="182880"/>
          </a:xfrm>
          <a:prstGeom prst="rect">
            <a:avLst/>
          </a:prstGeom>
          <a:noFill/>
        </p:spPr>
        <p:txBody>
          <a:bodyPr wrap="square" anchor="t" lIns="27432" rIns="27432" tIns="18288" bIns="18288">
            <a:spAutoFit/>
          </a:bodyPr>
          <a:lstStyle/>
          <a:p>
            <a:pPr algn="l"/>
            <a:r>
              <a:rPr sz="900" b="0">
                <a:solidFill>
                  <a:srgbClr val="475569"/>
                </a:solidFill>
                <a:latin typeface="Aptos"/>
              </a:rPr>
              <a:t>A patient requires initial teaching for a new diagnosis.</a:t>
            </a:r>
          </a:p>
        </p:txBody>
      </p:sp>
      <p:sp>
        <p:nvSpPr>
          <p:cNvPr id="12" name="Rounded Rectangle 11"/>
          <p:cNvSpPr/>
          <p:nvPr/>
        </p:nvSpPr>
        <p:spPr>
          <a:xfrm>
            <a:off x="502920"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7784" y="22037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cues</a:t>
            </a:r>
          </a:p>
        </p:txBody>
      </p:sp>
      <p:sp>
        <p:nvSpPr>
          <p:cNvPr id="15" name="TextBox 14"/>
          <p:cNvSpPr txBox="1"/>
          <p:nvPr/>
        </p:nvSpPr>
        <p:spPr>
          <a:xfrm>
            <a:off x="667512"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Keyed action: The registered nurse performs and evaluates the initial teaching.
- Because: Initial teaching and evaluation require nursing judgment.</a:t>
            </a:r>
          </a:p>
        </p:txBody>
      </p:sp>
      <p:sp>
        <p:nvSpPr>
          <p:cNvPr id="16" name="Rounded Rectangle 15"/>
          <p:cNvSpPr/>
          <p:nvPr/>
        </p:nvSpPr>
        <p:spPr>
          <a:xfrm>
            <a:off x="6178143"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22037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your task</a:t>
            </a:r>
          </a:p>
        </p:txBody>
      </p:sp>
      <p:sp>
        <p:nvSpPr>
          <p:cNvPr id="19" name="TextBox 18"/>
          <p:cNvSpPr txBox="1"/>
          <p:nvPr/>
        </p:nvSpPr>
        <p:spPr>
          <a:xfrm>
            <a:off x="6342735"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Write one assessment sentence and one action sentence.</a:t>
            </a:r>
          </a:p>
        </p:txBody>
      </p:sp>
      <p:sp>
        <p:nvSpPr>
          <p:cNvPr id="20" name="Rounded Rectangle 1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Two sentences: what you assess, then what you do.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SIGNAL</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Sort by urgency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S13  ·  source-aligned</a:t>
            </a:r>
          </a:p>
        </p:txBody>
      </p:sp>
      <p:sp>
        <p:nvSpPr>
          <p:cNvPr id="8" name="Rounded Rectangle 7"/>
          <p:cNvSpPr/>
          <p:nvPr/>
        </p:nvSpPr>
        <p:spPr>
          <a:xfrm>
            <a:off x="502920"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now</a:t>
            </a:r>
          </a:p>
        </p:txBody>
      </p:sp>
      <p:sp>
        <p:nvSpPr>
          <p:cNvPr id="11" name="TextBox 10"/>
          <p:cNvSpPr txBox="1"/>
          <p:nvPr/>
        </p:nvSpPr>
        <p:spPr>
          <a:xfrm>
            <a:off x="667512"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A newly admitted patient has changing neurologic findings.
- A stable patient needs routine intake and output recorded.
- A patient requires initial teaching for a new diagnosis.</a:t>
            </a:r>
          </a:p>
        </p:txBody>
      </p:sp>
      <p:sp>
        <p:nvSpPr>
          <p:cNvPr id="12" name="Rounded Rectangle 11"/>
          <p:cNvSpPr/>
          <p:nvPr/>
        </p:nvSpPr>
        <p:spPr>
          <a:xfrm>
            <a:off x="6178143"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in sequence</a:t>
            </a:r>
          </a:p>
        </p:txBody>
      </p:sp>
      <p:sp>
        <p:nvSpPr>
          <p:cNvPr id="15" name="TextBox 14"/>
          <p:cNvSpPr txBox="1"/>
          <p:nvPr/>
        </p:nvSpPr>
        <p:spPr>
          <a:xfrm>
            <a:off x="6342735"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A delegatee reports a value outside the stated parameters.
- The task is permitted by policy but the delegatee has not demonstrated competence.</a:t>
            </a:r>
          </a:p>
        </p:txBody>
      </p:sp>
      <p:sp>
        <p:nvSpPr>
          <p:cNvPr id="16" name="Rounded Rectangle 15"/>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Place each cue and justify 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Documentation frame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14</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S14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Patient stability</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Task predictability</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Required nursing judgment</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0" name="Rounded Rectangle 19"/>
          <p:cNvSpPr/>
          <p:nvPr/>
        </p:nvSpPr>
        <p:spPr>
          <a:xfrm>
            <a:off x="502920"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7784" y="268833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Directions and report-back criteria</a:t>
            </a:r>
          </a:p>
        </p:txBody>
      </p:sp>
      <p:sp>
        <p:nvSpPr>
          <p:cNvPr id="23" name="TextBox 22"/>
          <p:cNvSpPr txBox="1"/>
          <p:nvPr/>
        </p:nvSpPr>
        <p:spPr>
          <a:xfrm>
            <a:off x="667512"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4" name="Rounded Rectangle 23"/>
          <p:cNvSpPr/>
          <p:nvPr/>
        </p:nvSpPr>
        <p:spPr>
          <a:xfrm>
            <a:off x="4286402"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1266" y="2688336"/>
            <a:ext cx="45720" cy="94183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0994"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Evaluation completed</a:t>
            </a:r>
          </a:p>
        </p:txBody>
      </p:sp>
      <p:sp>
        <p:nvSpPr>
          <p:cNvPr id="27" name="TextBox 26"/>
          <p:cNvSpPr txBox="1"/>
          <p:nvPr/>
        </p:nvSpPr>
        <p:spPr>
          <a:xfrm>
            <a:off x="4450994"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8" name="Rounded Rectangle 27"/>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Record the lesson's decisions in a reusable frame.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Capstone: choose the next safe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S15  ·  source-aligned</a:t>
            </a:r>
          </a:p>
        </p:txBody>
      </p:sp>
      <p:sp>
        <p:nvSpPr>
          <p:cNvPr id="8" name="Rounded Rectangle 7"/>
          <p:cNvSpPr/>
          <p:nvPr/>
        </p:nvSpPr>
        <p:spPr>
          <a:xfrm>
            <a:off x="685800" y="1005840"/>
            <a:ext cx="10835640" cy="621792"/>
          </a:xfrm>
          <a:prstGeom prst="roundRect">
            <a:avLst/>
          </a:prstGeom>
          <a:solidFill>
            <a:srgbClr val="FEF2F2"/>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29184"/>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79608" cy="292608"/>
          </a:xfrm>
          <a:prstGeom prst="rect">
            <a:avLst/>
          </a:prstGeom>
          <a:noFill/>
        </p:spPr>
        <p:txBody>
          <a:bodyPr wrap="square" anchor="t" lIns="27432" rIns="27432" tIns="18288" bIns="18288">
            <a:spAutoFit/>
          </a:bodyPr>
          <a:lstStyle/>
          <a:p>
            <a:pPr algn="l"/>
            <a:r>
              <a:rPr sz="1150" b="1">
                <a:solidFill>
                  <a:srgbClr val="0F172A"/>
                </a:solidFill>
                <a:latin typeface="Aptos"/>
              </a:rPr>
              <a:t>capstone scenario</a:t>
            </a:r>
          </a:p>
        </p:txBody>
      </p:sp>
      <p:sp>
        <p:nvSpPr>
          <p:cNvPr id="11" name="TextBox 10"/>
          <p:cNvSpPr txBox="1"/>
          <p:nvPr/>
        </p:nvSpPr>
        <p:spPr>
          <a:xfrm>
            <a:off x="850392" y="1444752"/>
            <a:ext cx="10579608" cy="91440"/>
          </a:xfrm>
          <a:prstGeom prst="rect">
            <a:avLst/>
          </a:prstGeom>
          <a:noFill/>
        </p:spPr>
        <p:txBody>
          <a:bodyPr wrap="square" anchor="t" lIns="27432" rIns="27432" tIns="18288" bIns="18288">
            <a:spAutoFit/>
          </a:bodyPr>
          <a:lstStyle/>
          <a:p>
            <a:pPr algn="l"/>
            <a:r>
              <a:rPr sz="850" b="0">
                <a:solidFill>
                  <a:srgbClr val="475569"/>
                </a:solidFill>
                <a:latin typeface="Aptos"/>
              </a:rPr>
              <a:t>The task is permitted by policy but the delegatee has not demonstrated competence.</a:t>
            </a:r>
          </a:p>
        </p:txBody>
      </p:sp>
      <p:sp>
        <p:nvSpPr>
          <p:cNvPr id="12" name="Rounded Rectangle 11"/>
          <p:cNvSpPr/>
          <p:nvPr/>
        </p:nvSpPr>
        <p:spPr>
          <a:xfrm>
            <a:off x="914400" y="1874519"/>
            <a:ext cx="1037844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9264" y="2020824"/>
            <a:ext cx="45720" cy="365759"/>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1984248"/>
            <a:ext cx="10122408" cy="292608"/>
          </a:xfrm>
          <a:prstGeom prst="rect">
            <a:avLst/>
          </a:prstGeom>
          <a:noFill/>
        </p:spPr>
        <p:txBody>
          <a:bodyPr wrap="square" anchor="t" lIns="27432" rIns="27432" tIns="18288" bIns="18288">
            <a:spAutoFit/>
          </a:bodyPr>
          <a:lstStyle/>
          <a:p>
            <a:pPr algn="l"/>
            <a:r>
              <a:rPr sz="1250" b="1">
                <a:solidFill>
                  <a:srgbClr val="0F172A"/>
                </a:solidFill>
                <a:latin typeface="Aptos"/>
              </a:rPr>
              <a:t>priority nursing response</a:t>
            </a:r>
          </a:p>
        </p:txBody>
      </p:sp>
      <p:sp>
        <p:nvSpPr>
          <p:cNvPr id="15" name="TextBox 14"/>
          <p:cNvSpPr txBox="1"/>
          <p:nvPr/>
        </p:nvSpPr>
        <p:spPr>
          <a:xfrm>
            <a:off x="1078992" y="2313432"/>
            <a:ext cx="10122408" cy="128016"/>
          </a:xfrm>
          <a:prstGeom prst="rect">
            <a:avLst/>
          </a:prstGeom>
          <a:noFill/>
        </p:spPr>
        <p:txBody>
          <a:bodyPr wrap="square" anchor="t" lIns="27432" rIns="27432" tIns="18288" bIns="18288">
            <a:spAutoFit/>
          </a:bodyPr>
          <a:lstStyle/>
          <a:p>
            <a:pPr algn="l"/>
            <a:r>
              <a:rPr sz="900" b="0">
                <a:solidFill>
                  <a:srgbClr val="475569"/>
                </a:solidFill>
                <a:latin typeface="Aptos"/>
              </a:rPr>
              <a:t>What is the priority nursing action?</a:t>
            </a:r>
          </a:p>
        </p:txBody>
      </p:sp>
      <p:sp>
        <p:nvSpPr>
          <p:cNvPr id="16" name="Rounded Rectangle 15"/>
          <p:cNvSpPr/>
          <p:nvPr/>
        </p:nvSpPr>
        <p:spPr>
          <a:xfrm>
            <a:off x="1097280" y="2788920"/>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2898648"/>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A</a:t>
            </a:r>
          </a:p>
        </p:txBody>
      </p:sp>
      <p:sp>
        <p:nvSpPr>
          <p:cNvPr id="18" name="TextBox 17"/>
          <p:cNvSpPr txBox="1"/>
          <p:nvPr/>
        </p:nvSpPr>
        <p:spPr>
          <a:xfrm>
            <a:off x="1627632" y="2871215"/>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A. Delay action until the end of the shift.</a:t>
            </a:r>
          </a:p>
        </p:txBody>
      </p:sp>
      <p:sp>
        <p:nvSpPr>
          <p:cNvPr id="19" name="Rounded Rectangle 18"/>
          <p:cNvSpPr/>
          <p:nvPr/>
        </p:nvSpPr>
        <p:spPr>
          <a:xfrm>
            <a:off x="1097280" y="3319272"/>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3429000"/>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B</a:t>
            </a:r>
          </a:p>
        </p:txBody>
      </p:sp>
      <p:sp>
        <p:nvSpPr>
          <p:cNvPr id="21" name="TextBox 20"/>
          <p:cNvSpPr txBox="1"/>
          <p:nvPr/>
        </p:nvSpPr>
        <p:spPr>
          <a:xfrm>
            <a:off x="1627632" y="3401568"/>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B. Assign the task to a competent team member or complete it as the nurse.</a:t>
            </a:r>
          </a:p>
        </p:txBody>
      </p:sp>
      <p:sp>
        <p:nvSpPr>
          <p:cNvPr id="22" name="Rounded Rectangle 21"/>
          <p:cNvSpPr/>
          <p:nvPr/>
        </p:nvSpPr>
        <p:spPr>
          <a:xfrm>
            <a:off x="1097280" y="3849624"/>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3959352"/>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C</a:t>
            </a:r>
          </a:p>
        </p:txBody>
      </p:sp>
      <p:sp>
        <p:nvSpPr>
          <p:cNvPr id="24" name="TextBox 23"/>
          <p:cNvSpPr txBox="1"/>
          <p:nvPr/>
        </p:nvSpPr>
        <p:spPr>
          <a:xfrm>
            <a:off x="1627632" y="3931920"/>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C. Document the finding without reassessment or follow-up.</a:t>
            </a:r>
          </a:p>
        </p:txBody>
      </p:sp>
      <p:sp>
        <p:nvSpPr>
          <p:cNvPr id="25" name="Rounded Rectangle 24"/>
          <p:cNvSpPr/>
          <p:nvPr/>
        </p:nvSpPr>
        <p:spPr>
          <a:xfrm>
            <a:off x="1097280" y="4379975"/>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4489703"/>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D</a:t>
            </a:r>
          </a:p>
        </p:txBody>
      </p:sp>
      <p:sp>
        <p:nvSpPr>
          <p:cNvPr id="27" name="TextBox 26"/>
          <p:cNvSpPr txBox="1"/>
          <p:nvPr/>
        </p:nvSpPr>
        <p:spPr>
          <a:xfrm>
            <a:off x="1627632" y="4462271"/>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D. Delegate the clinical judgment decision to unlicensed assistive personnel.</a:t>
            </a:r>
          </a:p>
        </p:txBody>
      </p:sp>
      <p:sp>
        <p:nvSpPr>
          <p:cNvPr id="28" name="Rounded Rectangle 27"/>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Choose the priority action.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Rapid retrieval: exit check</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S16  ·  source-aligned</a:t>
            </a:r>
          </a:p>
        </p:txBody>
      </p:sp>
      <p:sp>
        <p:nvSpPr>
          <p:cNvPr id="8" name="Rounded Rectangle 7"/>
          <p:cNvSpPr/>
          <p:nvPr/>
        </p:nvSpPr>
        <p:spPr>
          <a:xfrm>
            <a:off x="777240" y="1143000"/>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216152"/>
            <a:ext cx="45720" cy="292608"/>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261872"/>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Assess before delegating.</a:t>
            </a:r>
          </a:p>
        </p:txBody>
      </p:sp>
      <p:sp>
        <p:nvSpPr>
          <p:cNvPr id="11" name="Rounded Rectangle 10"/>
          <p:cNvSpPr/>
          <p:nvPr/>
        </p:nvSpPr>
        <p:spPr>
          <a:xfrm>
            <a:off x="777240" y="1801368"/>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8680" y="1874519"/>
            <a:ext cx="45720" cy="292608"/>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1920240"/>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Do not delegate nursing judgment.</a:t>
            </a:r>
          </a:p>
        </p:txBody>
      </p:sp>
      <p:sp>
        <p:nvSpPr>
          <p:cNvPr id="14" name="Rounded Rectangle 13"/>
          <p:cNvSpPr/>
          <p:nvPr/>
        </p:nvSpPr>
        <p:spPr>
          <a:xfrm>
            <a:off x="777240" y="2459736"/>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532888"/>
            <a:ext cx="45720" cy="292608"/>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578608"/>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Give explicit report-back parameters.</a:t>
            </a:r>
          </a:p>
        </p:txBody>
      </p:sp>
      <p:sp>
        <p:nvSpPr>
          <p:cNvPr id="17" name="Rounded Rectangle 16"/>
          <p:cNvSpPr/>
          <p:nvPr/>
        </p:nvSpPr>
        <p:spPr>
          <a:xfrm>
            <a:off x="777240" y="3118104"/>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3191256"/>
            <a:ext cx="45720" cy="292608"/>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236976"/>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Evaluate the patient outcome.</a:t>
            </a:r>
          </a:p>
        </p:txBody>
      </p:sp>
      <p:sp>
        <p:nvSpPr>
          <p:cNvPr id="20" name="Rounded Rectangle 19"/>
          <p:cNvSpPr/>
          <p:nvPr/>
        </p:nvSpPr>
        <p:spPr>
          <a:xfrm>
            <a:off x="777240" y="3776472"/>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 y="3849624"/>
            <a:ext cx="45720" cy="292608"/>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895344"/>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Provide direction, supervision, and outcome evaluation after delegation.</a:t>
            </a:r>
          </a:p>
        </p:txBody>
      </p:sp>
      <p:sp>
        <p:nvSpPr>
          <p:cNvPr id="23" name="Rounded Rectangle 22"/>
          <p:cNvSpPr/>
          <p:nvPr/>
        </p:nvSpPr>
        <p:spPr>
          <a:xfrm>
            <a:off x="1188720" y="5989320"/>
            <a:ext cx="9784080" cy="411480"/>
          </a:xfrm>
          <a:prstGeom prst="roundRect">
            <a:avLst/>
          </a:prstGeom>
          <a:solidFill>
            <a:srgbClr val="FFFFFF"/>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475569"/>
                </a:solidFill>
                <a:latin typeface="Aptos"/>
              </a:rPr>
              <a:t>Answer all of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Takeaway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17</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S17  ·  instructor-added</a:t>
            </a:r>
          </a:p>
        </p:txBody>
      </p:sp>
      <p:sp>
        <p:nvSpPr>
          <p:cNvPr id="7" name="Rounded Rectangle 6"/>
          <p:cNvSpPr/>
          <p:nvPr/>
        </p:nvSpPr>
        <p:spPr>
          <a:xfrm>
            <a:off x="502920"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7784" y="14721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Assess Before Delegating</a:t>
            </a:r>
          </a:p>
        </p:txBody>
      </p:sp>
      <p:sp>
        <p:nvSpPr>
          <p:cNvPr id="10" name="TextBox 9"/>
          <p:cNvSpPr txBox="1"/>
          <p:nvPr/>
        </p:nvSpPr>
        <p:spPr>
          <a:xfrm>
            <a:off x="667512"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Assess before delegating.</a:t>
            </a:r>
          </a:p>
        </p:txBody>
      </p:sp>
      <p:sp>
        <p:nvSpPr>
          <p:cNvPr id="11" name="Rounded Rectangle 10"/>
          <p:cNvSpPr/>
          <p:nvPr/>
        </p:nvSpPr>
        <p:spPr>
          <a:xfrm>
            <a:off x="3340531"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95395" y="14721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5123"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Do Not Delegate Nursing Judgment</a:t>
            </a:r>
          </a:p>
        </p:txBody>
      </p:sp>
      <p:sp>
        <p:nvSpPr>
          <p:cNvPr id="14" name="TextBox 13"/>
          <p:cNvSpPr txBox="1"/>
          <p:nvPr/>
        </p:nvSpPr>
        <p:spPr>
          <a:xfrm>
            <a:off x="3505123"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Do not delegate nursing judgment.</a:t>
            </a:r>
          </a:p>
        </p:txBody>
      </p:sp>
      <p:sp>
        <p:nvSpPr>
          <p:cNvPr id="15" name="Rounded Rectangle 14"/>
          <p:cNvSpPr/>
          <p:nvPr/>
        </p:nvSpPr>
        <p:spPr>
          <a:xfrm>
            <a:off x="6178143"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3007" y="147218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2735"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Give Explicit Report-Back Parameters</a:t>
            </a:r>
          </a:p>
        </p:txBody>
      </p:sp>
      <p:sp>
        <p:nvSpPr>
          <p:cNvPr id="18" name="TextBox 17"/>
          <p:cNvSpPr txBox="1"/>
          <p:nvPr/>
        </p:nvSpPr>
        <p:spPr>
          <a:xfrm>
            <a:off x="6342735"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Give explicit report-back parameters.</a:t>
            </a:r>
          </a:p>
        </p:txBody>
      </p:sp>
      <p:sp>
        <p:nvSpPr>
          <p:cNvPr id="19" name="Rounded Rectangle 18"/>
          <p:cNvSpPr/>
          <p:nvPr/>
        </p:nvSpPr>
        <p:spPr>
          <a:xfrm>
            <a:off x="9015755"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70619" y="147218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347"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Evaluate The Patient Outcome</a:t>
            </a:r>
          </a:p>
        </p:txBody>
      </p:sp>
      <p:sp>
        <p:nvSpPr>
          <p:cNvPr id="22" name="TextBox 21"/>
          <p:cNvSpPr txBox="1"/>
          <p:nvPr/>
        </p:nvSpPr>
        <p:spPr>
          <a:xfrm>
            <a:off x="9180347"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Evaluate the patient outcome.</a:t>
            </a:r>
          </a:p>
        </p:txBody>
      </p:sp>
      <p:sp>
        <p:nvSpPr>
          <p:cNvPr id="23" name="Rounded Rectangle 22"/>
          <p:cNvSpPr/>
          <p:nvPr/>
        </p:nvSpPr>
        <p:spPr>
          <a:xfrm>
            <a:off x="1234440" y="4892040"/>
            <a:ext cx="964692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89304" y="5038344"/>
            <a:ext cx="45720" cy="530352"/>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99032" y="5001768"/>
            <a:ext cx="9390888" cy="292608"/>
          </a:xfrm>
          <a:prstGeom prst="rect">
            <a:avLst/>
          </a:prstGeom>
          <a:noFill/>
        </p:spPr>
        <p:txBody>
          <a:bodyPr wrap="square" anchor="t" lIns="27432" rIns="27432" tIns="18288" bIns="18288">
            <a:spAutoFit/>
          </a:bodyPr>
          <a:lstStyle/>
          <a:p>
            <a:pPr algn="l"/>
            <a:r>
              <a:rPr sz="1200" b="1">
                <a:solidFill>
                  <a:srgbClr val="0F172A"/>
                </a:solidFill>
                <a:latin typeface="Aptos"/>
              </a:rPr>
              <a:t>final bedside frame</a:t>
            </a:r>
          </a:p>
        </p:txBody>
      </p:sp>
      <p:sp>
        <p:nvSpPr>
          <p:cNvPr id="26" name="TextBox 25"/>
          <p:cNvSpPr txBox="1"/>
          <p:nvPr/>
        </p:nvSpPr>
        <p:spPr>
          <a:xfrm>
            <a:off x="1399032" y="5330952"/>
            <a:ext cx="9390888" cy="292608"/>
          </a:xfrm>
          <a:prstGeom prst="rect">
            <a:avLst/>
          </a:prstGeom>
          <a:noFill/>
        </p:spPr>
        <p:txBody>
          <a:bodyPr wrap="square" anchor="t" lIns="27432" rIns="27432" tIns="18288" bIns="18288">
            <a:spAutoFit/>
          </a:bodyPr>
          <a:lstStyle/>
          <a:p>
            <a:pPr algn="l"/>
            <a:r>
              <a:rPr sz="800" b="0">
                <a:solidFill>
                  <a:srgbClr val="475569"/>
                </a:solidFill>
                <a:latin typeface="Aptos"/>
              </a:rPr>
              <a:t>Match the task to the delegatee, retain nursing judgment, communicate expectations, and evaluate the result.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