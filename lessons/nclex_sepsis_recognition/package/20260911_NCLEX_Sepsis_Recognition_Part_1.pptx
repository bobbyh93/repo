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lesson is about a patient who might have an infection and is beginning to change. By the end you can name the changes that mean the body is failing to perfuse, say what the nurse does first, and describe how to tell whether it worked. This is a high-risk topic: the cost of noticing late is measured in organs.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your patient. Treated for an infection, stable this morning, and now different. The nurse who walks in says the patient seems confused, and the blood pressure is lower than it has been. Nothing here is dramatic. There is no alarm. Notice what you already want to do with this information, and hold on to it: we will come back to this patient at the end and see whether your first instinct was the safe one.</a:t>
            </a:r>
          </a:p>
          <a:p/>
          <a:p>
            <a:r>
              <a:t>VISUAL NOTES: Case card left, cues centre, task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organizes everything that follows. A patient who might have an infection is changing: which changes mean the body is failing to perfuse, and what does the nurse do before anything else? Five lanes carry the answer, from what normal looks like through to whether your action worked.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Normal on the left, the check on the right. Every cue you meet today belongs somewhere on this line, and knowing where it sits tells you what to do with it.</a:t>
            </a:r>
          </a:p>
          <a:p/>
          <a:p>
            <a:r>
              <a:t>VISUAL NOTES: Horizontal route, foundation left to evaluation right.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Put these four in the order the nurse actually performs them. Do not overthink it, and do not look ahead. Compare with a neighbour before the reveal. The order matters more than the words.</a:t>
            </a:r>
          </a:p>
          <a:p/>
          <a:p>
            <a:r>
              <a:t>ANSWER KEY:</a:t>
            </a:r>
          </a:p>
          <a:p>
            <a:r>
              <a:t>- notice the change</a:t>
            </a:r>
          </a:p>
          <a:p>
            <a:r>
              <a:t>- ask whether it indicates organ dysfunction</a:t>
            </a:r>
          </a:p>
          <a:p>
            <a:r>
              <a:t>- activate the pathway and begin stabilization</a:t>
            </a:r>
          </a:p>
          <a:p>
            <a:r>
              <a:t>- reassess and trend the response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cues make sense, hold on to why they cluster. Perfusion is the delivery of oxygen to tissue. When delivery falls, every organ that depends on it starts to complain, and each one complains in its own language: the brain becomes confused, the kidney makes less urine, the lungs work harder. That is why sepsis is recognised as a pattern across systems rather than as one abnormal number. And the comparison that matters is with this patient's own earlier readings, not with a population normal.</a:t>
            </a:r>
          </a:p>
          <a:p/>
          <a:p>
            <a:r>
              <a:t>VISUAL NOTES: Four organ cards, one cue each.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recognition rule in full. Possible infection, plus altered mentation, abnormal perfusion, respiratory change, hypotension, reduced urine output, or other new organ dysfunction, requires urgent assessment. Read the word 'or' carefully. You are not waiting to collect the set. One new organ dysfunction in a patient who might be infected is the trigger.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with one partner. Match each cue on the left to the system it reports on. This is not trivia: naming the system is what turns a number into a statement about perfusion, and that is the step that makes you escalate.</a:t>
            </a:r>
          </a:p>
          <a:p/>
          <a:p>
            <a:r>
              <a:t>ANSWER KEY:</a:t>
            </a:r>
          </a:p>
          <a:p>
            <a:r>
              <a:t>- A-2 new confusion reports on cerebral perfusion</a:t>
            </a:r>
          </a:p>
          <a:p>
            <a:r>
              <a:t>- B-3 falling urine output reports on renal perfusion</a:t>
            </a:r>
          </a:p>
          <a:p>
            <a:r>
              <a:t>- C-1 rising respiratory rate reports on the lungs and on compensation</a:t>
            </a:r>
          </a:p>
          <a:p>
            <a:r>
              <a:t>- D-4 hypotension reports on circulatory failure to maintain pressure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reasoning behind each match. Notice that in every row the cue is only meaningful because it is new. A patient with long-standing renal impairment and a low urine output is telling you something different from the patient whose output fell this afternoon. New is the word that carries the urgency.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discipline the module keeps returning to: trend changes rather than relying on one value. A single reading tells you where the patient is. Two readings tell you where the patient is going, and direction is what decides urgency. Two findings moving together, such as urine output falling while heart rate and respiratory rate rise, are a stronger signal than any one of them alone.</a:t>
            </a:r>
          </a:p>
          <a:p/>
          <a:p>
            <a:r>
              <a:t>VISUAL NOTES: Left-to-right progression, urgency rising.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and it targets the most common misconception in this topic. Read the options and commit before the reveal.</a:t>
            </a:r>
          </a:p>
          <a:p/>
          <a:p>
            <a:r>
              <a:t>CORRECT: C</a:t>
            </a:r>
          </a:p>
          <a:p>
            <a:r>
              <a:t>RATIONALE: A normal temperature does not exclude serious infection or sepsis. The evaluation rests on the whole picture and on organ-function findings, not on one vital sign.</a:t>
            </a:r>
          </a:p>
          <a:p/>
          <a:p>
            <a:r>
              <a:t>ANSWER KEY:</a:t>
            </a:r>
          </a:p>
          <a:p>
            <a:r>
              <a:t>- C. Continue evaluating for sepsis using the complete clinical picture and organ-function findings.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conversion rule is short. Possible infection plus new organ dysfunction requires urgent assessment. Two words carry the weight. 'New' rules out the chronic finding you already knew about. 'Organ dysfunction' rules in the brain, the kidney, the lungs and the circulation, whichever of them is speaking. Nothing in that rule mentions temperature.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Escalation is four things, and the module lists them as one movement rather than a sequence. Activate your organisation's sepsis or rapid-response pathway. Communicate the trend and the suspected source, not just the latest number. Obtain the ordered diagnostics promptly. And begin stabilization. Notice that the pathway is your organisation's: this lesson does not tell you which one, because that is local.</a:t>
            </a:r>
          </a:p>
          <a:p/>
          <a:p>
            <a:r>
              <a:t>VISUAL NOTES: Four cards, equal weight, no arrows: these are concurrent.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most often changes practice. When cultures and treatment are pending and the patient is deteriorating, the nurse coordinates time-sensitive diagnostics and treatment while continuing stabilization and escalation. Deterioration requires parallel action rather than waiting passively for one step to finish. The sequential habit -- order it, wait for it, then act -- is the one to unlearn 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make the call, the content matters. The module asks for the trend and the suspected source. That means the receiving clinician hears where the patient is going and why you think there is an infection, rather than a single number out of context. Add which systems are involved and what you have already started, so no one repeats your work.</a:t>
            </a:r>
          </a:p>
          <a:p/>
          <a:p>
            <a:r>
              <a:t>ANSWER KEY:</a:t>
            </a:r>
          </a:p>
          <a:p>
            <a:r>
              <a:t>- Sentence one names what has changed and in which direction, across which systems.</a:t>
            </a:r>
          </a:p>
          <a:p>
            <a:r>
              <a:t>- Sentence two names the suspected source and what has already been started.</a:t>
            </a:r>
          </a:p>
          <a:p/>
          <a:p>
            <a:r>
              <a:t>VISUAL NOTES: Four cards; the first two are the module's, the last two are instructor additions.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these mentally into two columns. The left column is escalate now. The right is assess and keep trending. The test for the left column is the rule from slide twelve: possible infection plus something new.</a:t>
            </a:r>
          </a:p>
          <a:p/>
          <a:p>
            <a:r>
              <a:t>ANSWER KEY:</a:t>
            </a:r>
          </a:p>
          <a:p>
            <a:r>
              <a:t>- Escalate now: new confusion with possible infection; hypotension below the patient's trend; falling urine output with rising heart and respiratory rate</a:t>
            </a:r>
          </a:p>
          <a:p>
            <a:r>
              <a:t>- Assess and keep trending: a single reading at the edge of normal with no change from baseline; a long-standing finding that has not changed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a bedside. Initial interventions are done and the blood pressure has not come up. Three columns: what you assess, what you say, and the error to avoid. Write a two-sentence response before the debrief.</a:t>
            </a:r>
          </a:p>
          <a:p/>
          <a:p>
            <a:r>
              <a:t>ANSWER KEY:</a:t>
            </a:r>
          </a:p>
          <a:p>
            <a:r>
              <a:t>- Assessment names perfusion and the trend since the intervention.</a:t>
            </a:r>
          </a:p>
          <a:p>
            <a:r>
              <a:t>- Escalation states that hypotension persists and requests higher-level support.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It is the same patient from the mini case, and the options are all things a nurse might plausibly do.</a:t>
            </a:r>
          </a:p>
          <a:p/>
          <a:p>
            <a:r>
              <a:t>CORRECT: B</a:t>
            </a:r>
          </a:p>
          <a:p>
            <a:r>
              <a:t>RATIONALE: Persistent hypotension indicates ongoing instability and the need for higher-level support. A, C and D all delay escalation while the patient continues to deteriorate; the added difficulty rousing the patient is a second organ system reporting.</a:t>
            </a:r>
          </a:p>
          <a:p/>
          <a:p>
            <a:r>
              <a:t>ANSWER KEY:</a:t>
            </a:r>
          </a:p>
          <a:p>
            <a:r>
              <a:t>- B. Escalate immediately and continue reassessing perfusion and treatment response.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questions, one per lane, answered aloud or on paper. If a lane produces silence, that is the lane to remediate before this cohort meets a real one.</a:t>
            </a:r>
          </a:p>
          <a:p/>
          <a:p>
            <a:r>
              <a:t>ANSWER KEY:</a:t>
            </a:r>
          </a:p>
          <a:p>
            <a:r>
              <a:t>- any three of: altered mentation, abnormal perfusion, respiratory change, hypotension, reduced urine output, other new organ dysfunction</a:t>
            </a:r>
          </a:p>
          <a:p>
            <a:r>
              <a:t>- 'new' -- different from this patient's own earlier state</a:t>
            </a:r>
          </a:p>
          <a:p>
            <a:r>
              <a:t>- no; a normal temperature does not exclude serious infection or sepsis</a:t>
            </a:r>
          </a:p>
          <a:p>
            <a:r>
              <a:t>- activate the pathway, communicate trend and suspected source, obtain ordered diagnostics, begin stabilization</a:t>
            </a:r>
          </a:p>
          <a:p>
            <a:r>
              <a:t>- ongoing instability and the need for higher-level support; escalate and keep reassessing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frame. The patient from the opening case had one cue and no alarm. That is what this looks like in real life.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Early Recognition and Escalation of Sepsis</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NCLEX  ·  Physiological Adaptation  ·  Sepsis Recognition</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A patient who might have an infection is changing. Which changes mean the body is failing to perfuse, and what does the nurse do before anything else?</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Early recognition and escalation of sepsis</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Prelicensure RN · Physiological Adaptation · high safety risk</a:t>
            </a:r>
          </a:p>
        </p:txBody>
      </p:sp>
      <p:sp>
        <p:nvSpPr>
          <p:cNvPr id="24" name="TextBox 23"/>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5" name="TextBox 24"/>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 the patient who got quiet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Treated for a suspected infection. Stable this morning. The nurse reports that the patient now seems confused, and the blood pressure is below the patient's trend for the shift.</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Suspected infection
- New confusion in a previously oriented patient
- Blood pressure below this patient's own trend
- Not yet known: source, urine output, perfusion elsewhere</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Rounded Rectangle 18"/>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2" name="TextBox 21"/>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Thirty seconds: is this a call-now change or a watch-and-recheck change?</a:t>
            </a:r>
          </a:p>
        </p:txBody>
      </p:sp>
      <p:sp>
        <p:nvSpPr>
          <p:cNvPr id="23" name="Rounded Rectangle 22"/>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question this lesson answers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A patient who might have an infection is changing. Which changes mean the body is failing to perfuse, and what does the nurse do before anything else?</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Baseline</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what perfusion does; this patient's own trend</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Cues</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mentation; perfusion; breathing; pressure; urine output</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Meaning</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new organ dysfunction; trend beats single value</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Escalate</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activate the pathway; communicate; stabilize</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reassess; escalate again if needed</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Lesson map: normal, changed, meaning, act,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Baseline</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perfusion delivers oxygen → the patient's own baseline</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Cues</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altered mentation → abnormal perfusion → respiratory change → hypotension → reduced urine output</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Meaning</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possible infection + new organ dysfunction → urgency rises</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Escalate</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sepsis or rapid-response pathway → trend and suspected source → diagnostics → stabilization</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trend the same findings → persistent deterioration escalates again</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ACTIVATE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Warm-up: what has to happen first?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instructor-added</a:t>
            </a:r>
          </a:p>
        </p:txBody>
      </p:sp>
      <p:sp>
        <p:nvSpPr>
          <p:cNvPr id="8" name="Rounded Rectangle 7"/>
          <p:cNvSpPr/>
          <p:nvPr/>
        </p:nvSpPr>
        <p:spPr>
          <a:xfrm>
            <a:off x="685800" y="1005840"/>
            <a:ext cx="10789920" cy="685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93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33888" cy="292608"/>
          </a:xfrm>
          <a:prstGeom prst="rect">
            <a:avLst/>
          </a:prstGeom>
          <a:noFill/>
        </p:spPr>
        <p:txBody>
          <a:bodyPr wrap="square" anchor="t" lIns="27432" rIns="27432" tIns="18288" bIns="18288">
            <a:spAutoFit/>
          </a:bodyPr>
          <a:lstStyle/>
          <a:p>
            <a:pPr algn="l"/>
            <a:r>
              <a:rPr sz="1300" b="1">
                <a:solidFill>
                  <a:srgbClr val="0F172A"/>
                </a:solidFill>
                <a:latin typeface="Aptos"/>
              </a:rPr>
              <a:t>learner task</a:t>
            </a:r>
          </a:p>
        </p:txBody>
      </p:sp>
      <p:sp>
        <p:nvSpPr>
          <p:cNvPr id="11" name="TextBox 10"/>
          <p:cNvSpPr txBox="1"/>
          <p:nvPr/>
        </p:nvSpPr>
        <p:spPr>
          <a:xfrm>
            <a:off x="850392" y="1444752"/>
            <a:ext cx="10533888" cy="155448"/>
          </a:xfrm>
          <a:prstGeom prst="rect">
            <a:avLst/>
          </a:prstGeom>
          <a:noFill/>
        </p:spPr>
        <p:txBody>
          <a:bodyPr wrap="square" anchor="t" lIns="27432" rIns="27432" tIns="18288" bIns="18288">
            <a:spAutoFit/>
          </a:bodyPr>
          <a:lstStyle/>
          <a:p>
            <a:pPr algn="l"/>
            <a:r>
              <a:rPr sz="1000" b="0">
                <a:solidFill>
                  <a:srgbClr val="475569"/>
                </a:solidFill>
                <a:latin typeface="Aptos"/>
              </a:rPr>
              <a:t>Place the four actions in order.</a:t>
            </a:r>
          </a:p>
        </p:txBody>
      </p:sp>
      <p:sp>
        <p:nvSpPr>
          <p:cNvPr id="12" name="Rounded Rectangle 11"/>
          <p:cNvSpPr/>
          <p:nvPr/>
        </p:nvSpPr>
        <p:spPr>
          <a:xfrm>
            <a:off x="960120" y="1965960"/>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938528"/>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463040" y="2039112"/>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Reassess and trend the response</a:t>
            </a:r>
          </a:p>
        </p:txBody>
      </p:sp>
      <p:sp>
        <p:nvSpPr>
          <p:cNvPr id="15" name="Rounded Rectangle 14"/>
          <p:cNvSpPr/>
          <p:nvPr/>
        </p:nvSpPr>
        <p:spPr>
          <a:xfrm>
            <a:off x="960120" y="2532888"/>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587752"/>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463040" y="2596896"/>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Notice a change in a patient who might have an infection</a:t>
            </a:r>
          </a:p>
        </p:txBody>
      </p:sp>
      <p:sp>
        <p:nvSpPr>
          <p:cNvPr id="18" name="Rounded Rectangle 17"/>
          <p:cNvSpPr/>
          <p:nvPr/>
        </p:nvSpPr>
        <p:spPr>
          <a:xfrm>
            <a:off x="960120" y="3099815"/>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36976"/>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463040" y="3154680"/>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Activate the pathway and begin stabilization</a:t>
            </a:r>
          </a:p>
        </p:txBody>
      </p:sp>
      <p:sp>
        <p:nvSpPr>
          <p:cNvPr id="21" name="Rounded Rectangle 20"/>
          <p:cNvSpPr/>
          <p:nvPr/>
        </p:nvSpPr>
        <p:spPr>
          <a:xfrm>
            <a:off x="960120" y="3666744"/>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3886199"/>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463040" y="3712463"/>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Ask whether the change indicates organ dysfunction</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Use sequence misses to identify where the concept chain breaks.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BASELINE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Baseline: what perfusion is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Brain</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Altered mentation: new confusion, less responsive than earlier.</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Kidney</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Reduced urine output.</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Lungs</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Respiratory change.</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Circulation</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Abnormal perfusion; hypotension.</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Explain why a perfusion failure shows up in several systems at once.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CUES</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Cues: the five the module names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Altered mentation</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New confusion or reduced responsiveness.</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Abnormal perfusion</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Skin and circulatory findings that differ from this patient's earlier state.</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Respiratory change</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 new change in the work or rate of breathing.</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Hypotension</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Blood pressure below this patient's trend.</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Reduced urine output</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Less urine than earlier in the shift.</a:t>
            </a:r>
          </a:p>
        </p:txBody>
      </p:sp>
      <p:sp>
        <p:nvSpPr>
          <p:cNvPr id="28" name="Rounded Rectangle 27"/>
          <p:cNvSpPr/>
          <p:nvPr/>
        </p:nvSpPr>
        <p:spPr>
          <a:xfrm>
            <a:off x="8069884"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24748" y="268833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34476"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Other new organ dysfunction</a:t>
            </a:r>
          </a:p>
        </p:txBody>
      </p:sp>
      <p:sp>
        <p:nvSpPr>
          <p:cNvPr id="31" name="TextBox 30"/>
          <p:cNvSpPr txBox="1"/>
          <p:nvPr/>
        </p:nvSpPr>
        <p:spPr>
          <a:xfrm>
            <a:off x="8234476"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The list is not a closed set.</a:t>
            </a:r>
          </a:p>
        </p:txBody>
      </p:sp>
      <p:sp>
        <p:nvSpPr>
          <p:cNvPr id="32" name="Rounded Rectangle 3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Name the cue families that, with possible infection, require urgent assessment.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Activity: match the cue to the organ it speaks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TextBox 7"/>
          <p:cNvSpPr txBox="1"/>
          <p:nvPr/>
        </p:nvSpPr>
        <p:spPr>
          <a:xfrm>
            <a:off x="731520" y="1005840"/>
            <a:ext cx="10698480" cy="256032"/>
          </a:xfrm>
          <a:prstGeom prst="rect">
            <a:avLst/>
          </a:prstGeom>
          <a:noFill/>
        </p:spPr>
        <p:txBody>
          <a:bodyPr wrap="square" anchor="t" lIns="27432" rIns="27432" tIns="18288" bIns="18288">
            <a:spAutoFit/>
          </a:bodyPr>
          <a:lstStyle/>
          <a:p>
            <a:pPr algn="l"/>
            <a:r>
              <a:rPr sz="950" b="1">
                <a:solidFill>
                  <a:srgbClr val="0F172A"/>
                </a:solidFill>
                <a:latin typeface="Aptos"/>
              </a:rPr>
              <a:t>Work with one partner: match each source to the cue or clinical meaning most directly involved.</a:t>
            </a:r>
          </a:p>
        </p:txBody>
      </p:sp>
      <p:sp>
        <p:nvSpPr>
          <p:cNvPr id="9" name="Rounded Rectangle 8"/>
          <p:cNvSpPr/>
          <p:nvPr/>
        </p:nvSpPr>
        <p:spPr>
          <a:xfrm>
            <a:off x="777240" y="1508760"/>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3" y="1655063"/>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18488"/>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A</a:t>
            </a:r>
          </a:p>
        </p:txBody>
      </p:sp>
      <p:sp>
        <p:nvSpPr>
          <p:cNvPr id="12" name="TextBox 11"/>
          <p:cNvSpPr txBox="1"/>
          <p:nvPr/>
        </p:nvSpPr>
        <p:spPr>
          <a:xfrm>
            <a:off x="941832" y="1947672"/>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A. New confusion in a previously oriented patient</a:t>
            </a:r>
          </a:p>
        </p:txBody>
      </p:sp>
      <p:sp>
        <p:nvSpPr>
          <p:cNvPr id="13" name="Rounded Rectangle 12"/>
          <p:cNvSpPr/>
          <p:nvPr/>
        </p:nvSpPr>
        <p:spPr>
          <a:xfrm>
            <a:off x="6537960" y="1508760"/>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92824" y="1655063"/>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2552" y="1618488"/>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1</a:t>
            </a:r>
          </a:p>
        </p:txBody>
      </p:sp>
      <p:sp>
        <p:nvSpPr>
          <p:cNvPr id="16" name="TextBox 15"/>
          <p:cNvSpPr txBox="1"/>
          <p:nvPr/>
        </p:nvSpPr>
        <p:spPr>
          <a:xfrm>
            <a:off x="6702552" y="1947672"/>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1. Lungs and compensation</a:t>
            </a:r>
          </a:p>
        </p:txBody>
      </p:sp>
      <p:sp>
        <p:nvSpPr>
          <p:cNvPr id="17" name="Rounded Rectangle 16"/>
          <p:cNvSpPr/>
          <p:nvPr/>
        </p:nvSpPr>
        <p:spPr>
          <a:xfrm>
            <a:off x="777240" y="2203704"/>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3" y="2350008"/>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2313432"/>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B</a:t>
            </a:r>
          </a:p>
        </p:txBody>
      </p:sp>
      <p:sp>
        <p:nvSpPr>
          <p:cNvPr id="20" name="TextBox 19"/>
          <p:cNvSpPr txBox="1"/>
          <p:nvPr/>
        </p:nvSpPr>
        <p:spPr>
          <a:xfrm>
            <a:off x="941832" y="2642616"/>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B. Urine output falling across the shift</a:t>
            </a:r>
          </a:p>
        </p:txBody>
      </p:sp>
      <p:sp>
        <p:nvSpPr>
          <p:cNvPr id="21" name="Rounded Rectangle 20"/>
          <p:cNvSpPr/>
          <p:nvPr/>
        </p:nvSpPr>
        <p:spPr>
          <a:xfrm>
            <a:off x="6537960" y="2203704"/>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2824" y="2350008"/>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313432"/>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2</a:t>
            </a:r>
          </a:p>
        </p:txBody>
      </p:sp>
      <p:sp>
        <p:nvSpPr>
          <p:cNvPr id="24" name="TextBox 23"/>
          <p:cNvSpPr txBox="1"/>
          <p:nvPr/>
        </p:nvSpPr>
        <p:spPr>
          <a:xfrm>
            <a:off x="6702552" y="2642616"/>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2. Brain</a:t>
            </a:r>
          </a:p>
        </p:txBody>
      </p:sp>
      <p:sp>
        <p:nvSpPr>
          <p:cNvPr id="25" name="Rounded Rectangle 24"/>
          <p:cNvSpPr/>
          <p:nvPr/>
        </p:nvSpPr>
        <p:spPr>
          <a:xfrm>
            <a:off x="777240" y="2898648"/>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2103" y="3044952"/>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3008376"/>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C</a:t>
            </a:r>
          </a:p>
        </p:txBody>
      </p:sp>
      <p:sp>
        <p:nvSpPr>
          <p:cNvPr id="28" name="TextBox 27"/>
          <p:cNvSpPr txBox="1"/>
          <p:nvPr/>
        </p:nvSpPr>
        <p:spPr>
          <a:xfrm>
            <a:off x="941832" y="3337560"/>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C. Respiratory rate rising</a:t>
            </a:r>
          </a:p>
        </p:txBody>
      </p:sp>
      <p:sp>
        <p:nvSpPr>
          <p:cNvPr id="29" name="Rounded Rectangle 28"/>
          <p:cNvSpPr/>
          <p:nvPr/>
        </p:nvSpPr>
        <p:spPr>
          <a:xfrm>
            <a:off x="6537960" y="2898648"/>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2824" y="3044952"/>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2552" y="3008376"/>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3</a:t>
            </a:r>
          </a:p>
        </p:txBody>
      </p:sp>
      <p:sp>
        <p:nvSpPr>
          <p:cNvPr id="32" name="TextBox 31"/>
          <p:cNvSpPr txBox="1"/>
          <p:nvPr/>
        </p:nvSpPr>
        <p:spPr>
          <a:xfrm>
            <a:off x="6702552" y="3337560"/>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3. Kidney</a:t>
            </a:r>
          </a:p>
        </p:txBody>
      </p:sp>
      <p:sp>
        <p:nvSpPr>
          <p:cNvPr id="33" name="Rounded Rectangle 32"/>
          <p:cNvSpPr/>
          <p:nvPr/>
        </p:nvSpPr>
        <p:spPr>
          <a:xfrm>
            <a:off x="777240" y="3593592"/>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3" y="3739896"/>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703320"/>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D</a:t>
            </a:r>
          </a:p>
        </p:txBody>
      </p:sp>
      <p:sp>
        <p:nvSpPr>
          <p:cNvPr id="36" name="TextBox 35"/>
          <p:cNvSpPr txBox="1"/>
          <p:nvPr/>
        </p:nvSpPr>
        <p:spPr>
          <a:xfrm>
            <a:off x="941832" y="4032504"/>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D. Blood pressure below the patient's trend</a:t>
            </a:r>
          </a:p>
        </p:txBody>
      </p:sp>
      <p:sp>
        <p:nvSpPr>
          <p:cNvPr id="37" name="Rounded Rectangle 36"/>
          <p:cNvSpPr/>
          <p:nvPr/>
        </p:nvSpPr>
        <p:spPr>
          <a:xfrm>
            <a:off x="6537960" y="3593592"/>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92824" y="3739896"/>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3703320"/>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4</a:t>
            </a:r>
          </a:p>
        </p:txBody>
      </p:sp>
      <p:sp>
        <p:nvSpPr>
          <p:cNvPr id="40" name="TextBox 39"/>
          <p:cNvSpPr txBox="1"/>
          <p:nvPr/>
        </p:nvSpPr>
        <p:spPr>
          <a:xfrm>
            <a:off x="6702552" y="4032504"/>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4. Circulation</a:t>
            </a:r>
          </a:p>
        </p:txBody>
      </p:sp>
      <p:sp>
        <p:nvSpPr>
          <p:cNvPr id="41" name="Rounded Rectangle 4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Output: write matches and one sentence explaining one match.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Debrief: why naming the system changes what you do</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Rounded Rectangle 7"/>
          <p:cNvSpPr/>
          <p:nvPr/>
        </p:nvSpPr>
        <p:spPr>
          <a:xfrm>
            <a:off x="502920"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435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 to 2 · brain</a:t>
            </a:r>
          </a:p>
        </p:txBody>
      </p:sp>
      <p:sp>
        <p:nvSpPr>
          <p:cNvPr id="11" name="TextBox 10"/>
          <p:cNvSpPr txBox="1"/>
          <p:nvPr/>
        </p:nvSpPr>
        <p:spPr>
          <a:xfrm>
            <a:off x="667512"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New confusion in possible infection is organ dysfunction, not just an anxious patient.</a:t>
            </a:r>
          </a:p>
        </p:txBody>
      </p:sp>
      <p:sp>
        <p:nvSpPr>
          <p:cNvPr id="12" name="Rounded Rectangle 11"/>
          <p:cNvSpPr/>
          <p:nvPr/>
        </p:nvSpPr>
        <p:spPr>
          <a:xfrm>
            <a:off x="6178143"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435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B to 3 · kidney</a:t>
            </a:r>
          </a:p>
        </p:txBody>
      </p:sp>
      <p:sp>
        <p:nvSpPr>
          <p:cNvPr id="15" name="TextBox 14"/>
          <p:cNvSpPr txBox="1"/>
          <p:nvPr/>
        </p:nvSpPr>
        <p:spPr>
          <a:xfrm>
            <a:off x="6342735"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Falling output suggests the kidney is not being perfused.</a:t>
            </a:r>
          </a:p>
        </p:txBody>
      </p:sp>
      <p:sp>
        <p:nvSpPr>
          <p:cNvPr id="16" name="Rounded Rectangle 15"/>
          <p:cNvSpPr/>
          <p:nvPr/>
        </p:nvSpPr>
        <p:spPr>
          <a:xfrm>
            <a:off x="502920"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 y="264261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 to 1 · lungs</a:t>
            </a:r>
          </a:p>
        </p:txBody>
      </p:sp>
      <p:sp>
        <p:nvSpPr>
          <p:cNvPr id="19" name="TextBox 18"/>
          <p:cNvSpPr txBox="1"/>
          <p:nvPr/>
        </p:nvSpPr>
        <p:spPr>
          <a:xfrm>
            <a:off x="667512"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A rising rate is often the earliest visible compensation.</a:t>
            </a:r>
          </a:p>
        </p:txBody>
      </p:sp>
      <p:sp>
        <p:nvSpPr>
          <p:cNvPr id="20" name="Rounded Rectangle 19"/>
          <p:cNvSpPr/>
          <p:nvPr/>
        </p:nvSpPr>
        <p:spPr>
          <a:xfrm>
            <a:off x="6178143"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264261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2735"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D to 4 · circulation</a:t>
            </a:r>
          </a:p>
        </p:txBody>
      </p:sp>
      <p:sp>
        <p:nvSpPr>
          <p:cNvPr id="23" name="TextBox 22"/>
          <p:cNvSpPr txBox="1"/>
          <p:nvPr/>
        </p:nvSpPr>
        <p:spPr>
          <a:xfrm>
            <a:off x="6342735"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Hypotension means compensation is no longer keeping up.</a:t>
            </a:r>
          </a:p>
        </p:txBody>
      </p:sp>
      <p:sp>
        <p:nvSpPr>
          <p:cNvPr id="24" name="Rounded Rectangle 23"/>
          <p:cNvSpPr/>
          <p:nvPr/>
        </p:nvSpPr>
        <p:spPr>
          <a:xfrm>
            <a:off x="1188720" y="5989320"/>
            <a:ext cx="9784080" cy="41148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EA580C"/>
                </a:solidFill>
                <a:latin typeface="Aptos"/>
              </a:rPr>
              <a:t>Explain how each match raises or lowers urgency.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MEANING</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Trend beats any single value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cxnSp>
        <p:nvCxnSpPr>
          <p:cNvPr id="8" name="Connector 7"/>
          <p:cNvCxnSpPr/>
          <p:nvPr/>
        </p:nvCxnSpPr>
        <p:spPr>
          <a:xfrm>
            <a:off x="914400" y="2331720"/>
            <a:ext cx="100584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68096" y="2185415"/>
            <a:ext cx="292608" cy="292608"/>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79" y="2679191"/>
            <a:ext cx="1463040" cy="228600"/>
          </a:xfrm>
          <a:prstGeom prst="rect">
            <a:avLst/>
          </a:prstGeom>
          <a:noFill/>
        </p:spPr>
        <p:txBody>
          <a:bodyPr wrap="square" anchor="t" lIns="27432" rIns="27432" tIns="18288" bIns="18288">
            <a:spAutoFit/>
          </a:bodyPr>
          <a:lstStyle/>
          <a:p>
            <a:pPr algn="ctr"/>
            <a:r>
              <a:rPr sz="950" b="1">
                <a:solidFill>
                  <a:srgbClr val="0F172A"/>
                </a:solidFill>
                <a:latin typeface="Aptos"/>
              </a:rPr>
              <a:t>single value</a:t>
            </a:r>
          </a:p>
        </p:txBody>
      </p:sp>
      <p:sp>
        <p:nvSpPr>
          <p:cNvPr id="11" name="TextBox 10"/>
          <p:cNvSpPr txBox="1"/>
          <p:nvPr/>
        </p:nvSpPr>
        <p:spPr>
          <a:xfrm>
            <a:off x="137160" y="2971800"/>
            <a:ext cx="1554480" cy="502920"/>
          </a:xfrm>
          <a:prstGeom prst="rect">
            <a:avLst/>
          </a:prstGeom>
          <a:noFill/>
        </p:spPr>
        <p:txBody>
          <a:bodyPr wrap="square" anchor="t" lIns="27432" rIns="27432" tIns="18288" bIns="18288">
            <a:spAutoFit/>
          </a:bodyPr>
          <a:lstStyle/>
          <a:p>
            <a:pPr algn="ctr"/>
            <a:r>
              <a:rPr sz="700" b="0">
                <a:solidFill>
                  <a:srgbClr val="475569"/>
                </a:solidFill>
                <a:latin typeface="Aptos"/>
              </a:rPr>
              <a:t>a snapshot; may sit inside the normal range</a:t>
            </a:r>
          </a:p>
        </p:txBody>
      </p:sp>
      <p:sp>
        <p:nvSpPr>
          <p:cNvPr id="12" name="Rounded Rectangle 11"/>
          <p:cNvSpPr/>
          <p:nvPr/>
        </p:nvSpPr>
        <p:spPr>
          <a:xfrm>
            <a:off x="4120895" y="2185415"/>
            <a:ext cx="292608" cy="292608"/>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5679" y="2679191"/>
            <a:ext cx="1463040" cy="228600"/>
          </a:xfrm>
          <a:prstGeom prst="rect">
            <a:avLst/>
          </a:prstGeom>
          <a:noFill/>
        </p:spPr>
        <p:txBody>
          <a:bodyPr wrap="square" anchor="t" lIns="27432" rIns="27432" tIns="18288" bIns="18288">
            <a:spAutoFit/>
          </a:bodyPr>
          <a:lstStyle/>
          <a:p>
            <a:pPr algn="ctr"/>
            <a:r>
              <a:rPr sz="950" b="1">
                <a:solidFill>
                  <a:srgbClr val="0F172A"/>
                </a:solidFill>
                <a:latin typeface="Aptos"/>
              </a:rPr>
              <a:t>two values</a:t>
            </a:r>
          </a:p>
        </p:txBody>
      </p:sp>
      <p:sp>
        <p:nvSpPr>
          <p:cNvPr id="14" name="TextBox 13"/>
          <p:cNvSpPr txBox="1"/>
          <p:nvPr/>
        </p:nvSpPr>
        <p:spPr>
          <a:xfrm>
            <a:off x="3489959" y="2971800"/>
            <a:ext cx="1554480" cy="502920"/>
          </a:xfrm>
          <a:prstGeom prst="rect">
            <a:avLst/>
          </a:prstGeom>
          <a:noFill/>
        </p:spPr>
        <p:txBody>
          <a:bodyPr wrap="square" anchor="t" lIns="27432" rIns="27432" tIns="18288" bIns="18288">
            <a:spAutoFit/>
          </a:bodyPr>
          <a:lstStyle/>
          <a:p>
            <a:pPr algn="ctr"/>
            <a:r>
              <a:rPr sz="700" b="0">
                <a:solidFill>
                  <a:srgbClr val="475569"/>
                </a:solidFill>
                <a:latin typeface="Aptos"/>
              </a:rPr>
              <a:t>direction becomes visible</a:t>
            </a:r>
          </a:p>
        </p:txBody>
      </p:sp>
      <p:sp>
        <p:nvSpPr>
          <p:cNvPr id="15" name="Rounded Rectangle 14"/>
          <p:cNvSpPr/>
          <p:nvPr/>
        </p:nvSpPr>
        <p:spPr>
          <a:xfrm>
            <a:off x="7473695" y="2185415"/>
            <a:ext cx="292608" cy="292608"/>
          </a:xfrm>
          <a:prstGeom prst="round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88479" y="2679191"/>
            <a:ext cx="1463040" cy="228600"/>
          </a:xfrm>
          <a:prstGeom prst="rect">
            <a:avLst/>
          </a:prstGeom>
          <a:noFill/>
        </p:spPr>
        <p:txBody>
          <a:bodyPr wrap="square" anchor="t" lIns="27432" rIns="27432" tIns="18288" bIns="18288">
            <a:spAutoFit/>
          </a:bodyPr>
          <a:lstStyle/>
          <a:p>
            <a:pPr algn="ctr"/>
            <a:r>
              <a:rPr sz="950" b="1">
                <a:solidFill>
                  <a:srgbClr val="0F172A"/>
                </a:solidFill>
                <a:latin typeface="Aptos"/>
              </a:rPr>
              <a:t>several systems</a:t>
            </a:r>
          </a:p>
        </p:txBody>
      </p:sp>
      <p:sp>
        <p:nvSpPr>
          <p:cNvPr id="17" name="TextBox 16"/>
          <p:cNvSpPr txBox="1"/>
          <p:nvPr/>
        </p:nvSpPr>
        <p:spPr>
          <a:xfrm>
            <a:off x="6842759" y="2971800"/>
            <a:ext cx="1554480" cy="502920"/>
          </a:xfrm>
          <a:prstGeom prst="rect">
            <a:avLst/>
          </a:prstGeom>
          <a:noFill/>
        </p:spPr>
        <p:txBody>
          <a:bodyPr wrap="square" anchor="t" lIns="27432" rIns="27432" tIns="18288" bIns="18288">
            <a:spAutoFit/>
          </a:bodyPr>
          <a:lstStyle/>
          <a:p>
            <a:pPr algn="ctr"/>
            <a:r>
              <a:rPr sz="700" b="0">
                <a:solidFill>
                  <a:srgbClr val="475569"/>
                </a:solidFill>
                <a:latin typeface="Aptos"/>
              </a:rPr>
              <a:t>combined movement suggests worsening perfusion</a:t>
            </a:r>
          </a:p>
        </p:txBody>
      </p:sp>
      <p:sp>
        <p:nvSpPr>
          <p:cNvPr id="18" name="Rounded Rectangle 17"/>
          <p:cNvSpPr/>
          <p:nvPr/>
        </p:nvSpPr>
        <p:spPr>
          <a:xfrm>
            <a:off x="10826496" y="2185415"/>
            <a:ext cx="292608" cy="292608"/>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0" y="2679191"/>
            <a:ext cx="1463040" cy="228600"/>
          </a:xfrm>
          <a:prstGeom prst="rect">
            <a:avLst/>
          </a:prstGeom>
          <a:noFill/>
        </p:spPr>
        <p:txBody>
          <a:bodyPr wrap="square" anchor="t" lIns="27432" rIns="27432" tIns="18288" bIns="18288">
            <a:spAutoFit/>
          </a:bodyPr>
          <a:lstStyle/>
          <a:p>
            <a:pPr algn="ctr"/>
            <a:r>
              <a:rPr sz="950" b="1">
                <a:solidFill>
                  <a:srgbClr val="0F172A"/>
                </a:solidFill>
                <a:latin typeface="Aptos"/>
              </a:rPr>
              <a:t>urgency</a:t>
            </a:r>
          </a:p>
        </p:txBody>
      </p:sp>
      <p:sp>
        <p:nvSpPr>
          <p:cNvPr id="20" name="TextBox 19"/>
          <p:cNvSpPr txBox="1"/>
          <p:nvPr/>
        </p:nvSpPr>
        <p:spPr>
          <a:xfrm>
            <a:off x="10195560" y="2971800"/>
            <a:ext cx="1554480" cy="502920"/>
          </a:xfrm>
          <a:prstGeom prst="rect">
            <a:avLst/>
          </a:prstGeom>
          <a:noFill/>
        </p:spPr>
        <p:txBody>
          <a:bodyPr wrap="square" anchor="t" lIns="27432" rIns="27432" tIns="18288" bIns="18288">
            <a:spAutoFit/>
          </a:bodyPr>
          <a:lstStyle/>
          <a:p>
            <a:pPr algn="ctr"/>
            <a:r>
              <a:rPr sz="700" b="0">
                <a:solidFill>
                  <a:srgbClr val="475569"/>
                </a:solidFill>
                <a:latin typeface="Aptos"/>
              </a:rPr>
              <a:t>direction, not the number, decides</a:t>
            </a:r>
          </a:p>
        </p:txBody>
      </p:sp>
      <p:sp>
        <p:nvSpPr>
          <p:cNvPr id="21" name="Rounded Rectangle 2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Timing explains which patient teaching and safety cues matter.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 the patient with a normal temperature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A patient has a possible infection but a temperature within the normal range. What is the best nursing response?</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Document the normal temperature and recheck at the next scheduled vitals.</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Rule out sepsis, since fever is required for the diagnosis.</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Continue evaluating for sepsis using the complete clinical picture and organ-function findings.</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Wait for the culture result before assessing further.</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Choose the best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MEANING</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Meaning: new organ dysfunction raises urgency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New</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Different from this patient's own earlier state.</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Organ dysfunction</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Any system reporting a perfusion failure.</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Together</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With possible infection, the two together mean urgent assessment now.</a:t>
            </a:r>
          </a:p>
        </p:txBody>
      </p:sp>
      <p:sp>
        <p:nvSpPr>
          <p:cNvPr id="20" name="Rounded Rectangle 19"/>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State the rule that converts a cue into an escalation.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ESCALATE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Escalate: what the nurse actually does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Activate</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The organisation's sepsis or rapid-response pathway.</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Communicate</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The trend and the suspected source.</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Obtain</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Ordered diagnostics, promptly.</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Begin</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Stabilization.</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List the four components of escalation named by the module.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ESCALATE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Escalation and stabilization happen together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cxnSp>
        <p:nvCxnSpPr>
          <p:cNvPr id="8" name="Connector 7"/>
          <p:cNvCxnSpPr/>
          <p:nvPr/>
        </p:nvCxnSpPr>
        <p:spPr>
          <a:xfrm>
            <a:off x="914400" y="2331720"/>
            <a:ext cx="100584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68096" y="2185415"/>
            <a:ext cx="292608" cy="292608"/>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79" y="2679191"/>
            <a:ext cx="1463040" cy="228600"/>
          </a:xfrm>
          <a:prstGeom prst="rect">
            <a:avLst/>
          </a:prstGeom>
          <a:noFill/>
        </p:spPr>
        <p:txBody>
          <a:bodyPr wrap="square" anchor="t" lIns="27432" rIns="27432" tIns="18288" bIns="18288">
            <a:spAutoFit/>
          </a:bodyPr>
          <a:lstStyle/>
          <a:p>
            <a:pPr algn="ctr"/>
            <a:r>
              <a:rPr sz="950" b="1">
                <a:solidFill>
                  <a:srgbClr val="0F172A"/>
                </a:solidFill>
                <a:latin typeface="Aptos"/>
              </a:rPr>
              <a:t>recognise</a:t>
            </a:r>
          </a:p>
        </p:txBody>
      </p:sp>
      <p:sp>
        <p:nvSpPr>
          <p:cNvPr id="11" name="TextBox 10"/>
          <p:cNvSpPr txBox="1"/>
          <p:nvPr/>
        </p:nvSpPr>
        <p:spPr>
          <a:xfrm>
            <a:off x="137160" y="2971800"/>
            <a:ext cx="1554480" cy="502920"/>
          </a:xfrm>
          <a:prstGeom prst="rect">
            <a:avLst/>
          </a:prstGeom>
          <a:noFill/>
        </p:spPr>
        <p:txBody>
          <a:bodyPr wrap="square" anchor="t" lIns="27432" rIns="27432" tIns="18288" bIns="18288">
            <a:spAutoFit/>
          </a:bodyPr>
          <a:lstStyle/>
          <a:p>
            <a:pPr algn="ctr"/>
            <a:r>
              <a:rPr sz="700" b="0">
                <a:solidFill>
                  <a:srgbClr val="475569"/>
                </a:solidFill>
                <a:latin typeface="Aptos"/>
              </a:rPr>
              <a:t>possible infection plus new organ dysfunction</a:t>
            </a:r>
          </a:p>
        </p:txBody>
      </p:sp>
      <p:sp>
        <p:nvSpPr>
          <p:cNvPr id="12" name="Rounded Rectangle 11"/>
          <p:cNvSpPr/>
          <p:nvPr/>
        </p:nvSpPr>
        <p:spPr>
          <a:xfrm>
            <a:off x="4120895" y="2185415"/>
            <a:ext cx="292608" cy="292608"/>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5679" y="2679191"/>
            <a:ext cx="1463040" cy="228600"/>
          </a:xfrm>
          <a:prstGeom prst="rect">
            <a:avLst/>
          </a:prstGeom>
          <a:noFill/>
        </p:spPr>
        <p:txBody>
          <a:bodyPr wrap="square" anchor="t" lIns="27432" rIns="27432" tIns="18288" bIns="18288">
            <a:spAutoFit/>
          </a:bodyPr>
          <a:lstStyle/>
          <a:p>
            <a:pPr algn="ctr"/>
            <a:r>
              <a:rPr sz="950" b="1">
                <a:solidFill>
                  <a:srgbClr val="0F172A"/>
                </a:solidFill>
                <a:latin typeface="Aptos"/>
              </a:rPr>
              <a:t>activate + communicate</a:t>
            </a:r>
          </a:p>
        </p:txBody>
      </p:sp>
      <p:sp>
        <p:nvSpPr>
          <p:cNvPr id="14" name="TextBox 13"/>
          <p:cNvSpPr txBox="1"/>
          <p:nvPr/>
        </p:nvSpPr>
        <p:spPr>
          <a:xfrm>
            <a:off x="3489959" y="2971800"/>
            <a:ext cx="1554480" cy="502920"/>
          </a:xfrm>
          <a:prstGeom prst="rect">
            <a:avLst/>
          </a:prstGeom>
          <a:noFill/>
        </p:spPr>
        <p:txBody>
          <a:bodyPr wrap="square" anchor="t" lIns="27432" rIns="27432" tIns="18288" bIns="18288">
            <a:spAutoFit/>
          </a:bodyPr>
          <a:lstStyle/>
          <a:p>
            <a:pPr algn="ctr"/>
            <a:r>
              <a:rPr sz="700" b="0">
                <a:solidFill>
                  <a:srgbClr val="475569"/>
                </a:solidFill>
                <a:latin typeface="Aptos"/>
              </a:rPr>
              <a:t>pathway and trend, together</a:t>
            </a:r>
          </a:p>
        </p:txBody>
      </p:sp>
      <p:sp>
        <p:nvSpPr>
          <p:cNvPr id="15" name="Rounded Rectangle 14"/>
          <p:cNvSpPr/>
          <p:nvPr/>
        </p:nvSpPr>
        <p:spPr>
          <a:xfrm>
            <a:off x="7473695" y="2185415"/>
            <a:ext cx="292608" cy="292608"/>
          </a:xfrm>
          <a:prstGeom prst="round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88479" y="2679191"/>
            <a:ext cx="1463040" cy="228600"/>
          </a:xfrm>
          <a:prstGeom prst="rect">
            <a:avLst/>
          </a:prstGeom>
          <a:noFill/>
        </p:spPr>
        <p:txBody>
          <a:bodyPr wrap="square" anchor="t" lIns="27432" rIns="27432" tIns="18288" bIns="18288">
            <a:spAutoFit/>
          </a:bodyPr>
          <a:lstStyle/>
          <a:p>
            <a:pPr algn="ctr"/>
            <a:r>
              <a:rPr sz="950" b="1">
                <a:solidFill>
                  <a:srgbClr val="0F172A"/>
                </a:solidFill>
                <a:latin typeface="Aptos"/>
              </a:rPr>
              <a:t>diagnostics + stabilization</a:t>
            </a:r>
          </a:p>
        </p:txBody>
      </p:sp>
      <p:sp>
        <p:nvSpPr>
          <p:cNvPr id="17" name="TextBox 16"/>
          <p:cNvSpPr txBox="1"/>
          <p:nvPr/>
        </p:nvSpPr>
        <p:spPr>
          <a:xfrm>
            <a:off x="6842759" y="2971800"/>
            <a:ext cx="1554480" cy="502920"/>
          </a:xfrm>
          <a:prstGeom prst="rect">
            <a:avLst/>
          </a:prstGeom>
          <a:noFill/>
        </p:spPr>
        <p:txBody>
          <a:bodyPr wrap="square" anchor="t" lIns="27432" rIns="27432" tIns="18288" bIns="18288">
            <a:spAutoFit/>
          </a:bodyPr>
          <a:lstStyle/>
          <a:p>
            <a:pPr algn="ctr"/>
            <a:r>
              <a:rPr sz="700" b="0">
                <a:solidFill>
                  <a:srgbClr val="475569"/>
                </a:solidFill>
                <a:latin typeface="Aptos"/>
              </a:rPr>
              <a:t>coordinated, not queued</a:t>
            </a:r>
          </a:p>
        </p:txBody>
      </p:sp>
      <p:sp>
        <p:nvSpPr>
          <p:cNvPr id="18" name="Rounded Rectangle 17"/>
          <p:cNvSpPr/>
          <p:nvPr/>
        </p:nvSpPr>
        <p:spPr>
          <a:xfrm>
            <a:off x="10826496" y="2185415"/>
            <a:ext cx="292608" cy="292608"/>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0" y="2679191"/>
            <a:ext cx="1463040" cy="228600"/>
          </a:xfrm>
          <a:prstGeom prst="rect">
            <a:avLst/>
          </a:prstGeom>
          <a:noFill/>
        </p:spPr>
        <p:txBody>
          <a:bodyPr wrap="square" anchor="t" lIns="27432" rIns="27432" tIns="18288" bIns="18288">
            <a:spAutoFit/>
          </a:bodyPr>
          <a:lstStyle/>
          <a:p>
            <a:pPr algn="ctr"/>
            <a:r>
              <a:rPr sz="950" b="1">
                <a:solidFill>
                  <a:srgbClr val="0F172A"/>
                </a:solidFill>
                <a:latin typeface="Aptos"/>
              </a:rPr>
              <a:t>reassess</a:t>
            </a:r>
          </a:p>
        </p:txBody>
      </p:sp>
      <p:sp>
        <p:nvSpPr>
          <p:cNvPr id="20" name="TextBox 19"/>
          <p:cNvSpPr txBox="1"/>
          <p:nvPr/>
        </p:nvSpPr>
        <p:spPr>
          <a:xfrm>
            <a:off x="10195560" y="2971800"/>
            <a:ext cx="1554480" cy="502920"/>
          </a:xfrm>
          <a:prstGeom prst="rect">
            <a:avLst/>
          </a:prstGeom>
          <a:noFill/>
        </p:spPr>
        <p:txBody>
          <a:bodyPr wrap="square" anchor="t" lIns="27432" rIns="27432" tIns="18288" bIns="18288">
            <a:spAutoFit/>
          </a:bodyPr>
          <a:lstStyle/>
          <a:p>
            <a:pPr algn="ctr"/>
            <a:r>
              <a:rPr sz="700" b="0">
                <a:solidFill>
                  <a:srgbClr val="475569"/>
                </a:solidFill>
                <a:latin typeface="Aptos"/>
              </a:rPr>
              <a:t>continuous, not at the next scheduled check</a:t>
            </a:r>
          </a:p>
        </p:txBody>
      </p:sp>
      <p:sp>
        <p:nvSpPr>
          <p:cNvPr id="21" name="Rounded Rectangle 2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Timing explains which patient teaching and safety cues matter.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ESCALATE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What you hand over when you escalate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instructor-added</a:t>
            </a:r>
          </a:p>
        </p:txBody>
      </p:sp>
      <p:sp>
        <p:nvSpPr>
          <p:cNvPr id="8" name="Rounded Rectangle 7"/>
          <p:cNvSpPr/>
          <p:nvPr/>
        </p:nvSpPr>
        <p:spPr>
          <a:xfrm>
            <a:off x="502920"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Trend</a:t>
            </a:r>
          </a:p>
        </p:txBody>
      </p:sp>
      <p:sp>
        <p:nvSpPr>
          <p:cNvPr id="11" name="TextBox 10"/>
          <p:cNvSpPr txBox="1"/>
          <p:nvPr/>
        </p:nvSpPr>
        <p:spPr>
          <a:xfrm>
            <a:off x="667512"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What has changed, in which direction, over what period.</a:t>
            </a:r>
          </a:p>
        </p:txBody>
      </p:sp>
      <p:sp>
        <p:nvSpPr>
          <p:cNvPr id="12" name="Rounded Rectangle 11"/>
          <p:cNvSpPr/>
          <p:nvPr/>
        </p:nvSpPr>
        <p:spPr>
          <a:xfrm>
            <a:off x="3340531"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95395"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5123"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Suspected source</a:t>
            </a:r>
          </a:p>
        </p:txBody>
      </p:sp>
      <p:sp>
        <p:nvSpPr>
          <p:cNvPr id="15" name="TextBox 14"/>
          <p:cNvSpPr txBox="1"/>
          <p:nvPr/>
        </p:nvSpPr>
        <p:spPr>
          <a:xfrm>
            <a:off x="3505123"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Why infection is suspected.</a:t>
            </a:r>
          </a:p>
        </p:txBody>
      </p:sp>
      <p:sp>
        <p:nvSpPr>
          <p:cNvPr id="16" name="Rounded Rectangle 15"/>
          <p:cNvSpPr/>
          <p:nvPr/>
        </p:nvSpPr>
        <p:spPr>
          <a:xfrm>
            <a:off x="6178143"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Systems</a:t>
            </a:r>
          </a:p>
        </p:txBody>
      </p:sp>
      <p:sp>
        <p:nvSpPr>
          <p:cNvPr id="19" name="TextBox 18"/>
          <p:cNvSpPr txBox="1"/>
          <p:nvPr/>
        </p:nvSpPr>
        <p:spPr>
          <a:xfrm>
            <a:off x="6342735"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Which organs are reporting dysfunction.</a:t>
            </a:r>
          </a:p>
        </p:txBody>
      </p:sp>
      <p:sp>
        <p:nvSpPr>
          <p:cNvPr id="20" name="Rounded Rectangle 19"/>
          <p:cNvSpPr/>
          <p:nvPr/>
        </p:nvSpPr>
        <p:spPr>
          <a:xfrm>
            <a:off x="9015755" y="114300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70619" y="1289304"/>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347" y="1252728"/>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Already begun</a:t>
            </a:r>
          </a:p>
        </p:txBody>
      </p:sp>
      <p:sp>
        <p:nvSpPr>
          <p:cNvPr id="23" name="TextBox 22"/>
          <p:cNvSpPr txBox="1"/>
          <p:nvPr/>
        </p:nvSpPr>
        <p:spPr>
          <a:xfrm>
            <a:off x="9180347" y="1581912"/>
            <a:ext cx="2416987" cy="704088"/>
          </a:xfrm>
          <a:prstGeom prst="rect">
            <a:avLst/>
          </a:prstGeom>
          <a:noFill/>
        </p:spPr>
        <p:txBody>
          <a:bodyPr wrap="square" anchor="t" lIns="27432" rIns="27432" tIns="18288" bIns="18288">
            <a:spAutoFit/>
          </a:bodyPr>
          <a:lstStyle/>
          <a:p>
            <a:pPr algn="l"/>
            <a:r>
              <a:rPr sz="900" b="0">
                <a:solidFill>
                  <a:srgbClr val="475569"/>
                </a:solidFill>
                <a:latin typeface="Aptos"/>
              </a:rPr>
              <a:t>Diagnostics obtained, stabilization started.</a:t>
            </a:r>
          </a:p>
        </p:txBody>
      </p:sp>
      <p:sp>
        <p:nvSpPr>
          <p:cNvPr id="24" name="Rounded Rectangle 23"/>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Say it aloud in two sentences: trend, then suspected source.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SIGNAL</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Sort by urgency: which of these calls now?</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Escalate now</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New confusion in possible infection
- Hypotension below this patient's trend
- Urine output falling while heart and respiratory rates rise</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Assess and keep trending</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One value at the edge of normal, unchanged from baseline
- A chronic finding that has not moved</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Place each finding in a column and justify one of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Mini case: the patient who does not improve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Blood pressure remains low after initial interventions for suspected sepsis.</a:t>
            </a:r>
          </a:p>
        </p:txBody>
      </p:sp>
      <p:sp>
        <p:nvSpPr>
          <p:cNvPr id="12" name="Rounded Rectangle 11"/>
          <p:cNvSpPr/>
          <p:nvPr/>
        </p:nvSpPr>
        <p:spPr>
          <a:xfrm>
            <a:off x="502920"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Assess: perfusion, mentation, urine output, and the full trend since the intervention
- Escalate: report immediately that hypotension persists; keep reassessing response
- Avoid: reading a completed intervention as a resolved problem</a:t>
            </a:r>
          </a:p>
        </p:txBody>
      </p:sp>
      <p:sp>
        <p:nvSpPr>
          <p:cNvPr id="16" name="Rounded Rectangle 15"/>
          <p:cNvSpPr/>
          <p:nvPr/>
        </p:nvSpPr>
        <p:spPr>
          <a:xfrm>
            <a:off x="6178143"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6342735"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Write two sentences: one assessment sentence, one escalation sentence.</a:t>
            </a:r>
          </a:p>
        </p:txBody>
      </p:sp>
      <p:sp>
        <p:nvSpPr>
          <p:cNvPr id="20" name="Rounded Rectangle 1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Write two sentences: one assessment sentence, one escalation sentence.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choose the next safe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S18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Blood pressure remains low after initial interventions. The patient is more difficult to rouse than an hour ago.</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priority nursing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Recheck the blood pressure in thirty minutes to confirm the trend before calling.</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Escalate immediately and continue reassessing perfusion and treatment response.</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that interventions were completed as ordered and continue the current plan.</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Reposition the patient and repeat the reading in the other arm before escalating.</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Choose the priority action.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five-item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S19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Name three of the cue families that pair with possible infection</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Which single word makes a finding count as organ dysfunction?</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Does a normal temperature reduce your concern? Why not?</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Name the four components of escalation</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What does persistent hypotension after intervention tell you?</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five.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 notice, name, act together, check again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20</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S20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Notice</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possible infection plus anything new</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Name</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which system is reporting, and which way it is moving</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Act Together</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pathway, communication, diagnostics and stabilization, in parallel</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Check Again</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trend the response; persistent deterioration escalates again</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Carry one frame to the bedside.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