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Therapeutic Communication During Emotional Distress. The concept underneath it is therapeutic communication, and the module rates its safety risk high — its top rating, so this is one to be able to do under pressure rather than one to recognise on a test. Here is the whole lesson in one sentence. Use presence, observation, open invitations, reflection, and direct safety assessment without false reassurance or judgment. By the end you should be able to do three things: select therapeutic responses to distress; avoid common nontherapeutic communication barriers; and escalate statements that indicate possible self-harm. We get there in three moves, and then spend the second half putting all of them against patient cues, because knowing this and doing it at the bedside are not the same skill.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a cue rather than a definition, because that is the order the unit gives you: the patient arrives first and the explanation catches up later. Here it is. A patient says, "Nothing will ever get better." Decide now, before any of this is taught, what you would do and why that thing first. Write it somewhere you will still be able to read at the end, because this exact cue comes back as the first assessment item. Comparing the two answers is most of what the rest of this session is for.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that follows answers one question. Use presence, observation, open invitations, reflection, and direct safety assessment without false reassurance or judgment. Keep that sentence in view for the rest of the session. When a slide stops making sense it is almost always because you have lost which part of this sentence it is working on, and naming the part is the fastest way back. The lesson takes the question in three moves — create space, then clarify, then assess safety — and then asks you to apply all of them to cues you have not seen.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detail second. The lanes on the left are the lesson's teaching moves, in the order a nurse actually performs them; apply and evaluate on the right are where you are made to use them. The reason to show this before teaching any of it is orientation: every cue you meet today sits in one of these lanes, and knowing which lane a cue belongs to usually tells you what to do with it before you can explain why. When you get stuck later, come back to this slide rather than to the last one you read.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before any of this is taught. These three headings are the whole lesson in order, but they are shuffled on the slide. Put them in the sequence the nurse actually performs them at the bedside, then compare with a neighbour before the reveal. Getting the order wrong here is more useful than getting it right: it shows you which move you would have skipped under pressure.</a:t>
            </a:r>
          </a:p>
          <a:p/>
          <a:p>
            <a:r>
              <a:t>ANSWER KEY:</a:t>
            </a:r>
          </a:p>
          <a:p>
            <a:r>
              <a:t>- Create space</a:t>
            </a:r>
          </a:p>
          <a:p>
            <a:r>
              <a:t>- Clarify</a:t>
            </a:r>
          </a:p>
          <a:p>
            <a:r>
              <a:t>- Assess safety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Create space. Use calm presence, observations, and open invitations that allow the patient to set the pace and describe their experience. This is the first of the three, and the two after it assume it. What you get wrong here does not stay here; it propagates quietly into every decision the rest of the lesson asks you to make. Do not move on until you can say this part back without the slide. The test is the objective: if you can select therapeutic responses to distress, this lane has done its job, and if you cannot, nothing later in the lesson will fix it — it will only hide it.</a:t>
            </a:r>
          </a:p>
          <a:p/>
          <a:p>
            <a:r>
              <a:t>VISUAL NOTES: Section 1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Reflect or restate the patient's meaning and ask focused questions when safety or symptoms require clarification. This is the middle move, and it is where most of the disagreement in this lesson will sit: the point at which a defensible action and the priority action stop being the same answer. Do not move on until you can say this part back without the slide. The test is the objective: if you can avoid common nontherapeutic communication barriers, this lane has done its job, and if you cannot, nothing later in the lesson will fix it — it will only hide it.</a:t>
            </a:r>
          </a:p>
          <a:p/>
          <a:p>
            <a:r>
              <a:t>VISUAL NOTES: Section 2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Assess safety. Statements suggesting hopelessness or self-harm require direct, nonjudgmental assessment and immediate protection according to risk. This is the last of the three, and it is the one most often left implicit -- the step learners can describe accurately and then do not actually perform when the first two have gone well. Say it out loud; that is how it survives contact with a busy shift. Do not move on until you can say this part back without the slide. The test is the objective: if you can escalate statements that indicate possible self-harm, this lane has done its job, and if you cannot, nothing later in the lesson will fix it — it will only hide it.</a:t>
            </a:r>
          </a:p>
          <a:p/>
          <a:p>
            <a:r>
              <a:t>VISUAL NOTES: Section 3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four minutes. Every cue on the left was written for one of the lesson moves on the right; your job is to say which, and to be able to defend one of the four out loud. Where the two of you match a cue differently, stop and stay there — you have found a cue whose lane is genuinely arguable, and those are worth more than the three you agreed on instantly. Bring one disagreement to the debrief.</a:t>
            </a:r>
          </a:p>
          <a:p/>
          <a:p>
            <a:r>
              <a:t>ANSWER KEY:</a:t>
            </a:r>
          </a:p>
          <a:p>
            <a:r>
              <a:t>- A relates to: Create space</a:t>
            </a:r>
          </a:p>
          <a:p>
            <a:r>
              <a:t>- B relates to: Clarify</a:t>
            </a:r>
          </a:p>
          <a:p>
            <a:r>
              <a:t>- C relates to: Assess safety</a:t>
            </a:r>
          </a:p>
          <a:p>
            <a:r>
              <a:t>- D relates to: Assess safety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four rationales as a set rather than one at a time. They are deliberately repetitive: the same habit of mind is showing up behind four different cues, and that repetition is the teaching point rather than an accident of writing. A learner who memorises four rules will meet a fifth cue and stall. A learner who can name the one habit will handle cues this lesson never showed them. Say the habit out loud in your own words before you leave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middle of the lesson. The cue is: A grieving patient becomes silent and tearful. Read all four options and commit to one before the reveal, because the value of a checkpoint is in being wrong out loud rather than quietly. The reasoning you are being tested on is this: Therapeutic silence communicates presence without forcing conversation.</a:t>
            </a:r>
          </a:p>
          <a:p/>
          <a:p>
            <a:r>
              <a:t>CORRECT: C</a:t>
            </a:r>
          </a:p>
          <a:p>
            <a:r>
              <a:t>RATIONALE: Therapeutic silence communicates presence without forcing conversation.</a:t>
            </a:r>
          </a:p>
          <a:p/>
          <a:p>
            <a:r>
              <a:t>ANSWER KEY:</a:t>
            </a:r>
          </a:p>
          <a:p>
            <a:r>
              <a:t>- C. Remain present and allow silence while offering the patient time to speak.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bedside moment, and this time you write rather than choose. The situation: A patient says, "Everyone is judging me." Write two sentences before the debrief: one naming what you assess, one naming what you do about it. Keep them in that order, because the order is the judgement. The keyed reasoning is: Reflection validates the expressed feeling and invites clarification.</a:t>
            </a:r>
          </a:p>
          <a:p/>
          <a:p>
            <a:r>
              <a:t>ANSWER KEY:</a:t>
            </a:r>
          </a:p>
          <a:p>
            <a:r>
              <a:t>- Respond, "It sounds as though you feel judged; tell me more about that."</a:t>
            </a:r>
          </a:p>
          <a:p>
            <a:r>
              <a:t>- Reflection validates the expressed feeling and invites clarification.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sorting rule is the point of the slide. Put a cue on the left when delay changes the outcome for the patient, and on the right when the correct action is verification, planning or teaching that a short delay does not worsen. Justify one of your placements aloud. Learners who can sort these reliably are the ones who prioritise well under load.</a:t>
            </a:r>
          </a:p>
          <a:p/>
          <a:p>
            <a:r>
              <a:t>ANSWER KEY:</a:t>
            </a:r>
          </a:p>
          <a:p>
            <a:r>
              <a:t>- Act now: the cues whose keyed action is immediate</a:t>
            </a:r>
          </a:p>
          <a:p>
            <a:r>
              <a:t>- Act in sequence: the cues whose keyed action is verification or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 turned into something you can write down. The module asks you to be able to fill every one of these fields for any patient in this situation, and the value is in the blanks: a field you cannot complete is not a documentation gap, it is an assessment you have not done yet. Fill them now for the mini-case patient, and notice which field you reach for last — that one is your weak lane.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question, and the hardest cue the topic carries: The nurse is tempted to say, "Everything will be fine." All four options are things a nurse might plausibly do, which is what makes it a capstone rather than a checkpoint. Choose the priority action, not merely a defensible one. The reasoning that separates them: False reassurance can close communication and minimize distress.</a:t>
            </a:r>
          </a:p>
          <a:p/>
          <a:p>
            <a:r>
              <a:t>CORRECT: B</a:t>
            </a:r>
          </a:p>
          <a:p>
            <a:r>
              <a:t>RATIONALE: False reassurance can close communication and minimize distress.</a:t>
            </a:r>
          </a:p>
          <a:p/>
          <a:p>
            <a:r>
              <a:t>ANSWER KEY:</a:t>
            </a:r>
          </a:p>
          <a:p>
            <a:r>
              <a:t>- B. Acknowledge uncertainty and explore the patient's specific concern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no notes. Answer each of these aloud or on paper, one per lane of the lesson. The answers are on the slides you have just seen and in the facilitator guide, so this is retrieval rather than assessment. If any one of them produces silence across the room, that is the lane to re-teach before this cohort meets the situation on a real unit.</a:t>
            </a:r>
          </a:p>
          <a:p/>
          <a:p>
            <a:r>
              <a:t>ANSWER KEY:</a:t>
            </a:r>
          </a:p>
          <a:p>
            <a:r>
              <a:t>- Acknowledge emotion before problem-solving.</a:t>
            </a:r>
          </a:p>
          <a:p>
            <a:r>
              <a:t>- Avoid advice and false reassurance.</a:t>
            </a:r>
          </a:p>
          <a:p>
            <a:r>
              <a:t>- Silence can be therapeutic.</a:t>
            </a:r>
          </a:p>
          <a:p>
            <a:r>
              <a:t>- Ask directly about self-harm when indicated.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where we opened. The question was: Use presence, observation, open invitations, reflection, and direct safety assessment without false reassurance or judgment. The lines on this slide are the module's own answer, and they are what should still be there in a week when the detail has gone. If you keep one, keep the first: Acknowledge emotion before problem-solving. Everything else here is that sentence applied to a different cue. Go back now to what you wrote at the opening case and see whether you would still do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Therapeutic Communication During Emotional Distress</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Psychosocial Integrity  ·  Therapeutic_Communication_During_Emotion</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Use presence, observation, open invitations, reflection, and direct safety assessment without false reassurance or judgment.</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Therapeutic Communication During Emotional Distress</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Psychosocial Integrity · safety risk: high</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A patient says, "Nothing will ever get better."</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Objective in play: Select therapeutic responses to distress.
- Concept: Therapeutic Communication</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what is your first action, and why that one first?</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Use presence, observation, open invitations, reflection, and direct safety assessment without false reassurance or judgment.</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Create Space</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Create space</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Clarify</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Clarify</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Assess Safety</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Assess safety</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Apply</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case and items</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retrieval; takeaway</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Create Space</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Create space</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Clarify</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Clarify</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Assess Safety</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Assess safety</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Apply</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mini case → capstone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exit check</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put the three moves in order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Order the three.</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Create space</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Clarify</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Assess safety</a:t>
            </a:r>
          </a:p>
        </p:txBody>
      </p:sp>
      <p:sp>
        <p:nvSpPr>
          <p:cNvPr id="21" name="Rounded Rectangle 20"/>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CREATE SPACE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Create space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Create space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Use calm presence, observations, and open invitations that allow the patient to set the pace and describe their experience.</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Select therapeutic responses to distress.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CLARIFY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Clarify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Clarify</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Reflect or restate the patient's meaning and ask focused questions when safety or symptoms require clarification.</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Avoid common nontherapeutic communication barriers.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ASSESS SAFETY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Assess safety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Assess safety</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Statements suggesting hopelessness or self-harm require direct, nonjudgmental assessment and immediate protection according to risk.</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Escalate statements that indicate possible self-harm.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move it calls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A patient says, "Nothing will ever get better."</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Create space</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A grieving patient becomes silent and tearful.</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Clarify</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A patient says, "Everyone is judging me."</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Assess safety</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A patient is anxious about a procedure.</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Evaluate the result</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the reasoning behind each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Acknowledge the distress and ask directly about thoughts o</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Hopeless statements warrant therapeutic exploration and direct safety assessment.</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Remain present and allow silence while offering the patien</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Therapeutic silence communicates presence without forcing conversation.</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Respond, "It sounds as though you feel judged; tell me mor</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Reflection validates the expressed feeling and invites clarification.</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Ask what concerns them most and provide information respon</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Open exploration identifies the patient's need before teaching.</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why each keyed action follows from its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A grieving patient becomes silent and tearful. What should the nurse do?</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Delay action until the end of the shift.</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Document the finding without reassessment or follow-up.</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Remain present and allow silence while offering the patient time to speak.</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Delegate the clinical judgment decision to unlicensed assistive personnel.</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A patient says, "Everyone is judging me."</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Keyed action: Respond, "It sounds as though you feel judged; tell me more about that."
- Because: Reflection validates the expressed feeling and invites clarification.</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one assessment sentence and one action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Two sentences: what you assess, then what you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 patient says, "Nothing will ever get better."
- A grieving patient becomes silent and tearful.
- A patient says, "Everyone is judging me."</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in sequence</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 patient is anxious about a procedure.
- The nurse is tempted to say, "Everything will be fine."</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cue and justify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Documentation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Observed cue</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Therapeutic response</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Nontherapeutic trap</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Safety question</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Follow-up action</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Record the lesson's decisions in a reusable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The nurse is tempted to say, "Everything will be fine."</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Delay action until the end of the shift.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Acknowledge uncertainty and explore the patient's specific concern instead.</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finding without reassessment or follow-up.</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Delegate the clinical judgment decision to unlicensed assistive personnel.</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Acknowledge emotion before problem-solving.</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Avoid advice and false reassurance.</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Silence can be therapeutic.</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Ask directly about self-harm when indicated.</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Escalate statements that indicate possible self-harm.</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Acknowledge Emotion Before Problem-Solvi</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Acknowledge emotion before problem-solving.</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Avoid Advice And False Reassurance</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Avoid advice and false reassurance.</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Silence Can Be Therapeutic</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Silence can be therapeutic.</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Ask Directly About Self-Harm When Indica</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Ask directly about self-harm when indicated.</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Use presence, observation, open invitations, reflection, and direct safety assessment without false reassurance or judgment.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