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Therapeutic Communication During Emotional Distress. The concept underneath it is therapeutic communication, and the module rates its safety risk high — its top rating, so this is one to be able to do under pressure rather than one to recognise on a test. Here is the whole lesson in one sentence. Use presence, observation, open invitations, reflection, and direct safety assessment without false reassurance or judgment. By the end you should be able to do three things: select therapeutic responses to distress; avoid common nontherapeutic communication barriers; and escalate statements that indicate possible self-harm. We get there in three moves, and then spend the second half putting all of them against patient cues, because knowing this and doing it at the bedside are not the same skill.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start with a cue rather than a definition, because that is the order the unit gives you: the patient arrives first and the explanation catches up later. Here it is. A patient says, "Nothing will ever get better." Decide now, before any of this is taught, what you would do and why that thing first. Write it somewhere you will still be able to read at the end, because this exact cue comes back as the first assessment item. Comparing the two answers is most of what the rest of this session is for.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that follows answers one question. Use presence, observation, open invitations, reflection, and direct safety assessment without false reassurance or judgment. Keep that sentence in view for the rest of the session. When a slide stops making sense it is almost always because you have lost which part of this sentence it is working on, and naming the part is the fastest way back. The lesson takes the question in three moves — create space, then clarify, then assess safety — and then asks you to apply all of them to cues you have not seen.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first, detail second. The lanes on the left are the lesson's teaching moves, in the order a nurse actually performs them; apply and evaluate on the right are where you are made to use them. The reason to show this before teaching any of it is orientation: every cue you meet today sits in one of these lanes, and knowing which lane a cue belongs to usually tells you what to do with it before you can explain why. When you get stuck later, come back to this slide rather than to the last one you read.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minute, before any of this is taught. These three headings are the whole lesson in order, but they are shuffled on the slide. Put them in the sequence the nurse actually performs them at the bedside, then compare with a neighbour before the reveal. Getting the order wrong here is more useful than getting it right: it shows you which move you would have skipped under pressure.</a:t>
            </a:r>
          </a:p>
          <a:p/>
          <a:p>
            <a:r>
              <a:t>ANSWER KEY:</a:t>
            </a:r>
          </a:p>
          <a:p>
            <a:r>
              <a:t>- Create space</a:t>
            </a:r>
          </a:p>
          <a:p>
            <a:r>
              <a:t>- Clarify</a:t>
            </a:r>
          </a:p>
          <a:p>
            <a:r>
              <a:t>- Assess safety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Create space. Use calm presence, observations, and open invitations that allow the patient to set the pace and describe their experience. This is the first of the three, and the two after it assume it. What you get wrong here does not stay here; it propagates quietly into every decision the rest of the lesson asks you to make. Do not move on until you can say this part back without the slide. The test is the objective: if you can select therapeutic responses to distress, this lane has done its job, and if you cannot, nothing later in the lesson will fix it — it will only hide it.</a:t>
            </a:r>
          </a:p>
          <a:p/>
          <a:p>
            <a:r>
              <a:t>VISUAL NOTES: Section 1 of 3 from the source topic.</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Clarify. Reflect or restate the patient's meaning and ask focused questions when safety or symptoms require clarification. This is the middle move, and it is where most of the disagreement in this lesson will sit: the point at which a defensible action and the priority action stop being the same answer. Do not move on until you can say this part back without the slide. The test is the objective: if you can avoid common nontherapeutic communication barriers, this lane has done its job, and if you cannot, nothing later in the lesson will fix it — it will only hide it.</a:t>
            </a:r>
          </a:p>
          <a:p/>
          <a:p>
            <a:r>
              <a:t>VISUAL NOTES: Section 2 of 3 from the source topic.</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Assess safety. Statements suggesting hopelessness or self-harm require direct, nonjudgmental assessment and immediate protection according to risk. This is the last of the three, and it is the one most often left implicit -- the step learners can describe accurately and then do not actually perform when the first two have gone well. Say it out loud; that is how it survives contact with a busy shift. Do not move on until you can say this part back without the slide. The test is the objective: if you can escalate statements that indicate possible self-harm, this lane has done its job, and if you cannot, nothing later in the lesson will fix it — it will only hide it.</a:t>
            </a:r>
          </a:p>
          <a:p/>
          <a:p>
            <a:r>
              <a:t>VISUAL NOTES: Section 3 of 3 from the source topic.</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 in pairs, four minutes. Every cue on the left was written for one of the lesson moves on the right; your job is to say which, and to be able to defend one of the four out loud. Where the two of you match a cue differently, stop and stay there — you have found a cue whose lane is genuinely arguable, and those are worth more than the three you agreed on instantly. Bring one disagreement to the debrief.</a:t>
            </a:r>
          </a:p>
          <a:p/>
          <a:p>
            <a:r>
              <a:t>ANSWER KEY:</a:t>
            </a:r>
          </a:p>
          <a:p>
            <a:r>
              <a:t>- A relates to: Create space</a:t>
            </a:r>
          </a:p>
          <a:p>
            <a:r>
              <a:t>- B relates to: Clarify</a:t>
            </a:r>
          </a:p>
          <a:p>
            <a:r>
              <a:t>- C relates to: Assess safety</a:t>
            </a:r>
          </a:p>
          <a:p>
            <a:r>
              <a:t>- D relates to: Assess safety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four rationales as a set rather than one at a time. They are deliberately repetitive: the same habit of mind is showing up behind four different cues, and that repetition is the teaching point rather than an accident of writing. A learner who memorises four rules will meet a fifth cue and stall. A learner who can name the one habit will handle cues this lesson never showed them. Say the habit out loud in your own words before you leave this slide.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question, and it targets the middle of the lesson. The cue is: A grieving patient becomes silent and tearful. Read all four options and commit to one before the reveal, because the value of a checkpoint is in being wrong out loud rather than quietly. The reasoning you are being tested on is this: Therapeutic silence communicates presence without forcing conversation.</a:t>
            </a:r>
          </a:p>
          <a:p/>
          <a:p>
            <a:r>
              <a:t>CORRECT: C</a:t>
            </a:r>
          </a:p>
          <a:p>
            <a:r>
              <a:t>RATIONALE: Therapeutic silence communicates presence without forcing conversation.</a:t>
            </a:r>
          </a:p>
          <a:p/>
          <a:p>
            <a:r>
              <a:t>ANSWER KEY:</a:t>
            </a:r>
          </a:p>
          <a:p>
            <a:r>
              <a:t>- C. Remain present and allow silence while offering the patient time to speak.</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bedside moment, and this time you write rather than choose. The situation: A patient says, "Everyone is judging me." Write two sentences before the debrief: one naming what you assess, one naming what you do about it. Keep them in that order, because the order is the judgement. The keyed reasoning is: Reflection validates the expressed feeling and invites clarification.</a:t>
            </a:r>
          </a:p>
          <a:p/>
          <a:p>
            <a:r>
              <a:t>ANSWER KEY:</a:t>
            </a:r>
          </a:p>
          <a:p>
            <a:r>
              <a:t>- Respond, "It sounds as though you feel judged; tell me more about that."</a:t>
            </a:r>
          </a:p>
          <a:p>
            <a:r>
              <a:t>- Reflection validates the expressed feeling and invites clarification.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columns, and the sorting rule is the point of the slide. Put a cue on the left when delay changes the outcome for the patient, and on the right when the correct action is verification, planning or teaching that a short delay does not worsen. Justify one of your placements aloud. Learners who can sort these reliably are the ones who prioritise well under load.</a:t>
            </a:r>
          </a:p>
          <a:p/>
          <a:p>
            <a:r>
              <a:t>ANSWER KEY:</a:t>
            </a:r>
          </a:p>
          <a:p>
            <a:r>
              <a:t>- Act now: the cues whose keyed action is immediate</a:t>
            </a:r>
          </a:p>
          <a:p>
            <a:r>
              <a:t>- Act in sequence: the cues whose keyed action is verification or planning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lesson turned into something you can write down. The module asks you to be able to fill every one of these fields for any patient in this situation, and the value is in the blanks: a field you cannot complete is not a documentation gap, it is an assessment you have not done yet. Fill them now for the mini-case patient, and notice which field you reach for last — that one is your weak lane.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last question, and the hardest cue the topic carries: The nurse is tempted to say, "Everything will be fine." All four options are things a nurse might plausibly do, which is what makes it a capstone rather than a checkpoint. Choose the priority action, not merely a defensible one. The reasoning that separates them: False reassurance can close communication and minimize distress.</a:t>
            </a:r>
          </a:p>
          <a:p/>
          <a:p>
            <a:r>
              <a:t>CORRECT: B</a:t>
            </a:r>
          </a:p>
          <a:p>
            <a:r>
              <a:t>RATIONALE: False reassurance can close communication and minimize distress.</a:t>
            </a:r>
          </a:p>
          <a:p/>
          <a:p>
            <a:r>
              <a:t>ANSWER KEY:</a:t>
            </a:r>
          </a:p>
          <a:p>
            <a:r>
              <a:t>- B. Acknowledge uncertainty and explore the patient's specific concern instead.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the loop with no notes. Answer each of these aloud or on paper, one per lane of the lesson. The answers are on the slides you have just seen and in the facilitator guide, so this is retrieval rather than assessment. If any one of them produces silence across the room, that is the lane to re-teach before this cohort meets the situation on a real unit.</a:t>
            </a:r>
          </a:p>
          <a:p/>
          <a:p>
            <a:r>
              <a:t>ANSWER KEY:</a:t>
            </a:r>
          </a:p>
          <a:p>
            <a:r>
              <a:t>- Acknowledge emotion before problem-solving.</a:t>
            </a:r>
          </a:p>
          <a:p>
            <a:r>
              <a:t>- Avoid advice and false reassurance.</a:t>
            </a:r>
          </a:p>
          <a:p>
            <a:r>
              <a:t>- Silence can be therapeutic.</a:t>
            </a:r>
          </a:p>
          <a:p>
            <a:r>
              <a:t>- Ask directly about self-harm when indicated.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where we opened. The question was: Use presence, observation, open invitations, reflection, and direct safety assessment without false reassurance or judgment. The lines on this slide are the module's own answer, and they are what should still be there in a week when the detail has gone. If you keep one, keep the first: Acknowledge emotion before problem-solving. Everything else here is that sentence applied to a different cue. Go back now to what you wrote at the opening case and see whether you would still do 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502920" y="457200"/>
            <a:ext cx="2194560" cy="182880"/>
          </a:xfrm>
          <a:prstGeom prst="rect">
            <a:avLst/>
          </a:prstGeom>
          <a:noFill/>
        </p:spPr>
        <p:txBody>
          <a:bodyPr wrap="square" anchor="t" lIns="27432" rIns="27432" tIns="18288" bIns="18288">
            <a:spAutoFit/>
          </a:bodyPr>
          <a:lstStyle/>
          <a:p>
            <a:pPr algn="l"/>
            <a:r>
              <a:rPr sz="720" b="1">
                <a:solidFill>
                  <a:srgbClr val="2563EB"/>
                </a:solidFill>
                <a:latin typeface="Aptos"/>
              </a:rPr>
              <a:t>OPEN</a:t>
            </a:r>
          </a:p>
        </p:txBody>
      </p:sp>
      <p:sp>
        <p:nvSpPr>
          <p:cNvPr id="3" name="TextBox 2"/>
          <p:cNvSpPr txBox="1"/>
          <p:nvPr/>
        </p:nvSpPr>
        <p:spPr>
          <a:xfrm>
            <a:off x="502920" y="822960"/>
            <a:ext cx="7498079" cy="548640"/>
          </a:xfrm>
          <a:prstGeom prst="rect">
            <a:avLst/>
          </a:prstGeom>
          <a:noFill/>
        </p:spPr>
        <p:txBody>
          <a:bodyPr wrap="square" anchor="t" lIns="27432" rIns="27432" tIns="18288" bIns="18288">
            <a:spAutoFit/>
          </a:bodyPr>
          <a:lstStyle/>
          <a:p>
            <a:pPr algn="l"/>
            <a:r>
              <a:rPr sz="2800" b="1">
                <a:solidFill>
                  <a:srgbClr val="0F172A"/>
                </a:solidFill>
                <a:latin typeface="Aptos"/>
              </a:rPr>
              <a:t>Therapeutic Communication During Emotional Distress</a:t>
            </a:r>
          </a:p>
        </p:txBody>
      </p:sp>
      <p:sp>
        <p:nvSpPr>
          <p:cNvPr id="4" name="TextBox 3"/>
          <p:cNvSpPr txBox="1"/>
          <p:nvPr/>
        </p:nvSpPr>
        <p:spPr>
          <a:xfrm>
            <a:off x="530352" y="1463040"/>
            <a:ext cx="7589520" cy="438912"/>
          </a:xfrm>
          <a:prstGeom prst="rect">
            <a:avLst/>
          </a:prstGeom>
          <a:noFill/>
        </p:spPr>
        <p:txBody>
          <a:bodyPr wrap="square" anchor="t" lIns="27432" rIns="27432" tIns="18288" bIns="18288">
            <a:spAutoFit/>
          </a:bodyPr>
          <a:lstStyle/>
          <a:p>
            <a:pPr algn="l"/>
            <a:r>
              <a:rPr sz="1200" b="0">
                <a:solidFill>
                  <a:srgbClr val="475569"/>
                </a:solidFill>
                <a:latin typeface="Aptos"/>
              </a:rPr>
              <a:t>NCLEX  ·  Psychosocial Integrity  ·  Therapeutic_Communication_During_Emotion</a:t>
            </a:r>
          </a:p>
        </p:txBody>
      </p:sp>
      <p:sp>
        <p:nvSpPr>
          <p:cNvPr id="5" name="Rounded Rectangle 4"/>
          <p:cNvSpPr/>
          <p:nvPr/>
        </p:nvSpPr>
        <p:spPr>
          <a:xfrm>
            <a:off x="502920" y="2331720"/>
            <a:ext cx="5303520" cy="105156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57784" y="2478024"/>
            <a:ext cx="45720" cy="758951"/>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 y="2441448"/>
            <a:ext cx="5047488" cy="292608"/>
          </a:xfrm>
          <a:prstGeom prst="rect">
            <a:avLst/>
          </a:prstGeom>
          <a:noFill/>
        </p:spPr>
        <p:txBody>
          <a:bodyPr wrap="square" anchor="t" lIns="27432" rIns="27432" tIns="18288" bIns="18288">
            <a:spAutoFit/>
          </a:bodyPr>
          <a:lstStyle/>
          <a:p>
            <a:pPr algn="l"/>
            <a:r>
              <a:rPr sz="1300" b="1">
                <a:solidFill>
                  <a:srgbClr val="0F172A"/>
                </a:solidFill>
                <a:latin typeface="Aptos"/>
              </a:rPr>
              <a:t>clinical question</a:t>
            </a:r>
          </a:p>
        </p:txBody>
      </p:sp>
      <p:sp>
        <p:nvSpPr>
          <p:cNvPr id="8" name="TextBox 7"/>
          <p:cNvSpPr txBox="1"/>
          <p:nvPr/>
        </p:nvSpPr>
        <p:spPr>
          <a:xfrm>
            <a:off x="667512" y="2770632"/>
            <a:ext cx="5047488" cy="521207"/>
          </a:xfrm>
          <a:prstGeom prst="rect">
            <a:avLst/>
          </a:prstGeom>
          <a:noFill/>
        </p:spPr>
        <p:txBody>
          <a:bodyPr wrap="square" anchor="t" lIns="27432" rIns="27432" tIns="18288" bIns="18288">
            <a:spAutoFit/>
          </a:bodyPr>
          <a:lstStyle/>
          <a:p>
            <a:pPr algn="l"/>
            <a:r>
              <a:rPr sz="900" b="0">
                <a:solidFill>
                  <a:srgbClr val="475569"/>
                </a:solidFill>
                <a:latin typeface="Aptos"/>
              </a:rPr>
              <a:t>Use presence, observation, open invitations, reflection, and direct safety assessment without false reassurance or judgment.</a:t>
            </a:r>
          </a:p>
        </p:txBody>
      </p:sp>
      <p:sp>
        <p:nvSpPr>
          <p:cNvPr id="9" name="Rounded Rectangle 8"/>
          <p:cNvSpPr/>
          <p:nvPr/>
        </p:nvSpPr>
        <p:spPr>
          <a:xfrm>
            <a:off x="502920" y="3611880"/>
            <a:ext cx="5303520" cy="132588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57784" y="3758184"/>
            <a:ext cx="45720" cy="1033271"/>
          </a:xfrm>
          <a:prstGeom prst="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 y="3721608"/>
            <a:ext cx="5047488" cy="292608"/>
          </a:xfrm>
          <a:prstGeom prst="rect">
            <a:avLst/>
          </a:prstGeom>
          <a:noFill/>
        </p:spPr>
        <p:txBody>
          <a:bodyPr wrap="square" anchor="t" lIns="27432" rIns="27432" tIns="18288" bIns="18288">
            <a:spAutoFit/>
          </a:bodyPr>
          <a:lstStyle/>
          <a:p>
            <a:pPr algn="l"/>
            <a:r>
              <a:rPr sz="1300" b="1">
                <a:solidFill>
                  <a:srgbClr val="0F172A"/>
                </a:solidFill>
                <a:latin typeface="Aptos"/>
              </a:rPr>
              <a:t>today is not a vocabulary tour</a:t>
            </a:r>
          </a:p>
        </p:txBody>
      </p:sp>
      <p:sp>
        <p:nvSpPr>
          <p:cNvPr id="12" name="TextBox 11"/>
          <p:cNvSpPr txBox="1"/>
          <p:nvPr/>
        </p:nvSpPr>
        <p:spPr>
          <a:xfrm>
            <a:off x="667512" y="4050791"/>
            <a:ext cx="5047488" cy="795528"/>
          </a:xfrm>
          <a:prstGeom prst="rect">
            <a:avLst/>
          </a:prstGeom>
          <a:noFill/>
        </p:spPr>
        <p:txBody>
          <a:bodyPr wrap="square" anchor="t" lIns="27432" rIns="27432" tIns="18288" bIns="18288">
            <a:spAutoFit/>
          </a:bodyPr>
          <a:lstStyle/>
          <a:p>
            <a:pPr algn="l"/>
            <a:r>
              <a:rPr sz="900" b="0">
                <a:solidFill>
                  <a:srgbClr val="475569"/>
                </a:solidFill>
                <a:latin typeface="Aptos"/>
              </a:rPr>
              <a:t>you will use the science only when it explains a patient question or a safety decision.</a:t>
            </a:r>
          </a:p>
        </p:txBody>
      </p:sp>
      <p:sp>
        <p:nvSpPr>
          <p:cNvPr id="13" name="Rounded Rectangle 12"/>
          <p:cNvSpPr/>
          <p:nvPr/>
        </p:nvSpPr>
        <p:spPr>
          <a:xfrm>
            <a:off x="8458200" y="502920"/>
            <a:ext cx="1965960" cy="196596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32520" y="914400"/>
            <a:ext cx="1417320" cy="274320"/>
          </a:xfrm>
          <a:prstGeom prst="rect">
            <a:avLst/>
          </a:prstGeom>
          <a:noFill/>
        </p:spPr>
        <p:txBody>
          <a:bodyPr wrap="square" anchor="t" lIns="27432" rIns="27432" tIns="18288" bIns="18288">
            <a:spAutoFit/>
          </a:bodyPr>
          <a:lstStyle/>
          <a:p>
            <a:pPr algn="ctr"/>
            <a:r>
              <a:rPr sz="1300" b="1">
                <a:solidFill>
                  <a:srgbClr val="2563EB"/>
                </a:solidFill>
                <a:latin typeface="Aptos"/>
              </a:rPr>
              <a:t>Nurse lens</a:t>
            </a:r>
          </a:p>
        </p:txBody>
      </p:sp>
      <p:sp>
        <p:nvSpPr>
          <p:cNvPr id="15" name="TextBox 14"/>
          <p:cNvSpPr txBox="1"/>
          <p:nvPr/>
        </p:nvSpPr>
        <p:spPr>
          <a:xfrm>
            <a:off x="8915400" y="1234440"/>
            <a:ext cx="1097280" cy="685800"/>
          </a:xfrm>
          <a:prstGeom prst="rect">
            <a:avLst/>
          </a:prstGeom>
          <a:noFill/>
        </p:spPr>
        <p:txBody>
          <a:bodyPr wrap="square" anchor="t" lIns="27432" rIns="27432" tIns="18288" bIns="18288">
            <a:spAutoFit/>
          </a:bodyPr>
          <a:lstStyle/>
          <a:p>
            <a:pPr algn="ctr"/>
            <a:r>
              <a:rPr sz="1000" b="1">
                <a:solidFill>
                  <a:srgbClr val="0F172A"/>
                </a:solidFill>
                <a:latin typeface="Aptos"/>
              </a:rPr>
              <a:t>TEACH
ASSESS
ESCALATE</a:t>
            </a:r>
          </a:p>
        </p:txBody>
      </p:sp>
      <p:sp>
        <p:nvSpPr>
          <p:cNvPr id="16" name="Rounded Rectangle 15"/>
          <p:cNvSpPr/>
          <p:nvPr/>
        </p:nvSpPr>
        <p:spPr>
          <a:xfrm>
            <a:off x="640080" y="5257800"/>
            <a:ext cx="2423160" cy="658368"/>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94944" y="5404104"/>
            <a:ext cx="45720" cy="365759"/>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4671" y="5367528"/>
            <a:ext cx="2167128" cy="292608"/>
          </a:xfrm>
          <a:prstGeom prst="rect">
            <a:avLst/>
          </a:prstGeom>
          <a:noFill/>
        </p:spPr>
        <p:txBody>
          <a:bodyPr wrap="square" anchor="t" lIns="27432" rIns="27432" tIns="18288" bIns="18288">
            <a:spAutoFit/>
          </a:bodyPr>
          <a:lstStyle/>
          <a:p>
            <a:pPr algn="l"/>
            <a:r>
              <a:rPr sz="1200" b="1">
                <a:solidFill>
                  <a:srgbClr val="0F172A"/>
                </a:solidFill>
                <a:latin typeface="Aptos"/>
              </a:rPr>
              <a:t>1</a:t>
            </a:r>
          </a:p>
        </p:txBody>
      </p:sp>
      <p:sp>
        <p:nvSpPr>
          <p:cNvPr id="19" name="TextBox 18"/>
          <p:cNvSpPr txBox="1"/>
          <p:nvPr/>
        </p:nvSpPr>
        <p:spPr>
          <a:xfrm>
            <a:off x="804671" y="5696712"/>
            <a:ext cx="2167128" cy="128016"/>
          </a:xfrm>
          <a:prstGeom prst="rect">
            <a:avLst/>
          </a:prstGeom>
          <a:noFill/>
        </p:spPr>
        <p:txBody>
          <a:bodyPr wrap="square" anchor="t" lIns="27432" rIns="27432" tIns="18288" bIns="18288">
            <a:spAutoFit/>
          </a:bodyPr>
          <a:lstStyle/>
          <a:p>
            <a:pPr algn="l"/>
            <a:r>
              <a:rPr sz="800" b="0">
                <a:solidFill>
                  <a:srgbClr val="475569"/>
                </a:solidFill>
                <a:latin typeface="Aptos"/>
              </a:rPr>
              <a:t>Therapeutic Communication During Emotional Distress</a:t>
            </a:r>
          </a:p>
        </p:txBody>
      </p:sp>
      <p:sp>
        <p:nvSpPr>
          <p:cNvPr id="20" name="Rounded Rectangle 19"/>
          <p:cNvSpPr/>
          <p:nvPr/>
        </p:nvSpPr>
        <p:spPr>
          <a:xfrm>
            <a:off x="3429000" y="5257800"/>
            <a:ext cx="2423160" cy="658368"/>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483864" y="5404104"/>
            <a:ext cx="45720" cy="365759"/>
          </a:xfrm>
          <a:prstGeom prst="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593592" y="5367528"/>
            <a:ext cx="2167128" cy="292608"/>
          </a:xfrm>
          <a:prstGeom prst="rect">
            <a:avLst/>
          </a:prstGeom>
          <a:noFill/>
        </p:spPr>
        <p:txBody>
          <a:bodyPr wrap="square" anchor="t" lIns="27432" rIns="27432" tIns="18288" bIns="18288">
            <a:spAutoFit/>
          </a:bodyPr>
          <a:lstStyle/>
          <a:p>
            <a:pPr algn="l"/>
            <a:r>
              <a:rPr sz="1200" b="1">
                <a:solidFill>
                  <a:srgbClr val="0F172A"/>
                </a:solidFill>
                <a:latin typeface="Aptos"/>
              </a:rPr>
              <a:t>2</a:t>
            </a:r>
          </a:p>
        </p:txBody>
      </p:sp>
      <p:sp>
        <p:nvSpPr>
          <p:cNvPr id="23" name="TextBox 22"/>
          <p:cNvSpPr txBox="1"/>
          <p:nvPr/>
        </p:nvSpPr>
        <p:spPr>
          <a:xfrm>
            <a:off x="3593592" y="5696712"/>
            <a:ext cx="2167128" cy="128016"/>
          </a:xfrm>
          <a:prstGeom prst="rect">
            <a:avLst/>
          </a:prstGeom>
          <a:noFill/>
        </p:spPr>
        <p:txBody>
          <a:bodyPr wrap="square" anchor="t" lIns="27432" rIns="27432" tIns="18288" bIns="18288">
            <a:spAutoFit/>
          </a:bodyPr>
          <a:lstStyle/>
          <a:p>
            <a:pPr algn="l"/>
            <a:r>
              <a:rPr sz="800" b="0">
                <a:solidFill>
                  <a:srgbClr val="475569"/>
                </a:solidFill>
                <a:latin typeface="Aptos"/>
              </a:rPr>
              <a:t>Prelicensure RN · Psychosocial Integrity · safety risk: high</a:t>
            </a:r>
          </a:p>
        </p:txBody>
      </p:sp>
      <p:sp>
        <p:nvSpPr>
          <p:cNvPr id="24" name="TextBox 23"/>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25" name="TextBox 24"/>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S01  ·  instructor-added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OPEN</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Opening case</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2</a:t>
            </a:r>
          </a:p>
        </p:txBody>
      </p:sp>
      <p:sp>
        <p:nvSpPr>
          <p:cNvPr id="5" name="TextBox 4"/>
          <p:cNvSpPr txBox="1"/>
          <p:nvPr/>
        </p:nvSpPr>
        <p:spPr>
          <a:xfrm>
            <a:off x="320040" y="6510528"/>
            <a:ext cx="4023360" cy="128016"/>
          </a:xfrm>
          <a:prstGeom prst="rect">
            <a:avLst/>
          </a:prstGeom>
          <a:noFill/>
        </p:spPr>
        <p:txBody>
          <a:bodyPr wrap="square" anchor="t" lIns="27432" rIns="27432" tIns="18288" bIns="18288">
            <a:spAutoFit/>
          </a:bodyPr>
          <a:lstStyle/>
          <a:p>
            <a:pPr algn="l"/>
            <a:r>
              <a:rPr sz="570" b="0">
                <a:solidFill>
                  <a:srgbClr val="475569"/>
                </a:solidFill>
                <a:latin typeface="Aptos"/>
              </a:rPr>
              <a:t>CJM: recognize cues</a:t>
            </a:r>
          </a:p>
        </p:txBody>
      </p:sp>
      <p:sp>
        <p:nvSpPr>
          <p:cNvPr id="6" name="TextBox 5"/>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7" name="TextBox 6"/>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S02  ·  source-aligned</a:t>
            </a:r>
          </a:p>
        </p:txBody>
      </p:sp>
      <p:sp>
        <p:nvSpPr>
          <p:cNvPr id="8" name="Rounded Rectangle 7"/>
          <p:cNvSpPr/>
          <p:nvPr/>
        </p:nvSpPr>
        <p:spPr>
          <a:xfrm>
            <a:off x="548640" y="1097280"/>
            <a:ext cx="5394960" cy="1325880"/>
          </a:xfrm>
          <a:prstGeom prst="roundRect">
            <a:avLst/>
          </a:prstGeom>
          <a:solidFill>
            <a:srgbClr val="FFF7ED"/>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03503" y="1243584"/>
            <a:ext cx="45720" cy="1033271"/>
          </a:xfrm>
          <a:prstGeom prst="rect">
            <a:avLst/>
          </a:prstGeom>
          <a:solidFill>
            <a:srgbClr val="EA580C"/>
          </a:solidFill>
          <a:ln w="127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1207007"/>
            <a:ext cx="5138928" cy="292608"/>
          </a:xfrm>
          <a:prstGeom prst="rect">
            <a:avLst/>
          </a:prstGeom>
          <a:noFill/>
        </p:spPr>
        <p:txBody>
          <a:bodyPr wrap="square" anchor="t" lIns="27432" rIns="27432" tIns="18288" bIns="18288">
            <a:spAutoFit/>
          </a:bodyPr>
          <a:lstStyle/>
          <a:p>
            <a:pPr algn="l"/>
            <a:r>
              <a:rPr sz="1300" b="1">
                <a:solidFill>
                  <a:srgbClr val="0F172A"/>
                </a:solidFill>
                <a:latin typeface="Aptos"/>
              </a:rPr>
              <a:t>patient says</a:t>
            </a:r>
          </a:p>
        </p:txBody>
      </p:sp>
      <p:sp>
        <p:nvSpPr>
          <p:cNvPr id="11" name="TextBox 10"/>
          <p:cNvSpPr txBox="1"/>
          <p:nvPr/>
        </p:nvSpPr>
        <p:spPr>
          <a:xfrm>
            <a:off x="713232" y="1536192"/>
            <a:ext cx="5138928" cy="795528"/>
          </a:xfrm>
          <a:prstGeom prst="rect">
            <a:avLst/>
          </a:prstGeom>
          <a:noFill/>
        </p:spPr>
        <p:txBody>
          <a:bodyPr wrap="square" anchor="t" lIns="27432" rIns="27432" tIns="18288" bIns="18288">
            <a:spAutoFit/>
          </a:bodyPr>
          <a:lstStyle/>
          <a:p>
            <a:pPr algn="l"/>
            <a:r>
              <a:rPr sz="1000" b="0">
                <a:solidFill>
                  <a:srgbClr val="475569"/>
                </a:solidFill>
                <a:latin typeface="Aptos"/>
              </a:rPr>
              <a:t>A patient says, "Nothing will ever get better."</a:t>
            </a:r>
          </a:p>
        </p:txBody>
      </p:sp>
      <p:sp>
        <p:nvSpPr>
          <p:cNvPr id="12" name="Rounded Rectangle 11"/>
          <p:cNvSpPr/>
          <p:nvPr/>
        </p:nvSpPr>
        <p:spPr>
          <a:xfrm>
            <a:off x="548640" y="2743200"/>
            <a:ext cx="2651760" cy="182880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03503" y="2889504"/>
            <a:ext cx="45720" cy="1536192"/>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2852928"/>
            <a:ext cx="2395728" cy="292608"/>
          </a:xfrm>
          <a:prstGeom prst="rect">
            <a:avLst/>
          </a:prstGeom>
          <a:noFill/>
        </p:spPr>
        <p:txBody>
          <a:bodyPr wrap="square" anchor="t" lIns="27432" rIns="27432" tIns="18288" bIns="18288">
            <a:spAutoFit/>
          </a:bodyPr>
          <a:lstStyle/>
          <a:p>
            <a:pPr algn="l"/>
            <a:r>
              <a:rPr sz="1200" b="1">
                <a:solidFill>
                  <a:srgbClr val="0F172A"/>
                </a:solidFill>
                <a:latin typeface="Aptos"/>
              </a:rPr>
              <a:t>what you know so far</a:t>
            </a:r>
          </a:p>
        </p:txBody>
      </p:sp>
      <p:sp>
        <p:nvSpPr>
          <p:cNvPr id="15" name="TextBox 14"/>
          <p:cNvSpPr txBox="1"/>
          <p:nvPr/>
        </p:nvSpPr>
        <p:spPr>
          <a:xfrm>
            <a:off x="713232" y="3182112"/>
            <a:ext cx="2395728" cy="1298448"/>
          </a:xfrm>
          <a:prstGeom prst="rect">
            <a:avLst/>
          </a:prstGeom>
          <a:noFill/>
        </p:spPr>
        <p:txBody>
          <a:bodyPr wrap="square" anchor="t" lIns="27432" rIns="27432" tIns="18288" bIns="18288">
            <a:spAutoFit/>
          </a:bodyPr>
          <a:lstStyle/>
          <a:p>
            <a:pPr algn="l"/>
            <a:r>
              <a:rPr sz="850" b="0">
                <a:solidFill>
                  <a:srgbClr val="475569"/>
                </a:solidFill>
                <a:latin typeface="Aptos"/>
              </a:rPr>
              <a:t>- Objective in play: Select therapeutic responses to distress.
- Concept: Therapeutic Communication</a:t>
            </a:r>
          </a:p>
        </p:txBody>
      </p:sp>
      <p:sp>
        <p:nvSpPr>
          <p:cNvPr id="16" name="Rounded Rectangle 15"/>
          <p:cNvSpPr/>
          <p:nvPr/>
        </p:nvSpPr>
        <p:spPr>
          <a:xfrm>
            <a:off x="3429000" y="2743200"/>
            <a:ext cx="2651760" cy="182880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483864" y="2889504"/>
            <a:ext cx="45720" cy="1536192"/>
          </a:xfrm>
          <a:prstGeom prst="rect">
            <a:avLst/>
          </a:prstGeom>
          <a:solidFill>
            <a:srgbClr val="7C3AED"/>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93592" y="2852928"/>
            <a:ext cx="2395728" cy="292608"/>
          </a:xfrm>
          <a:prstGeom prst="rect">
            <a:avLst/>
          </a:prstGeom>
          <a:noFill/>
        </p:spPr>
        <p:txBody>
          <a:bodyPr wrap="square" anchor="t" lIns="27432" rIns="27432" tIns="18288" bIns="18288">
            <a:spAutoFit/>
          </a:bodyPr>
          <a:lstStyle/>
          <a:p>
            <a:pPr algn="l"/>
            <a:r>
              <a:rPr sz="1200" b="1">
                <a:solidFill>
                  <a:srgbClr val="0F172A"/>
                </a:solidFill>
                <a:latin typeface="Aptos"/>
              </a:rPr>
              <a:t>what you do not know yet</a:t>
            </a:r>
          </a:p>
        </p:txBody>
      </p:sp>
      <p:sp>
        <p:nvSpPr>
          <p:cNvPr id="19" name="Rounded Rectangle 18"/>
          <p:cNvSpPr/>
          <p:nvPr/>
        </p:nvSpPr>
        <p:spPr>
          <a:xfrm>
            <a:off x="6629400" y="1097280"/>
            <a:ext cx="4389120" cy="3520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684264" y="1243584"/>
            <a:ext cx="45720" cy="3227832"/>
          </a:xfrm>
          <a:prstGeom prst="rect">
            <a:avLst/>
          </a:prstGeom>
          <a:solidFill>
            <a:srgbClr val="DC2626"/>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793992" y="1207007"/>
            <a:ext cx="4133087" cy="292608"/>
          </a:xfrm>
          <a:prstGeom prst="rect">
            <a:avLst/>
          </a:prstGeom>
          <a:noFill/>
        </p:spPr>
        <p:txBody>
          <a:bodyPr wrap="square" anchor="t" lIns="27432" rIns="27432" tIns="18288" bIns="18288">
            <a:spAutoFit/>
          </a:bodyPr>
          <a:lstStyle/>
          <a:p>
            <a:pPr algn="l"/>
            <a:r>
              <a:rPr sz="1400" b="1">
                <a:solidFill>
                  <a:srgbClr val="0F172A"/>
                </a:solidFill>
                <a:latin typeface="Aptos"/>
              </a:rPr>
              <a:t>your first task</a:t>
            </a:r>
          </a:p>
        </p:txBody>
      </p:sp>
      <p:sp>
        <p:nvSpPr>
          <p:cNvPr id="22" name="TextBox 21"/>
          <p:cNvSpPr txBox="1"/>
          <p:nvPr/>
        </p:nvSpPr>
        <p:spPr>
          <a:xfrm>
            <a:off x="6793992" y="1536192"/>
            <a:ext cx="4133087" cy="2990088"/>
          </a:xfrm>
          <a:prstGeom prst="rect">
            <a:avLst/>
          </a:prstGeom>
          <a:noFill/>
        </p:spPr>
        <p:txBody>
          <a:bodyPr wrap="square" anchor="t" lIns="27432" rIns="27432" tIns="18288" bIns="18288">
            <a:spAutoFit/>
          </a:bodyPr>
          <a:lstStyle/>
          <a:p>
            <a:pPr algn="l"/>
            <a:r>
              <a:rPr sz="1000" b="0">
                <a:solidFill>
                  <a:srgbClr val="475569"/>
                </a:solidFill>
                <a:latin typeface="Aptos"/>
              </a:rPr>
              <a:t>Thirty seconds: what is your first action, and why that one first?</a:t>
            </a:r>
          </a:p>
        </p:txBody>
      </p:sp>
      <p:sp>
        <p:nvSpPr>
          <p:cNvPr id="23" name="Rounded Rectangle 22"/>
          <p:cNvSpPr/>
          <p:nvPr/>
        </p:nvSpPr>
        <p:spPr>
          <a:xfrm>
            <a:off x="1188720" y="5989320"/>
            <a:ext cx="9784080" cy="411480"/>
          </a:xfrm>
          <a:prstGeom prst="roundRect">
            <a:avLst/>
          </a:prstGeom>
          <a:solidFill>
            <a:srgbClr val="FEF2F2"/>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DC2626"/>
                </a:solidFill>
                <a:latin typeface="Aptos"/>
              </a:rPr>
              <a:t>Before facts: decide what information is missing and what could be unsafe.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MAP</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The question this lesson answers</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3</a:t>
            </a:r>
          </a:p>
        </p:txBody>
      </p:sp>
      <p:sp>
        <p:nvSpPr>
          <p:cNvPr id="5" name="TextBox 4"/>
          <p:cNvSpPr txBox="1"/>
          <p:nvPr/>
        </p:nvSpPr>
        <p:spPr>
          <a:xfrm>
            <a:off x="320040" y="6510528"/>
            <a:ext cx="4023360" cy="128016"/>
          </a:xfrm>
          <a:prstGeom prst="rect">
            <a:avLst/>
          </a:prstGeom>
          <a:noFill/>
        </p:spPr>
        <p:txBody>
          <a:bodyPr wrap="square" anchor="t" lIns="27432" rIns="27432" tIns="18288" bIns="18288">
            <a:spAutoFit/>
          </a:bodyPr>
          <a:lstStyle/>
          <a:p>
            <a:pPr algn="l"/>
            <a:r>
              <a:rPr sz="570" b="0">
                <a:solidFill>
                  <a:srgbClr val="475569"/>
                </a:solidFill>
                <a:latin typeface="Aptos"/>
              </a:rPr>
              <a:t>CJM: recognize cues, analyze cues</a:t>
            </a:r>
          </a:p>
        </p:txBody>
      </p:sp>
      <p:sp>
        <p:nvSpPr>
          <p:cNvPr id="6" name="TextBox 5"/>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7" name="TextBox 6"/>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S03  ·  instructor-added</a:t>
            </a:r>
          </a:p>
        </p:txBody>
      </p:sp>
      <p:sp>
        <p:nvSpPr>
          <p:cNvPr id="8" name="Rounded Rectangle 7"/>
          <p:cNvSpPr/>
          <p:nvPr/>
        </p:nvSpPr>
        <p:spPr>
          <a:xfrm>
            <a:off x="1463040" y="960120"/>
            <a:ext cx="9235440" cy="777240"/>
          </a:xfrm>
          <a:prstGeom prst="roundRect">
            <a:avLst/>
          </a:prstGeom>
          <a:solidFill>
            <a:srgbClr val="0F172A"/>
          </a:solidFill>
          <a:ln w="127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691640" y="1143000"/>
            <a:ext cx="8778240" cy="384048"/>
          </a:xfrm>
          <a:prstGeom prst="rect">
            <a:avLst/>
          </a:prstGeom>
          <a:noFill/>
        </p:spPr>
        <p:txBody>
          <a:bodyPr wrap="square" anchor="ctr" lIns="27432" rIns="27432" tIns="18288" bIns="18288">
            <a:spAutoFit/>
          </a:bodyPr>
          <a:lstStyle/>
          <a:p>
            <a:pPr algn="ctr"/>
            <a:r>
              <a:rPr sz="1600" b="1">
                <a:solidFill>
                  <a:srgbClr val="FFFFFF"/>
                </a:solidFill>
                <a:latin typeface="Aptos"/>
              </a:rPr>
              <a:t>Use presence, observation, open invitations, reflection, and direct safety assessment without false reassurance or judgment.</a:t>
            </a:r>
          </a:p>
        </p:txBody>
      </p:sp>
      <p:sp>
        <p:nvSpPr>
          <p:cNvPr id="10" name="Rounded Rectangle 9"/>
          <p:cNvSpPr/>
          <p:nvPr/>
        </p:nvSpPr>
        <p:spPr>
          <a:xfrm>
            <a:off x="594360" y="2148840"/>
            <a:ext cx="2627299" cy="1175004"/>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9224" y="2295144"/>
            <a:ext cx="45720" cy="882396"/>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 y="2258568"/>
            <a:ext cx="2371267" cy="292608"/>
          </a:xfrm>
          <a:prstGeom prst="rect">
            <a:avLst/>
          </a:prstGeom>
          <a:noFill/>
        </p:spPr>
        <p:txBody>
          <a:bodyPr wrap="square" anchor="t" lIns="27432" rIns="27432" tIns="18288" bIns="18288">
            <a:spAutoFit/>
          </a:bodyPr>
          <a:lstStyle/>
          <a:p>
            <a:pPr algn="l"/>
            <a:r>
              <a:rPr sz="1400" b="1">
                <a:solidFill>
                  <a:srgbClr val="0F172A"/>
                </a:solidFill>
                <a:latin typeface="Aptos"/>
              </a:rPr>
              <a:t>Create Space</a:t>
            </a:r>
          </a:p>
        </p:txBody>
      </p:sp>
      <p:sp>
        <p:nvSpPr>
          <p:cNvPr id="13" name="TextBox 12"/>
          <p:cNvSpPr txBox="1"/>
          <p:nvPr/>
        </p:nvSpPr>
        <p:spPr>
          <a:xfrm>
            <a:off x="758952" y="2587752"/>
            <a:ext cx="2371267" cy="644652"/>
          </a:xfrm>
          <a:prstGeom prst="rect">
            <a:avLst/>
          </a:prstGeom>
          <a:noFill/>
        </p:spPr>
        <p:txBody>
          <a:bodyPr wrap="square" anchor="t" lIns="27432" rIns="27432" tIns="18288" bIns="18288">
            <a:spAutoFit/>
          </a:bodyPr>
          <a:lstStyle/>
          <a:p>
            <a:pPr algn="l"/>
            <a:r>
              <a:rPr sz="900" b="0">
                <a:solidFill>
                  <a:srgbClr val="475569"/>
                </a:solidFill>
                <a:latin typeface="Aptos"/>
              </a:rPr>
              <a:t>Create space</a:t>
            </a:r>
          </a:p>
        </p:txBody>
      </p:sp>
      <p:sp>
        <p:nvSpPr>
          <p:cNvPr id="14" name="Rounded Rectangle 13"/>
          <p:cNvSpPr/>
          <p:nvPr/>
        </p:nvSpPr>
        <p:spPr>
          <a:xfrm>
            <a:off x="3386251" y="2148840"/>
            <a:ext cx="2627299" cy="1175004"/>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441115" y="2295144"/>
            <a:ext cx="45720" cy="882396"/>
          </a:xfrm>
          <a:prstGeom prst="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50843" y="2258568"/>
            <a:ext cx="2371267" cy="292608"/>
          </a:xfrm>
          <a:prstGeom prst="rect">
            <a:avLst/>
          </a:prstGeom>
          <a:noFill/>
        </p:spPr>
        <p:txBody>
          <a:bodyPr wrap="square" anchor="t" lIns="27432" rIns="27432" tIns="18288" bIns="18288">
            <a:spAutoFit/>
          </a:bodyPr>
          <a:lstStyle/>
          <a:p>
            <a:pPr algn="l"/>
            <a:r>
              <a:rPr sz="1400" b="1">
                <a:solidFill>
                  <a:srgbClr val="0F172A"/>
                </a:solidFill>
                <a:latin typeface="Aptos"/>
              </a:rPr>
              <a:t>Clarify</a:t>
            </a:r>
          </a:p>
        </p:txBody>
      </p:sp>
      <p:sp>
        <p:nvSpPr>
          <p:cNvPr id="17" name="TextBox 16"/>
          <p:cNvSpPr txBox="1"/>
          <p:nvPr/>
        </p:nvSpPr>
        <p:spPr>
          <a:xfrm>
            <a:off x="3550843" y="2587752"/>
            <a:ext cx="2371267" cy="644652"/>
          </a:xfrm>
          <a:prstGeom prst="rect">
            <a:avLst/>
          </a:prstGeom>
          <a:noFill/>
        </p:spPr>
        <p:txBody>
          <a:bodyPr wrap="square" anchor="t" lIns="27432" rIns="27432" tIns="18288" bIns="18288">
            <a:spAutoFit/>
          </a:bodyPr>
          <a:lstStyle/>
          <a:p>
            <a:pPr algn="l"/>
            <a:r>
              <a:rPr sz="900" b="0">
                <a:solidFill>
                  <a:srgbClr val="475569"/>
                </a:solidFill>
                <a:latin typeface="Aptos"/>
              </a:rPr>
              <a:t>Clarify</a:t>
            </a:r>
          </a:p>
        </p:txBody>
      </p:sp>
      <p:sp>
        <p:nvSpPr>
          <p:cNvPr id="18" name="Rounded Rectangle 17"/>
          <p:cNvSpPr/>
          <p:nvPr/>
        </p:nvSpPr>
        <p:spPr>
          <a:xfrm>
            <a:off x="6178143" y="2148840"/>
            <a:ext cx="2627299" cy="1175004"/>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33007" y="2295144"/>
            <a:ext cx="45720" cy="882396"/>
          </a:xfrm>
          <a:prstGeom prst="rect">
            <a:avLst/>
          </a:prstGeom>
          <a:solidFill>
            <a:srgbClr val="16A34A"/>
          </a:solidFill>
          <a:ln w="127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42735" y="2258568"/>
            <a:ext cx="2371267" cy="292608"/>
          </a:xfrm>
          <a:prstGeom prst="rect">
            <a:avLst/>
          </a:prstGeom>
          <a:noFill/>
        </p:spPr>
        <p:txBody>
          <a:bodyPr wrap="square" anchor="t" lIns="27432" rIns="27432" tIns="18288" bIns="18288">
            <a:spAutoFit/>
          </a:bodyPr>
          <a:lstStyle/>
          <a:p>
            <a:pPr algn="l"/>
            <a:r>
              <a:rPr sz="1400" b="1">
                <a:solidFill>
                  <a:srgbClr val="0F172A"/>
                </a:solidFill>
                <a:latin typeface="Aptos"/>
              </a:rPr>
              <a:t>Assess Safety</a:t>
            </a:r>
          </a:p>
        </p:txBody>
      </p:sp>
      <p:sp>
        <p:nvSpPr>
          <p:cNvPr id="21" name="TextBox 20"/>
          <p:cNvSpPr txBox="1"/>
          <p:nvPr/>
        </p:nvSpPr>
        <p:spPr>
          <a:xfrm>
            <a:off x="6342735" y="2587752"/>
            <a:ext cx="2371267" cy="644652"/>
          </a:xfrm>
          <a:prstGeom prst="rect">
            <a:avLst/>
          </a:prstGeom>
          <a:noFill/>
        </p:spPr>
        <p:txBody>
          <a:bodyPr wrap="square" anchor="t" lIns="27432" rIns="27432" tIns="18288" bIns="18288">
            <a:spAutoFit/>
          </a:bodyPr>
          <a:lstStyle/>
          <a:p>
            <a:pPr algn="l"/>
            <a:r>
              <a:rPr sz="900" b="0">
                <a:solidFill>
                  <a:srgbClr val="475569"/>
                </a:solidFill>
                <a:latin typeface="Aptos"/>
              </a:rPr>
              <a:t>Assess safety</a:t>
            </a:r>
          </a:p>
        </p:txBody>
      </p:sp>
      <p:sp>
        <p:nvSpPr>
          <p:cNvPr id="22" name="Rounded Rectangle 21"/>
          <p:cNvSpPr/>
          <p:nvPr/>
        </p:nvSpPr>
        <p:spPr>
          <a:xfrm>
            <a:off x="8970035" y="2148840"/>
            <a:ext cx="2627299" cy="1175004"/>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024899" y="2295144"/>
            <a:ext cx="45720" cy="882396"/>
          </a:xfrm>
          <a:prstGeom prst="rect">
            <a:avLst/>
          </a:prstGeom>
          <a:solidFill>
            <a:srgbClr val="DC2626"/>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34627" y="2258568"/>
            <a:ext cx="2371267" cy="292608"/>
          </a:xfrm>
          <a:prstGeom prst="rect">
            <a:avLst/>
          </a:prstGeom>
          <a:noFill/>
        </p:spPr>
        <p:txBody>
          <a:bodyPr wrap="square" anchor="t" lIns="27432" rIns="27432" tIns="18288" bIns="18288">
            <a:spAutoFit/>
          </a:bodyPr>
          <a:lstStyle/>
          <a:p>
            <a:pPr algn="l"/>
            <a:r>
              <a:rPr sz="1400" b="1">
                <a:solidFill>
                  <a:srgbClr val="0F172A"/>
                </a:solidFill>
                <a:latin typeface="Aptos"/>
              </a:rPr>
              <a:t>Apply</a:t>
            </a:r>
          </a:p>
        </p:txBody>
      </p:sp>
      <p:sp>
        <p:nvSpPr>
          <p:cNvPr id="25" name="TextBox 24"/>
          <p:cNvSpPr txBox="1"/>
          <p:nvPr/>
        </p:nvSpPr>
        <p:spPr>
          <a:xfrm>
            <a:off x="9134627" y="2587752"/>
            <a:ext cx="2371267" cy="644652"/>
          </a:xfrm>
          <a:prstGeom prst="rect">
            <a:avLst/>
          </a:prstGeom>
          <a:noFill/>
        </p:spPr>
        <p:txBody>
          <a:bodyPr wrap="square" anchor="t" lIns="27432" rIns="27432" tIns="18288" bIns="18288">
            <a:spAutoFit/>
          </a:bodyPr>
          <a:lstStyle/>
          <a:p>
            <a:pPr algn="l"/>
            <a:r>
              <a:rPr sz="900" b="0">
                <a:solidFill>
                  <a:srgbClr val="475569"/>
                </a:solidFill>
                <a:latin typeface="Aptos"/>
              </a:rPr>
              <a:t>case and items</a:t>
            </a:r>
          </a:p>
        </p:txBody>
      </p:sp>
      <p:sp>
        <p:nvSpPr>
          <p:cNvPr id="26" name="Rounded Rectangle 25"/>
          <p:cNvSpPr/>
          <p:nvPr/>
        </p:nvSpPr>
        <p:spPr>
          <a:xfrm>
            <a:off x="594360" y="3488436"/>
            <a:ext cx="2627299" cy="1175004"/>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49224" y="3634740"/>
            <a:ext cx="45720" cy="882396"/>
          </a:xfrm>
          <a:prstGeom prst="rect">
            <a:avLst/>
          </a:prstGeom>
          <a:solidFill>
            <a:srgbClr val="7C3AED"/>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58952" y="3598164"/>
            <a:ext cx="2371267" cy="292608"/>
          </a:xfrm>
          <a:prstGeom prst="rect">
            <a:avLst/>
          </a:prstGeom>
          <a:noFill/>
        </p:spPr>
        <p:txBody>
          <a:bodyPr wrap="square" anchor="t" lIns="27432" rIns="27432" tIns="18288" bIns="18288">
            <a:spAutoFit/>
          </a:bodyPr>
          <a:lstStyle/>
          <a:p>
            <a:pPr algn="l"/>
            <a:r>
              <a:rPr sz="1400" b="1">
                <a:solidFill>
                  <a:srgbClr val="0F172A"/>
                </a:solidFill>
                <a:latin typeface="Aptos"/>
              </a:rPr>
              <a:t>Evaluate</a:t>
            </a:r>
          </a:p>
        </p:txBody>
      </p:sp>
      <p:sp>
        <p:nvSpPr>
          <p:cNvPr id="29" name="TextBox 28"/>
          <p:cNvSpPr txBox="1"/>
          <p:nvPr/>
        </p:nvSpPr>
        <p:spPr>
          <a:xfrm>
            <a:off x="758952" y="3927348"/>
            <a:ext cx="2371267" cy="644652"/>
          </a:xfrm>
          <a:prstGeom prst="rect">
            <a:avLst/>
          </a:prstGeom>
          <a:noFill/>
        </p:spPr>
        <p:txBody>
          <a:bodyPr wrap="square" anchor="t" lIns="27432" rIns="27432" tIns="18288" bIns="18288">
            <a:spAutoFit/>
          </a:bodyPr>
          <a:lstStyle/>
          <a:p>
            <a:pPr algn="l"/>
            <a:r>
              <a:rPr sz="900" b="0">
                <a:solidFill>
                  <a:srgbClr val="475569"/>
                </a:solidFill>
                <a:latin typeface="Aptos"/>
              </a:rPr>
              <a:t>retrieval; takeaway</a:t>
            </a:r>
          </a:p>
        </p:txBody>
      </p:sp>
      <p:sp>
        <p:nvSpPr>
          <p:cNvPr id="30" name="Rounded Rectangle 29"/>
          <p:cNvSpPr/>
          <p:nvPr/>
        </p:nvSpPr>
        <p:spPr>
          <a:xfrm>
            <a:off x="1188720" y="5989320"/>
            <a:ext cx="9784080" cy="411480"/>
          </a:xfrm>
          <a:prstGeom prst="roundRect">
            <a:avLst/>
          </a:prstGeom>
          <a:solidFill>
            <a:srgbClr val="ECFDF5"/>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0F766E"/>
                </a:solidFill>
                <a:latin typeface="Aptos"/>
              </a:rPr>
              <a:t>Every concept must answer: what do I teach, what do I assess, what must I escalate?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MAP</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Lesson map</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4</a:t>
            </a:r>
          </a:p>
        </p:txBody>
      </p:sp>
      <p:sp>
        <p:nvSpPr>
          <p:cNvPr id="5" name="TextBox 4"/>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6" name="TextBox 5"/>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S04  ·  instructor-added</a:t>
            </a:r>
          </a:p>
        </p:txBody>
      </p:sp>
      <p:cxnSp>
        <p:nvCxnSpPr>
          <p:cNvPr id="7" name="Connector 6"/>
          <p:cNvCxnSpPr/>
          <p:nvPr/>
        </p:nvCxnSpPr>
        <p:spPr>
          <a:xfrm>
            <a:off x="1143000" y="2148840"/>
            <a:ext cx="9601200" cy="0"/>
          </a:xfrm>
          <a:prstGeom prst="line">
            <a:avLst/>
          </a:prstGeom>
          <a:ln w="38100">
            <a:solidFill>
              <a:srgbClr val="D7DFEA"/>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03503" y="1975104"/>
            <a:ext cx="347472" cy="347472"/>
          </a:xfrm>
          <a:prstGeom prst="round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 y="2057400"/>
            <a:ext cx="228600" cy="164592"/>
          </a:xfrm>
          <a:prstGeom prst="rect">
            <a:avLst/>
          </a:prstGeom>
          <a:noFill/>
        </p:spPr>
        <p:txBody>
          <a:bodyPr wrap="square" anchor="t" lIns="27432" rIns="27432" tIns="18288" bIns="18288">
            <a:spAutoFit/>
          </a:bodyPr>
          <a:lstStyle/>
          <a:p>
            <a:pPr algn="ctr"/>
            <a:r>
              <a:rPr sz="800" b="1">
                <a:solidFill>
                  <a:srgbClr val="FFFFFF"/>
                </a:solidFill>
                <a:latin typeface="Aptos"/>
              </a:rPr>
              <a:t>1</a:t>
            </a:r>
          </a:p>
        </p:txBody>
      </p:sp>
      <p:sp>
        <p:nvSpPr>
          <p:cNvPr id="10" name="TextBox 9"/>
          <p:cNvSpPr txBox="1"/>
          <p:nvPr/>
        </p:nvSpPr>
        <p:spPr>
          <a:xfrm>
            <a:off x="91439" y="2532888"/>
            <a:ext cx="1371600" cy="256032"/>
          </a:xfrm>
          <a:prstGeom prst="rect">
            <a:avLst/>
          </a:prstGeom>
          <a:noFill/>
        </p:spPr>
        <p:txBody>
          <a:bodyPr wrap="square" anchor="t" lIns="27432" rIns="27432" tIns="18288" bIns="18288">
            <a:spAutoFit/>
          </a:bodyPr>
          <a:lstStyle/>
          <a:p>
            <a:pPr algn="ctr"/>
            <a:r>
              <a:rPr sz="1000" b="1">
                <a:solidFill>
                  <a:srgbClr val="0F172A"/>
                </a:solidFill>
                <a:latin typeface="Aptos"/>
              </a:rPr>
              <a:t>Create Space</a:t>
            </a:r>
          </a:p>
        </p:txBody>
      </p:sp>
      <p:sp>
        <p:nvSpPr>
          <p:cNvPr id="11" name="TextBox 10"/>
          <p:cNvSpPr txBox="1"/>
          <p:nvPr/>
        </p:nvSpPr>
        <p:spPr>
          <a:xfrm>
            <a:off x="45719" y="2834640"/>
            <a:ext cx="1463040" cy="411480"/>
          </a:xfrm>
          <a:prstGeom prst="rect">
            <a:avLst/>
          </a:prstGeom>
          <a:noFill/>
        </p:spPr>
        <p:txBody>
          <a:bodyPr wrap="square" anchor="t" lIns="27432" rIns="27432" tIns="18288" bIns="18288">
            <a:spAutoFit/>
          </a:bodyPr>
          <a:lstStyle/>
          <a:p>
            <a:pPr algn="ctr"/>
            <a:r>
              <a:rPr sz="660" b="0">
                <a:solidFill>
                  <a:srgbClr val="475569"/>
                </a:solidFill>
                <a:latin typeface="Aptos"/>
              </a:rPr>
              <a:t>Create space</a:t>
            </a:r>
          </a:p>
        </p:txBody>
      </p:sp>
      <p:sp>
        <p:nvSpPr>
          <p:cNvPr id="12" name="Rounded Rectangle 11"/>
          <p:cNvSpPr/>
          <p:nvPr/>
        </p:nvSpPr>
        <p:spPr>
          <a:xfrm>
            <a:off x="3186684" y="1975104"/>
            <a:ext cx="347472" cy="347472"/>
          </a:xfrm>
          <a:prstGeom prst="round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50692" y="2057400"/>
            <a:ext cx="228600" cy="164592"/>
          </a:xfrm>
          <a:prstGeom prst="rect">
            <a:avLst/>
          </a:prstGeom>
          <a:noFill/>
        </p:spPr>
        <p:txBody>
          <a:bodyPr wrap="square" anchor="t" lIns="27432" rIns="27432" tIns="18288" bIns="18288">
            <a:spAutoFit/>
          </a:bodyPr>
          <a:lstStyle/>
          <a:p>
            <a:pPr algn="ctr"/>
            <a:r>
              <a:rPr sz="800" b="1">
                <a:solidFill>
                  <a:srgbClr val="FFFFFF"/>
                </a:solidFill>
                <a:latin typeface="Aptos"/>
              </a:rPr>
              <a:t>2</a:t>
            </a:r>
          </a:p>
        </p:txBody>
      </p:sp>
      <p:sp>
        <p:nvSpPr>
          <p:cNvPr id="14" name="TextBox 13"/>
          <p:cNvSpPr txBox="1"/>
          <p:nvPr/>
        </p:nvSpPr>
        <p:spPr>
          <a:xfrm>
            <a:off x="2674620" y="2532888"/>
            <a:ext cx="1371600" cy="256032"/>
          </a:xfrm>
          <a:prstGeom prst="rect">
            <a:avLst/>
          </a:prstGeom>
          <a:noFill/>
        </p:spPr>
        <p:txBody>
          <a:bodyPr wrap="square" anchor="t" lIns="27432" rIns="27432" tIns="18288" bIns="18288">
            <a:spAutoFit/>
          </a:bodyPr>
          <a:lstStyle/>
          <a:p>
            <a:pPr algn="ctr"/>
            <a:r>
              <a:rPr sz="1000" b="1">
                <a:solidFill>
                  <a:srgbClr val="0F172A"/>
                </a:solidFill>
                <a:latin typeface="Aptos"/>
              </a:rPr>
              <a:t>Clarify</a:t>
            </a:r>
          </a:p>
        </p:txBody>
      </p:sp>
      <p:sp>
        <p:nvSpPr>
          <p:cNvPr id="15" name="TextBox 14"/>
          <p:cNvSpPr txBox="1"/>
          <p:nvPr/>
        </p:nvSpPr>
        <p:spPr>
          <a:xfrm>
            <a:off x="2628900" y="2834640"/>
            <a:ext cx="1463040" cy="411480"/>
          </a:xfrm>
          <a:prstGeom prst="rect">
            <a:avLst/>
          </a:prstGeom>
          <a:noFill/>
        </p:spPr>
        <p:txBody>
          <a:bodyPr wrap="square" anchor="t" lIns="27432" rIns="27432" tIns="18288" bIns="18288">
            <a:spAutoFit/>
          </a:bodyPr>
          <a:lstStyle/>
          <a:p>
            <a:pPr algn="ctr"/>
            <a:r>
              <a:rPr sz="660" b="0">
                <a:solidFill>
                  <a:srgbClr val="475569"/>
                </a:solidFill>
                <a:latin typeface="Aptos"/>
              </a:rPr>
              <a:t>Clarify</a:t>
            </a:r>
          </a:p>
        </p:txBody>
      </p:sp>
      <p:sp>
        <p:nvSpPr>
          <p:cNvPr id="16" name="Rounded Rectangle 15"/>
          <p:cNvSpPr/>
          <p:nvPr/>
        </p:nvSpPr>
        <p:spPr>
          <a:xfrm>
            <a:off x="5769864" y="1975104"/>
            <a:ext cx="347472" cy="347472"/>
          </a:xfrm>
          <a:prstGeom prst="roundRect">
            <a:avLst/>
          </a:prstGeom>
          <a:solidFill>
            <a:srgbClr val="16A34A"/>
          </a:solidFill>
          <a:ln w="127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833872" y="2057400"/>
            <a:ext cx="228600" cy="164592"/>
          </a:xfrm>
          <a:prstGeom prst="rect">
            <a:avLst/>
          </a:prstGeom>
          <a:noFill/>
        </p:spPr>
        <p:txBody>
          <a:bodyPr wrap="square" anchor="t" lIns="27432" rIns="27432" tIns="18288" bIns="18288">
            <a:spAutoFit/>
          </a:bodyPr>
          <a:lstStyle/>
          <a:p>
            <a:pPr algn="ctr"/>
            <a:r>
              <a:rPr sz="800" b="1">
                <a:solidFill>
                  <a:srgbClr val="FFFFFF"/>
                </a:solidFill>
                <a:latin typeface="Aptos"/>
              </a:rPr>
              <a:t>3</a:t>
            </a:r>
          </a:p>
        </p:txBody>
      </p:sp>
      <p:sp>
        <p:nvSpPr>
          <p:cNvPr id="18" name="TextBox 17"/>
          <p:cNvSpPr txBox="1"/>
          <p:nvPr/>
        </p:nvSpPr>
        <p:spPr>
          <a:xfrm>
            <a:off x="5257800" y="2532888"/>
            <a:ext cx="1371600" cy="256032"/>
          </a:xfrm>
          <a:prstGeom prst="rect">
            <a:avLst/>
          </a:prstGeom>
          <a:noFill/>
        </p:spPr>
        <p:txBody>
          <a:bodyPr wrap="square" anchor="t" lIns="27432" rIns="27432" tIns="18288" bIns="18288">
            <a:spAutoFit/>
          </a:bodyPr>
          <a:lstStyle/>
          <a:p>
            <a:pPr algn="ctr"/>
            <a:r>
              <a:rPr sz="1000" b="1">
                <a:solidFill>
                  <a:srgbClr val="0F172A"/>
                </a:solidFill>
                <a:latin typeface="Aptos"/>
              </a:rPr>
              <a:t>Assess Safety</a:t>
            </a:r>
          </a:p>
        </p:txBody>
      </p:sp>
      <p:sp>
        <p:nvSpPr>
          <p:cNvPr id="19" name="TextBox 18"/>
          <p:cNvSpPr txBox="1"/>
          <p:nvPr/>
        </p:nvSpPr>
        <p:spPr>
          <a:xfrm>
            <a:off x="5212080" y="2834640"/>
            <a:ext cx="1463040" cy="411480"/>
          </a:xfrm>
          <a:prstGeom prst="rect">
            <a:avLst/>
          </a:prstGeom>
          <a:noFill/>
        </p:spPr>
        <p:txBody>
          <a:bodyPr wrap="square" anchor="t" lIns="27432" rIns="27432" tIns="18288" bIns="18288">
            <a:spAutoFit/>
          </a:bodyPr>
          <a:lstStyle/>
          <a:p>
            <a:pPr algn="ctr"/>
            <a:r>
              <a:rPr sz="660" b="0">
                <a:solidFill>
                  <a:srgbClr val="475569"/>
                </a:solidFill>
                <a:latin typeface="Aptos"/>
              </a:rPr>
              <a:t>Assess safety</a:t>
            </a:r>
          </a:p>
        </p:txBody>
      </p:sp>
      <p:sp>
        <p:nvSpPr>
          <p:cNvPr id="20" name="Rounded Rectangle 19"/>
          <p:cNvSpPr/>
          <p:nvPr/>
        </p:nvSpPr>
        <p:spPr>
          <a:xfrm>
            <a:off x="8353044" y="1975104"/>
            <a:ext cx="347472" cy="347472"/>
          </a:xfrm>
          <a:prstGeom prst="roundRect">
            <a:avLst/>
          </a:prstGeom>
          <a:solidFill>
            <a:srgbClr val="EA580C"/>
          </a:solidFill>
          <a:ln w="127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17052" y="2057400"/>
            <a:ext cx="228600" cy="164592"/>
          </a:xfrm>
          <a:prstGeom prst="rect">
            <a:avLst/>
          </a:prstGeom>
          <a:noFill/>
        </p:spPr>
        <p:txBody>
          <a:bodyPr wrap="square" anchor="t" lIns="27432" rIns="27432" tIns="18288" bIns="18288">
            <a:spAutoFit/>
          </a:bodyPr>
          <a:lstStyle/>
          <a:p>
            <a:pPr algn="ctr"/>
            <a:r>
              <a:rPr sz="800" b="1">
                <a:solidFill>
                  <a:srgbClr val="FFFFFF"/>
                </a:solidFill>
                <a:latin typeface="Aptos"/>
              </a:rPr>
              <a:t>4</a:t>
            </a:r>
          </a:p>
        </p:txBody>
      </p:sp>
      <p:sp>
        <p:nvSpPr>
          <p:cNvPr id="22" name="TextBox 21"/>
          <p:cNvSpPr txBox="1"/>
          <p:nvPr/>
        </p:nvSpPr>
        <p:spPr>
          <a:xfrm>
            <a:off x="7840980" y="2532888"/>
            <a:ext cx="1371600" cy="256032"/>
          </a:xfrm>
          <a:prstGeom prst="rect">
            <a:avLst/>
          </a:prstGeom>
          <a:noFill/>
        </p:spPr>
        <p:txBody>
          <a:bodyPr wrap="square" anchor="t" lIns="27432" rIns="27432" tIns="18288" bIns="18288">
            <a:spAutoFit/>
          </a:bodyPr>
          <a:lstStyle/>
          <a:p>
            <a:pPr algn="ctr"/>
            <a:r>
              <a:rPr sz="1000" b="1">
                <a:solidFill>
                  <a:srgbClr val="0F172A"/>
                </a:solidFill>
                <a:latin typeface="Aptos"/>
              </a:rPr>
              <a:t>Apply</a:t>
            </a:r>
          </a:p>
        </p:txBody>
      </p:sp>
      <p:sp>
        <p:nvSpPr>
          <p:cNvPr id="23" name="TextBox 22"/>
          <p:cNvSpPr txBox="1"/>
          <p:nvPr/>
        </p:nvSpPr>
        <p:spPr>
          <a:xfrm>
            <a:off x="7795260" y="2834640"/>
            <a:ext cx="1463040" cy="411480"/>
          </a:xfrm>
          <a:prstGeom prst="rect">
            <a:avLst/>
          </a:prstGeom>
          <a:noFill/>
        </p:spPr>
        <p:txBody>
          <a:bodyPr wrap="square" anchor="t" lIns="27432" rIns="27432" tIns="18288" bIns="18288">
            <a:spAutoFit/>
          </a:bodyPr>
          <a:lstStyle/>
          <a:p>
            <a:pPr algn="ctr"/>
            <a:r>
              <a:rPr sz="660" b="0">
                <a:solidFill>
                  <a:srgbClr val="475569"/>
                </a:solidFill>
                <a:latin typeface="Aptos"/>
              </a:rPr>
              <a:t>mini case → capstone</a:t>
            </a:r>
          </a:p>
        </p:txBody>
      </p:sp>
      <p:sp>
        <p:nvSpPr>
          <p:cNvPr id="24" name="Rounded Rectangle 23"/>
          <p:cNvSpPr/>
          <p:nvPr/>
        </p:nvSpPr>
        <p:spPr>
          <a:xfrm>
            <a:off x="10936224" y="1975104"/>
            <a:ext cx="347472" cy="347472"/>
          </a:xfrm>
          <a:prstGeom prst="roundRect">
            <a:avLst/>
          </a:prstGeom>
          <a:solidFill>
            <a:srgbClr val="DC2626"/>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1000232" y="2057400"/>
            <a:ext cx="228600" cy="164592"/>
          </a:xfrm>
          <a:prstGeom prst="rect">
            <a:avLst/>
          </a:prstGeom>
          <a:noFill/>
        </p:spPr>
        <p:txBody>
          <a:bodyPr wrap="square" anchor="t" lIns="27432" rIns="27432" tIns="18288" bIns="18288">
            <a:spAutoFit/>
          </a:bodyPr>
          <a:lstStyle/>
          <a:p>
            <a:pPr algn="ctr"/>
            <a:r>
              <a:rPr sz="800" b="1">
                <a:solidFill>
                  <a:srgbClr val="FFFFFF"/>
                </a:solidFill>
                <a:latin typeface="Aptos"/>
              </a:rPr>
              <a:t>5</a:t>
            </a:r>
          </a:p>
        </p:txBody>
      </p:sp>
      <p:sp>
        <p:nvSpPr>
          <p:cNvPr id="26" name="TextBox 25"/>
          <p:cNvSpPr txBox="1"/>
          <p:nvPr/>
        </p:nvSpPr>
        <p:spPr>
          <a:xfrm>
            <a:off x="10424160" y="2532888"/>
            <a:ext cx="1371600" cy="256032"/>
          </a:xfrm>
          <a:prstGeom prst="rect">
            <a:avLst/>
          </a:prstGeom>
          <a:noFill/>
        </p:spPr>
        <p:txBody>
          <a:bodyPr wrap="square" anchor="t" lIns="27432" rIns="27432" tIns="18288" bIns="18288">
            <a:spAutoFit/>
          </a:bodyPr>
          <a:lstStyle/>
          <a:p>
            <a:pPr algn="ctr"/>
            <a:r>
              <a:rPr sz="1000" b="1">
                <a:solidFill>
                  <a:srgbClr val="0F172A"/>
                </a:solidFill>
                <a:latin typeface="Aptos"/>
              </a:rPr>
              <a:t>Evaluate</a:t>
            </a:r>
          </a:p>
        </p:txBody>
      </p:sp>
      <p:sp>
        <p:nvSpPr>
          <p:cNvPr id="27" name="TextBox 26"/>
          <p:cNvSpPr txBox="1"/>
          <p:nvPr/>
        </p:nvSpPr>
        <p:spPr>
          <a:xfrm>
            <a:off x="10378440" y="2834640"/>
            <a:ext cx="1463040" cy="411480"/>
          </a:xfrm>
          <a:prstGeom prst="rect">
            <a:avLst/>
          </a:prstGeom>
          <a:noFill/>
        </p:spPr>
        <p:txBody>
          <a:bodyPr wrap="square" anchor="t" lIns="27432" rIns="27432" tIns="18288" bIns="18288">
            <a:spAutoFit/>
          </a:bodyPr>
          <a:lstStyle/>
          <a:p>
            <a:pPr algn="ctr"/>
            <a:r>
              <a:rPr sz="660" b="0">
                <a:solidFill>
                  <a:srgbClr val="475569"/>
                </a:solidFill>
                <a:latin typeface="Aptos"/>
              </a:rPr>
              <a:t>exit check</a:t>
            </a:r>
          </a:p>
        </p:txBody>
      </p:sp>
      <p:sp>
        <p:nvSpPr>
          <p:cNvPr id="28" name="Rounded Rectangle 27"/>
          <p:cNvSpPr/>
          <p:nvPr/>
        </p:nvSpPr>
        <p:spPr>
          <a:xfrm>
            <a:off x="1188720" y="5989320"/>
            <a:ext cx="9784080" cy="411480"/>
          </a:xfrm>
          <a:prstGeom prst="roundRect">
            <a:avLst/>
          </a:prstGeom>
          <a:solidFill>
            <a:srgbClr val="ECFDF5"/>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0F766E"/>
                </a:solidFill>
                <a:latin typeface="Aptos"/>
              </a:rPr>
              <a:t>Map first. Drill down only where the map or performance data shows a weak link.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ACTIVATE</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Warm-up: put the three moves in order</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5</a:t>
            </a:r>
          </a:p>
        </p:txBody>
      </p:sp>
      <p:sp>
        <p:nvSpPr>
          <p:cNvPr id="5" name="TextBox 4"/>
          <p:cNvSpPr txBox="1"/>
          <p:nvPr/>
        </p:nvSpPr>
        <p:spPr>
          <a:xfrm>
            <a:off x="320040" y="6510528"/>
            <a:ext cx="4023360" cy="128016"/>
          </a:xfrm>
          <a:prstGeom prst="rect">
            <a:avLst/>
          </a:prstGeom>
          <a:noFill/>
        </p:spPr>
        <p:txBody>
          <a:bodyPr wrap="square" anchor="t" lIns="27432" rIns="27432" tIns="18288" bIns="18288">
            <a:spAutoFit/>
          </a:bodyPr>
          <a:lstStyle/>
          <a:p>
            <a:pPr algn="l"/>
            <a:r>
              <a:rPr sz="570" b="0">
                <a:solidFill>
                  <a:srgbClr val="475569"/>
                </a:solidFill>
                <a:latin typeface="Aptos"/>
              </a:rPr>
              <a:t>CJM: analyze cues</a:t>
            </a:r>
          </a:p>
        </p:txBody>
      </p:sp>
      <p:sp>
        <p:nvSpPr>
          <p:cNvPr id="6" name="TextBox 5"/>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7" name="TextBox 6"/>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S05  ·  instructor-added</a:t>
            </a:r>
          </a:p>
        </p:txBody>
      </p:sp>
      <p:sp>
        <p:nvSpPr>
          <p:cNvPr id="8" name="Rounded Rectangle 7"/>
          <p:cNvSpPr/>
          <p:nvPr/>
        </p:nvSpPr>
        <p:spPr>
          <a:xfrm>
            <a:off x="685800" y="1005840"/>
            <a:ext cx="10789920" cy="68580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40664" y="1152144"/>
            <a:ext cx="45720" cy="393192"/>
          </a:xfrm>
          <a:prstGeom prst="rect">
            <a:avLst/>
          </a:prstGeom>
          <a:solidFill>
            <a:srgbClr val="7C3AED"/>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0392" y="1115568"/>
            <a:ext cx="10533888" cy="292608"/>
          </a:xfrm>
          <a:prstGeom prst="rect">
            <a:avLst/>
          </a:prstGeom>
          <a:noFill/>
        </p:spPr>
        <p:txBody>
          <a:bodyPr wrap="square" anchor="t" lIns="27432" rIns="27432" tIns="18288" bIns="18288">
            <a:spAutoFit/>
          </a:bodyPr>
          <a:lstStyle/>
          <a:p>
            <a:pPr algn="l"/>
            <a:r>
              <a:rPr sz="1300" b="1">
                <a:solidFill>
                  <a:srgbClr val="0F172A"/>
                </a:solidFill>
                <a:latin typeface="Aptos"/>
              </a:rPr>
              <a:t>learner task</a:t>
            </a:r>
          </a:p>
        </p:txBody>
      </p:sp>
      <p:sp>
        <p:nvSpPr>
          <p:cNvPr id="11" name="TextBox 10"/>
          <p:cNvSpPr txBox="1"/>
          <p:nvPr/>
        </p:nvSpPr>
        <p:spPr>
          <a:xfrm>
            <a:off x="850392" y="1444752"/>
            <a:ext cx="10533888" cy="155448"/>
          </a:xfrm>
          <a:prstGeom prst="rect">
            <a:avLst/>
          </a:prstGeom>
          <a:noFill/>
        </p:spPr>
        <p:txBody>
          <a:bodyPr wrap="square" anchor="t" lIns="27432" rIns="27432" tIns="18288" bIns="18288">
            <a:spAutoFit/>
          </a:bodyPr>
          <a:lstStyle/>
          <a:p>
            <a:pPr algn="l"/>
            <a:r>
              <a:rPr sz="1000" b="0">
                <a:solidFill>
                  <a:srgbClr val="475569"/>
                </a:solidFill>
                <a:latin typeface="Aptos"/>
              </a:rPr>
              <a:t>Order the three.</a:t>
            </a:r>
          </a:p>
        </p:txBody>
      </p:sp>
      <p:sp>
        <p:nvSpPr>
          <p:cNvPr id="12" name="Rounded Rectangle 11"/>
          <p:cNvSpPr/>
          <p:nvPr/>
        </p:nvSpPr>
        <p:spPr>
          <a:xfrm>
            <a:off x="960120" y="1965960"/>
            <a:ext cx="10012680" cy="384048"/>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1938528"/>
            <a:ext cx="274320" cy="146304"/>
          </a:xfrm>
          <a:prstGeom prst="rect">
            <a:avLst/>
          </a:prstGeom>
          <a:noFill/>
        </p:spPr>
        <p:txBody>
          <a:bodyPr wrap="square" anchor="t" lIns="27432" rIns="27432" tIns="18288" bIns="18288">
            <a:spAutoFit/>
          </a:bodyPr>
          <a:lstStyle/>
          <a:p>
            <a:pPr algn="l"/>
            <a:r>
              <a:rPr sz="800" b="1">
                <a:solidFill>
                  <a:srgbClr val="7C3AED"/>
                </a:solidFill>
                <a:latin typeface="Aptos"/>
              </a:rPr>
              <a:t>A</a:t>
            </a:r>
          </a:p>
        </p:txBody>
      </p:sp>
      <p:sp>
        <p:nvSpPr>
          <p:cNvPr id="14" name="TextBox 13"/>
          <p:cNvSpPr txBox="1"/>
          <p:nvPr/>
        </p:nvSpPr>
        <p:spPr>
          <a:xfrm>
            <a:off x="1463040" y="2039112"/>
            <a:ext cx="9144000" cy="164592"/>
          </a:xfrm>
          <a:prstGeom prst="rect">
            <a:avLst/>
          </a:prstGeom>
          <a:noFill/>
        </p:spPr>
        <p:txBody>
          <a:bodyPr wrap="square" anchor="t" lIns="27432" rIns="27432" tIns="18288" bIns="18288">
            <a:spAutoFit/>
          </a:bodyPr>
          <a:lstStyle/>
          <a:p>
            <a:pPr algn="l"/>
            <a:r>
              <a:rPr sz="850" b="0">
                <a:solidFill>
                  <a:srgbClr val="475569"/>
                </a:solidFill>
                <a:latin typeface="Aptos"/>
              </a:rPr>
              <a:t>Create space</a:t>
            </a:r>
          </a:p>
        </p:txBody>
      </p:sp>
      <p:sp>
        <p:nvSpPr>
          <p:cNvPr id="15" name="Rounded Rectangle 14"/>
          <p:cNvSpPr/>
          <p:nvPr/>
        </p:nvSpPr>
        <p:spPr>
          <a:xfrm>
            <a:off x="960120" y="2532888"/>
            <a:ext cx="10012680" cy="384048"/>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97280" y="2587752"/>
            <a:ext cx="274320" cy="146304"/>
          </a:xfrm>
          <a:prstGeom prst="rect">
            <a:avLst/>
          </a:prstGeom>
          <a:noFill/>
        </p:spPr>
        <p:txBody>
          <a:bodyPr wrap="square" anchor="t" lIns="27432" rIns="27432" tIns="18288" bIns="18288">
            <a:spAutoFit/>
          </a:bodyPr>
          <a:lstStyle/>
          <a:p>
            <a:pPr algn="l"/>
            <a:r>
              <a:rPr sz="800" b="1">
                <a:solidFill>
                  <a:srgbClr val="7C3AED"/>
                </a:solidFill>
                <a:latin typeface="Aptos"/>
              </a:rPr>
              <a:t>B</a:t>
            </a:r>
          </a:p>
        </p:txBody>
      </p:sp>
      <p:sp>
        <p:nvSpPr>
          <p:cNvPr id="17" name="TextBox 16"/>
          <p:cNvSpPr txBox="1"/>
          <p:nvPr/>
        </p:nvSpPr>
        <p:spPr>
          <a:xfrm>
            <a:off x="1463040" y="2596896"/>
            <a:ext cx="9144000" cy="164592"/>
          </a:xfrm>
          <a:prstGeom prst="rect">
            <a:avLst/>
          </a:prstGeom>
          <a:noFill/>
        </p:spPr>
        <p:txBody>
          <a:bodyPr wrap="square" anchor="t" lIns="27432" rIns="27432" tIns="18288" bIns="18288">
            <a:spAutoFit/>
          </a:bodyPr>
          <a:lstStyle/>
          <a:p>
            <a:pPr algn="l"/>
            <a:r>
              <a:rPr sz="850" b="0">
                <a:solidFill>
                  <a:srgbClr val="475569"/>
                </a:solidFill>
                <a:latin typeface="Aptos"/>
              </a:rPr>
              <a:t>Clarify</a:t>
            </a:r>
          </a:p>
        </p:txBody>
      </p:sp>
      <p:sp>
        <p:nvSpPr>
          <p:cNvPr id="18" name="Rounded Rectangle 17"/>
          <p:cNvSpPr/>
          <p:nvPr/>
        </p:nvSpPr>
        <p:spPr>
          <a:xfrm>
            <a:off x="960120" y="3099815"/>
            <a:ext cx="10012680" cy="384048"/>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3236976"/>
            <a:ext cx="274320" cy="146304"/>
          </a:xfrm>
          <a:prstGeom prst="rect">
            <a:avLst/>
          </a:prstGeom>
          <a:noFill/>
        </p:spPr>
        <p:txBody>
          <a:bodyPr wrap="square" anchor="t" lIns="27432" rIns="27432" tIns="18288" bIns="18288">
            <a:spAutoFit/>
          </a:bodyPr>
          <a:lstStyle/>
          <a:p>
            <a:pPr algn="l"/>
            <a:r>
              <a:rPr sz="800" b="1">
                <a:solidFill>
                  <a:srgbClr val="7C3AED"/>
                </a:solidFill>
                <a:latin typeface="Aptos"/>
              </a:rPr>
              <a:t>C</a:t>
            </a:r>
          </a:p>
        </p:txBody>
      </p:sp>
      <p:sp>
        <p:nvSpPr>
          <p:cNvPr id="20" name="TextBox 19"/>
          <p:cNvSpPr txBox="1"/>
          <p:nvPr/>
        </p:nvSpPr>
        <p:spPr>
          <a:xfrm>
            <a:off x="1463040" y="3154680"/>
            <a:ext cx="9144000" cy="164592"/>
          </a:xfrm>
          <a:prstGeom prst="rect">
            <a:avLst/>
          </a:prstGeom>
          <a:noFill/>
        </p:spPr>
        <p:txBody>
          <a:bodyPr wrap="square" anchor="t" lIns="27432" rIns="27432" tIns="18288" bIns="18288">
            <a:spAutoFit/>
          </a:bodyPr>
          <a:lstStyle/>
          <a:p>
            <a:pPr algn="l"/>
            <a:r>
              <a:rPr sz="850" b="0">
                <a:solidFill>
                  <a:srgbClr val="475569"/>
                </a:solidFill>
                <a:latin typeface="Aptos"/>
              </a:rPr>
              <a:t>Assess safety</a:t>
            </a:r>
          </a:p>
        </p:txBody>
      </p:sp>
      <p:sp>
        <p:nvSpPr>
          <p:cNvPr id="21" name="Rounded Rectangle 20"/>
          <p:cNvSpPr/>
          <p:nvPr/>
        </p:nvSpPr>
        <p:spPr>
          <a:xfrm>
            <a:off x="1188720" y="5989320"/>
            <a:ext cx="9784080" cy="411480"/>
          </a:xfrm>
          <a:prstGeom prst="roundRect">
            <a:avLst/>
          </a:prstGeom>
          <a:solidFill>
            <a:srgbClr val="F5F3FF"/>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7C3AED"/>
                </a:solidFill>
                <a:latin typeface="Aptos"/>
              </a:rPr>
              <a:t>Use sequence misses to identify where the concept chain breaks.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LANE: CREATE SPACE</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Create space</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6</a:t>
            </a:r>
          </a:p>
        </p:txBody>
      </p:sp>
      <p:sp>
        <p:nvSpPr>
          <p:cNvPr id="5" name="TextBox 4"/>
          <p:cNvSpPr txBox="1"/>
          <p:nvPr/>
        </p:nvSpPr>
        <p:spPr>
          <a:xfrm>
            <a:off x="320040" y="6510528"/>
            <a:ext cx="4023360" cy="128016"/>
          </a:xfrm>
          <a:prstGeom prst="rect">
            <a:avLst/>
          </a:prstGeom>
          <a:noFill/>
        </p:spPr>
        <p:txBody>
          <a:bodyPr wrap="square" anchor="t" lIns="27432" rIns="27432" tIns="18288" bIns="18288">
            <a:spAutoFit/>
          </a:bodyPr>
          <a:lstStyle/>
          <a:p>
            <a:pPr algn="l"/>
            <a:r>
              <a:rPr sz="570" b="0">
                <a:solidFill>
                  <a:srgbClr val="475569"/>
                </a:solidFill>
                <a:latin typeface="Aptos"/>
              </a:rPr>
              <a:t>CJM: recognize cues, analyze cues</a:t>
            </a:r>
          </a:p>
        </p:txBody>
      </p:sp>
      <p:sp>
        <p:nvSpPr>
          <p:cNvPr id="6" name="TextBox 5"/>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7" name="TextBox 6"/>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S06  ·  source-aligned</a:t>
            </a:r>
          </a:p>
        </p:txBody>
      </p:sp>
      <p:sp>
        <p:nvSpPr>
          <p:cNvPr id="8" name="Rounded Rectangle 7"/>
          <p:cNvSpPr/>
          <p:nvPr/>
        </p:nvSpPr>
        <p:spPr>
          <a:xfrm>
            <a:off x="502920" y="1143000"/>
            <a:ext cx="11185855"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 y="1289304"/>
            <a:ext cx="45720" cy="941832"/>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1252728"/>
            <a:ext cx="10929823" cy="292608"/>
          </a:xfrm>
          <a:prstGeom prst="rect">
            <a:avLst/>
          </a:prstGeom>
          <a:noFill/>
        </p:spPr>
        <p:txBody>
          <a:bodyPr wrap="square" anchor="t" lIns="27432" rIns="27432" tIns="18288" bIns="18288">
            <a:spAutoFit/>
          </a:bodyPr>
          <a:lstStyle/>
          <a:p>
            <a:pPr algn="l"/>
            <a:r>
              <a:rPr sz="1300" b="1">
                <a:solidFill>
                  <a:srgbClr val="0F172A"/>
                </a:solidFill>
                <a:latin typeface="Aptos"/>
              </a:rPr>
              <a:t>Create space</a:t>
            </a:r>
          </a:p>
        </p:txBody>
      </p:sp>
      <p:sp>
        <p:nvSpPr>
          <p:cNvPr id="11" name="TextBox 10"/>
          <p:cNvSpPr txBox="1"/>
          <p:nvPr/>
        </p:nvSpPr>
        <p:spPr>
          <a:xfrm>
            <a:off x="667512" y="1581912"/>
            <a:ext cx="10929823" cy="704088"/>
          </a:xfrm>
          <a:prstGeom prst="rect">
            <a:avLst/>
          </a:prstGeom>
          <a:noFill/>
        </p:spPr>
        <p:txBody>
          <a:bodyPr wrap="square" anchor="t" lIns="27432" rIns="27432" tIns="18288" bIns="18288">
            <a:spAutoFit/>
          </a:bodyPr>
          <a:lstStyle/>
          <a:p>
            <a:pPr algn="l"/>
            <a:r>
              <a:rPr sz="900" b="0">
                <a:solidFill>
                  <a:srgbClr val="475569"/>
                </a:solidFill>
                <a:latin typeface="Aptos"/>
              </a:rPr>
              <a:t>Use calm presence, observations, and open invitations that allow the patient to set the pace and describe their experience.</a:t>
            </a:r>
          </a:p>
        </p:txBody>
      </p:sp>
      <p:sp>
        <p:nvSpPr>
          <p:cNvPr id="12" name="Rounded Rectangle 11"/>
          <p:cNvSpPr/>
          <p:nvPr/>
        </p:nvSpPr>
        <p:spPr>
          <a:xfrm>
            <a:off x="1188720" y="5989320"/>
            <a:ext cx="9784080" cy="41148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2563EB"/>
                </a:solidFill>
                <a:latin typeface="Aptos"/>
              </a:rPr>
              <a:t>Select therapeutic responses to distress.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LANE: CLARIFY</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Clarify</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7</a:t>
            </a:r>
          </a:p>
        </p:txBody>
      </p:sp>
      <p:sp>
        <p:nvSpPr>
          <p:cNvPr id="5" name="TextBox 4"/>
          <p:cNvSpPr txBox="1"/>
          <p:nvPr/>
        </p:nvSpPr>
        <p:spPr>
          <a:xfrm>
            <a:off x="320040" y="6510528"/>
            <a:ext cx="4023360" cy="128016"/>
          </a:xfrm>
          <a:prstGeom prst="rect">
            <a:avLst/>
          </a:prstGeom>
          <a:noFill/>
        </p:spPr>
        <p:txBody>
          <a:bodyPr wrap="square" anchor="t" lIns="27432" rIns="27432" tIns="18288" bIns="18288">
            <a:spAutoFit/>
          </a:bodyPr>
          <a:lstStyle/>
          <a:p>
            <a:pPr algn="l"/>
            <a:r>
              <a:rPr sz="570" b="0">
                <a:solidFill>
                  <a:srgbClr val="475569"/>
                </a:solidFill>
                <a:latin typeface="Aptos"/>
              </a:rPr>
              <a:t>CJM: prioritize hypotheses, generate solutions</a:t>
            </a:r>
          </a:p>
        </p:txBody>
      </p:sp>
      <p:sp>
        <p:nvSpPr>
          <p:cNvPr id="6" name="TextBox 5"/>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7" name="TextBox 6"/>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S07  ·  source-aligned</a:t>
            </a:r>
          </a:p>
        </p:txBody>
      </p:sp>
      <p:sp>
        <p:nvSpPr>
          <p:cNvPr id="8" name="Rounded Rectangle 7"/>
          <p:cNvSpPr/>
          <p:nvPr/>
        </p:nvSpPr>
        <p:spPr>
          <a:xfrm>
            <a:off x="502920" y="1143000"/>
            <a:ext cx="11185855"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 y="1289304"/>
            <a:ext cx="45720" cy="941832"/>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1252728"/>
            <a:ext cx="10929823" cy="292608"/>
          </a:xfrm>
          <a:prstGeom prst="rect">
            <a:avLst/>
          </a:prstGeom>
          <a:noFill/>
        </p:spPr>
        <p:txBody>
          <a:bodyPr wrap="square" anchor="t" lIns="27432" rIns="27432" tIns="18288" bIns="18288">
            <a:spAutoFit/>
          </a:bodyPr>
          <a:lstStyle/>
          <a:p>
            <a:pPr algn="l"/>
            <a:r>
              <a:rPr sz="1300" b="1">
                <a:solidFill>
                  <a:srgbClr val="0F172A"/>
                </a:solidFill>
                <a:latin typeface="Aptos"/>
              </a:rPr>
              <a:t>Clarify</a:t>
            </a:r>
          </a:p>
        </p:txBody>
      </p:sp>
      <p:sp>
        <p:nvSpPr>
          <p:cNvPr id="11" name="TextBox 10"/>
          <p:cNvSpPr txBox="1"/>
          <p:nvPr/>
        </p:nvSpPr>
        <p:spPr>
          <a:xfrm>
            <a:off x="667512" y="1581912"/>
            <a:ext cx="10929823" cy="704088"/>
          </a:xfrm>
          <a:prstGeom prst="rect">
            <a:avLst/>
          </a:prstGeom>
          <a:noFill/>
        </p:spPr>
        <p:txBody>
          <a:bodyPr wrap="square" anchor="t" lIns="27432" rIns="27432" tIns="18288" bIns="18288">
            <a:spAutoFit/>
          </a:bodyPr>
          <a:lstStyle/>
          <a:p>
            <a:pPr algn="l"/>
            <a:r>
              <a:rPr sz="900" b="0">
                <a:solidFill>
                  <a:srgbClr val="475569"/>
                </a:solidFill>
                <a:latin typeface="Aptos"/>
              </a:rPr>
              <a:t>Reflect or restate the patient's meaning and ask focused questions when safety or symptoms require clarification.</a:t>
            </a:r>
          </a:p>
        </p:txBody>
      </p:sp>
      <p:sp>
        <p:nvSpPr>
          <p:cNvPr id="12" name="Rounded Rectangle 11"/>
          <p:cNvSpPr/>
          <p:nvPr/>
        </p:nvSpPr>
        <p:spPr>
          <a:xfrm>
            <a:off x="1188720" y="5989320"/>
            <a:ext cx="9784080" cy="41148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2563EB"/>
                </a:solidFill>
                <a:latin typeface="Aptos"/>
              </a:rPr>
              <a:t>Avoid common nontherapeutic communication barriers.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LANE: ASSESS SAFETY</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Assess safety</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8</a:t>
            </a:r>
          </a:p>
        </p:txBody>
      </p:sp>
      <p:sp>
        <p:nvSpPr>
          <p:cNvPr id="5" name="TextBox 4"/>
          <p:cNvSpPr txBox="1"/>
          <p:nvPr/>
        </p:nvSpPr>
        <p:spPr>
          <a:xfrm>
            <a:off x="320040" y="6510528"/>
            <a:ext cx="4023360" cy="128016"/>
          </a:xfrm>
          <a:prstGeom prst="rect">
            <a:avLst/>
          </a:prstGeom>
          <a:noFill/>
        </p:spPr>
        <p:txBody>
          <a:bodyPr wrap="square" anchor="t" lIns="27432" rIns="27432" tIns="18288" bIns="18288">
            <a:spAutoFit/>
          </a:bodyPr>
          <a:lstStyle/>
          <a:p>
            <a:pPr algn="l"/>
            <a:r>
              <a:rPr sz="570" b="0">
                <a:solidFill>
                  <a:srgbClr val="475569"/>
                </a:solidFill>
                <a:latin typeface="Aptos"/>
              </a:rPr>
              <a:t>CJM: take action, evaluate outcomes</a:t>
            </a:r>
          </a:p>
        </p:txBody>
      </p:sp>
      <p:sp>
        <p:nvSpPr>
          <p:cNvPr id="6" name="TextBox 5"/>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7" name="TextBox 6"/>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S08  ·  source-aligned</a:t>
            </a:r>
          </a:p>
        </p:txBody>
      </p:sp>
      <p:sp>
        <p:nvSpPr>
          <p:cNvPr id="8" name="Rounded Rectangle 7"/>
          <p:cNvSpPr/>
          <p:nvPr/>
        </p:nvSpPr>
        <p:spPr>
          <a:xfrm>
            <a:off x="502920" y="1143000"/>
            <a:ext cx="11185855"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 y="1289304"/>
            <a:ext cx="45720" cy="941832"/>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1252728"/>
            <a:ext cx="10929823" cy="292608"/>
          </a:xfrm>
          <a:prstGeom prst="rect">
            <a:avLst/>
          </a:prstGeom>
          <a:noFill/>
        </p:spPr>
        <p:txBody>
          <a:bodyPr wrap="square" anchor="t" lIns="27432" rIns="27432" tIns="18288" bIns="18288">
            <a:spAutoFit/>
          </a:bodyPr>
          <a:lstStyle/>
          <a:p>
            <a:pPr algn="l"/>
            <a:r>
              <a:rPr sz="1300" b="1">
                <a:solidFill>
                  <a:srgbClr val="0F172A"/>
                </a:solidFill>
                <a:latin typeface="Aptos"/>
              </a:rPr>
              <a:t>Assess safety</a:t>
            </a:r>
          </a:p>
        </p:txBody>
      </p:sp>
      <p:sp>
        <p:nvSpPr>
          <p:cNvPr id="11" name="TextBox 10"/>
          <p:cNvSpPr txBox="1"/>
          <p:nvPr/>
        </p:nvSpPr>
        <p:spPr>
          <a:xfrm>
            <a:off x="667512" y="1581912"/>
            <a:ext cx="10929823" cy="704088"/>
          </a:xfrm>
          <a:prstGeom prst="rect">
            <a:avLst/>
          </a:prstGeom>
          <a:noFill/>
        </p:spPr>
        <p:txBody>
          <a:bodyPr wrap="square" anchor="t" lIns="27432" rIns="27432" tIns="18288" bIns="18288">
            <a:spAutoFit/>
          </a:bodyPr>
          <a:lstStyle/>
          <a:p>
            <a:pPr algn="l"/>
            <a:r>
              <a:rPr sz="900" b="0">
                <a:solidFill>
                  <a:srgbClr val="475569"/>
                </a:solidFill>
                <a:latin typeface="Aptos"/>
              </a:rPr>
              <a:t>Statements suggesting hopelessness or self-harm require direct, nonjudgmental assessment and immediate protection according to risk.</a:t>
            </a:r>
          </a:p>
        </p:txBody>
      </p:sp>
      <p:sp>
        <p:nvSpPr>
          <p:cNvPr id="12" name="Rounded Rectangle 11"/>
          <p:cNvSpPr/>
          <p:nvPr/>
        </p:nvSpPr>
        <p:spPr>
          <a:xfrm>
            <a:off x="1188720" y="5989320"/>
            <a:ext cx="9784080" cy="41148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2563EB"/>
                </a:solidFill>
                <a:latin typeface="Aptos"/>
              </a:rPr>
              <a:t>Escalate statements that indicate possible self-harm.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PRACTICE</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Activity: match the cue to the move it calls for</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9</a:t>
            </a:r>
          </a:p>
        </p:txBody>
      </p:sp>
      <p:sp>
        <p:nvSpPr>
          <p:cNvPr id="5" name="TextBox 4"/>
          <p:cNvSpPr txBox="1"/>
          <p:nvPr/>
        </p:nvSpPr>
        <p:spPr>
          <a:xfrm>
            <a:off x="320040" y="6510528"/>
            <a:ext cx="4023360" cy="128016"/>
          </a:xfrm>
          <a:prstGeom prst="rect">
            <a:avLst/>
          </a:prstGeom>
          <a:noFill/>
        </p:spPr>
        <p:txBody>
          <a:bodyPr wrap="square" anchor="t" lIns="27432" rIns="27432" tIns="18288" bIns="18288">
            <a:spAutoFit/>
          </a:bodyPr>
          <a:lstStyle/>
          <a:p>
            <a:pPr algn="l"/>
            <a:r>
              <a:rPr sz="570" b="0">
                <a:solidFill>
                  <a:srgbClr val="475569"/>
                </a:solidFill>
                <a:latin typeface="Aptos"/>
              </a:rPr>
              <a:t>CJM: recognize cues, analyze cues</a:t>
            </a:r>
          </a:p>
        </p:txBody>
      </p:sp>
      <p:sp>
        <p:nvSpPr>
          <p:cNvPr id="6" name="TextBox 5"/>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7" name="TextBox 6"/>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S09  ·  source-aligned</a:t>
            </a:r>
          </a:p>
        </p:txBody>
      </p:sp>
      <p:sp>
        <p:nvSpPr>
          <p:cNvPr id="8" name="TextBox 7"/>
          <p:cNvSpPr txBox="1"/>
          <p:nvPr/>
        </p:nvSpPr>
        <p:spPr>
          <a:xfrm>
            <a:off x="731520" y="1005840"/>
            <a:ext cx="10698480" cy="256032"/>
          </a:xfrm>
          <a:prstGeom prst="rect">
            <a:avLst/>
          </a:prstGeom>
          <a:noFill/>
        </p:spPr>
        <p:txBody>
          <a:bodyPr wrap="square" anchor="t" lIns="27432" rIns="27432" tIns="18288" bIns="18288">
            <a:spAutoFit/>
          </a:bodyPr>
          <a:lstStyle/>
          <a:p>
            <a:pPr algn="l"/>
            <a:r>
              <a:rPr sz="950" b="1">
                <a:solidFill>
                  <a:srgbClr val="0F172A"/>
                </a:solidFill>
                <a:latin typeface="Aptos"/>
              </a:rPr>
              <a:t>Work with one partner: match each source to the cue or clinical meaning most directly involved.</a:t>
            </a:r>
          </a:p>
        </p:txBody>
      </p:sp>
      <p:sp>
        <p:nvSpPr>
          <p:cNvPr id="9" name="Rounded Rectangle 8"/>
          <p:cNvSpPr/>
          <p:nvPr/>
        </p:nvSpPr>
        <p:spPr>
          <a:xfrm>
            <a:off x="777240" y="1508760"/>
            <a:ext cx="4800600" cy="530352"/>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32103" y="1655063"/>
            <a:ext cx="45720" cy="237743"/>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41832" y="1618488"/>
            <a:ext cx="4544568" cy="292608"/>
          </a:xfrm>
          <a:prstGeom prst="rect">
            <a:avLst/>
          </a:prstGeom>
          <a:noFill/>
        </p:spPr>
        <p:txBody>
          <a:bodyPr wrap="square" anchor="t" lIns="27432" rIns="27432" tIns="18288" bIns="18288">
            <a:spAutoFit/>
          </a:bodyPr>
          <a:lstStyle/>
          <a:p>
            <a:pPr algn="l"/>
            <a:r>
              <a:rPr sz="1050" b="1">
                <a:solidFill>
                  <a:srgbClr val="0F172A"/>
                </a:solidFill>
                <a:latin typeface="Aptos"/>
              </a:rPr>
              <a:t>A</a:t>
            </a:r>
          </a:p>
        </p:txBody>
      </p:sp>
      <p:sp>
        <p:nvSpPr>
          <p:cNvPr id="12" name="TextBox 11"/>
          <p:cNvSpPr txBox="1"/>
          <p:nvPr/>
        </p:nvSpPr>
        <p:spPr>
          <a:xfrm>
            <a:off x="941832" y="1947672"/>
            <a:ext cx="4544568" cy="0"/>
          </a:xfrm>
          <a:prstGeom prst="rect">
            <a:avLst/>
          </a:prstGeom>
          <a:noFill/>
        </p:spPr>
        <p:txBody>
          <a:bodyPr wrap="square" anchor="t" lIns="27432" rIns="27432" tIns="18288" bIns="18288">
            <a:spAutoFit/>
          </a:bodyPr>
          <a:lstStyle/>
          <a:p>
            <a:pPr algn="l"/>
            <a:r>
              <a:rPr sz="750" b="0">
                <a:solidFill>
                  <a:srgbClr val="475569"/>
                </a:solidFill>
                <a:latin typeface="Aptos"/>
              </a:rPr>
              <a:t>A. A patient says, "Nothing will ever get better."</a:t>
            </a:r>
          </a:p>
        </p:txBody>
      </p:sp>
      <p:sp>
        <p:nvSpPr>
          <p:cNvPr id="13" name="Rounded Rectangle 12"/>
          <p:cNvSpPr/>
          <p:nvPr/>
        </p:nvSpPr>
        <p:spPr>
          <a:xfrm>
            <a:off x="6537960" y="1508760"/>
            <a:ext cx="4526280" cy="530352"/>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592824" y="1655063"/>
            <a:ext cx="45720" cy="237743"/>
          </a:xfrm>
          <a:prstGeom prst="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02552" y="1618488"/>
            <a:ext cx="4270248" cy="292608"/>
          </a:xfrm>
          <a:prstGeom prst="rect">
            <a:avLst/>
          </a:prstGeom>
          <a:noFill/>
        </p:spPr>
        <p:txBody>
          <a:bodyPr wrap="square" anchor="t" lIns="27432" rIns="27432" tIns="18288" bIns="18288">
            <a:spAutoFit/>
          </a:bodyPr>
          <a:lstStyle/>
          <a:p>
            <a:pPr algn="l"/>
            <a:r>
              <a:rPr sz="1050" b="1">
                <a:solidFill>
                  <a:srgbClr val="0F172A"/>
                </a:solidFill>
                <a:latin typeface="Aptos"/>
              </a:rPr>
              <a:t>1</a:t>
            </a:r>
          </a:p>
        </p:txBody>
      </p:sp>
      <p:sp>
        <p:nvSpPr>
          <p:cNvPr id="16" name="TextBox 15"/>
          <p:cNvSpPr txBox="1"/>
          <p:nvPr/>
        </p:nvSpPr>
        <p:spPr>
          <a:xfrm>
            <a:off x="6702552" y="1947672"/>
            <a:ext cx="4270248" cy="0"/>
          </a:xfrm>
          <a:prstGeom prst="rect">
            <a:avLst/>
          </a:prstGeom>
          <a:noFill/>
        </p:spPr>
        <p:txBody>
          <a:bodyPr wrap="square" anchor="t" lIns="27432" rIns="27432" tIns="18288" bIns="18288">
            <a:spAutoFit/>
          </a:bodyPr>
          <a:lstStyle/>
          <a:p>
            <a:pPr algn="l"/>
            <a:r>
              <a:rPr sz="750" b="0">
                <a:solidFill>
                  <a:srgbClr val="475569"/>
                </a:solidFill>
                <a:latin typeface="Aptos"/>
              </a:rPr>
              <a:t>1. Create space</a:t>
            </a:r>
          </a:p>
        </p:txBody>
      </p:sp>
      <p:sp>
        <p:nvSpPr>
          <p:cNvPr id="17" name="Rounded Rectangle 16"/>
          <p:cNvSpPr/>
          <p:nvPr/>
        </p:nvSpPr>
        <p:spPr>
          <a:xfrm>
            <a:off x="777240" y="2203704"/>
            <a:ext cx="4800600" cy="530352"/>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32103" y="2350008"/>
            <a:ext cx="45720" cy="237743"/>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41832" y="2313432"/>
            <a:ext cx="4544568" cy="292608"/>
          </a:xfrm>
          <a:prstGeom prst="rect">
            <a:avLst/>
          </a:prstGeom>
          <a:noFill/>
        </p:spPr>
        <p:txBody>
          <a:bodyPr wrap="square" anchor="t" lIns="27432" rIns="27432" tIns="18288" bIns="18288">
            <a:spAutoFit/>
          </a:bodyPr>
          <a:lstStyle/>
          <a:p>
            <a:pPr algn="l"/>
            <a:r>
              <a:rPr sz="1050" b="1">
                <a:solidFill>
                  <a:srgbClr val="0F172A"/>
                </a:solidFill>
                <a:latin typeface="Aptos"/>
              </a:rPr>
              <a:t>B</a:t>
            </a:r>
          </a:p>
        </p:txBody>
      </p:sp>
      <p:sp>
        <p:nvSpPr>
          <p:cNvPr id="20" name="TextBox 19"/>
          <p:cNvSpPr txBox="1"/>
          <p:nvPr/>
        </p:nvSpPr>
        <p:spPr>
          <a:xfrm>
            <a:off x="941832" y="2642616"/>
            <a:ext cx="4544568" cy="0"/>
          </a:xfrm>
          <a:prstGeom prst="rect">
            <a:avLst/>
          </a:prstGeom>
          <a:noFill/>
        </p:spPr>
        <p:txBody>
          <a:bodyPr wrap="square" anchor="t" lIns="27432" rIns="27432" tIns="18288" bIns="18288">
            <a:spAutoFit/>
          </a:bodyPr>
          <a:lstStyle/>
          <a:p>
            <a:pPr algn="l"/>
            <a:r>
              <a:rPr sz="750" b="0">
                <a:solidFill>
                  <a:srgbClr val="475569"/>
                </a:solidFill>
                <a:latin typeface="Aptos"/>
              </a:rPr>
              <a:t>B. A grieving patient becomes silent and tearful.</a:t>
            </a:r>
          </a:p>
        </p:txBody>
      </p:sp>
      <p:sp>
        <p:nvSpPr>
          <p:cNvPr id="21" name="Rounded Rectangle 20"/>
          <p:cNvSpPr/>
          <p:nvPr/>
        </p:nvSpPr>
        <p:spPr>
          <a:xfrm>
            <a:off x="6537960" y="2203704"/>
            <a:ext cx="4526280" cy="530352"/>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592824" y="2350008"/>
            <a:ext cx="45720" cy="237743"/>
          </a:xfrm>
          <a:prstGeom prst="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702552" y="2313432"/>
            <a:ext cx="4270248" cy="292608"/>
          </a:xfrm>
          <a:prstGeom prst="rect">
            <a:avLst/>
          </a:prstGeom>
          <a:noFill/>
        </p:spPr>
        <p:txBody>
          <a:bodyPr wrap="square" anchor="t" lIns="27432" rIns="27432" tIns="18288" bIns="18288">
            <a:spAutoFit/>
          </a:bodyPr>
          <a:lstStyle/>
          <a:p>
            <a:pPr algn="l"/>
            <a:r>
              <a:rPr sz="1050" b="1">
                <a:solidFill>
                  <a:srgbClr val="0F172A"/>
                </a:solidFill>
                <a:latin typeface="Aptos"/>
              </a:rPr>
              <a:t>2</a:t>
            </a:r>
          </a:p>
        </p:txBody>
      </p:sp>
      <p:sp>
        <p:nvSpPr>
          <p:cNvPr id="24" name="TextBox 23"/>
          <p:cNvSpPr txBox="1"/>
          <p:nvPr/>
        </p:nvSpPr>
        <p:spPr>
          <a:xfrm>
            <a:off x="6702552" y="2642616"/>
            <a:ext cx="4270248" cy="0"/>
          </a:xfrm>
          <a:prstGeom prst="rect">
            <a:avLst/>
          </a:prstGeom>
          <a:noFill/>
        </p:spPr>
        <p:txBody>
          <a:bodyPr wrap="square" anchor="t" lIns="27432" rIns="27432" tIns="18288" bIns="18288">
            <a:spAutoFit/>
          </a:bodyPr>
          <a:lstStyle/>
          <a:p>
            <a:pPr algn="l"/>
            <a:r>
              <a:rPr sz="750" b="0">
                <a:solidFill>
                  <a:srgbClr val="475569"/>
                </a:solidFill>
                <a:latin typeface="Aptos"/>
              </a:rPr>
              <a:t>2. Clarify</a:t>
            </a:r>
          </a:p>
        </p:txBody>
      </p:sp>
      <p:sp>
        <p:nvSpPr>
          <p:cNvPr id="25" name="Rounded Rectangle 24"/>
          <p:cNvSpPr/>
          <p:nvPr/>
        </p:nvSpPr>
        <p:spPr>
          <a:xfrm>
            <a:off x="777240" y="2898648"/>
            <a:ext cx="4800600" cy="530352"/>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32103" y="3044952"/>
            <a:ext cx="45720" cy="237743"/>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41832" y="3008376"/>
            <a:ext cx="4544568" cy="292608"/>
          </a:xfrm>
          <a:prstGeom prst="rect">
            <a:avLst/>
          </a:prstGeom>
          <a:noFill/>
        </p:spPr>
        <p:txBody>
          <a:bodyPr wrap="square" anchor="t" lIns="27432" rIns="27432" tIns="18288" bIns="18288">
            <a:spAutoFit/>
          </a:bodyPr>
          <a:lstStyle/>
          <a:p>
            <a:pPr algn="l"/>
            <a:r>
              <a:rPr sz="1050" b="1">
                <a:solidFill>
                  <a:srgbClr val="0F172A"/>
                </a:solidFill>
                <a:latin typeface="Aptos"/>
              </a:rPr>
              <a:t>C</a:t>
            </a:r>
          </a:p>
        </p:txBody>
      </p:sp>
      <p:sp>
        <p:nvSpPr>
          <p:cNvPr id="28" name="TextBox 27"/>
          <p:cNvSpPr txBox="1"/>
          <p:nvPr/>
        </p:nvSpPr>
        <p:spPr>
          <a:xfrm>
            <a:off x="941832" y="3337560"/>
            <a:ext cx="4544568" cy="0"/>
          </a:xfrm>
          <a:prstGeom prst="rect">
            <a:avLst/>
          </a:prstGeom>
          <a:noFill/>
        </p:spPr>
        <p:txBody>
          <a:bodyPr wrap="square" anchor="t" lIns="27432" rIns="27432" tIns="18288" bIns="18288">
            <a:spAutoFit/>
          </a:bodyPr>
          <a:lstStyle/>
          <a:p>
            <a:pPr algn="l"/>
            <a:r>
              <a:rPr sz="750" b="0">
                <a:solidFill>
                  <a:srgbClr val="475569"/>
                </a:solidFill>
                <a:latin typeface="Aptos"/>
              </a:rPr>
              <a:t>C. A patient says, "Everyone is judging me."</a:t>
            </a:r>
          </a:p>
        </p:txBody>
      </p:sp>
      <p:sp>
        <p:nvSpPr>
          <p:cNvPr id="29" name="Rounded Rectangle 28"/>
          <p:cNvSpPr/>
          <p:nvPr/>
        </p:nvSpPr>
        <p:spPr>
          <a:xfrm>
            <a:off x="6537960" y="2898648"/>
            <a:ext cx="4526280" cy="530352"/>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592824" y="3044952"/>
            <a:ext cx="45720" cy="237743"/>
          </a:xfrm>
          <a:prstGeom prst="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702552" y="3008376"/>
            <a:ext cx="4270248" cy="292608"/>
          </a:xfrm>
          <a:prstGeom prst="rect">
            <a:avLst/>
          </a:prstGeom>
          <a:noFill/>
        </p:spPr>
        <p:txBody>
          <a:bodyPr wrap="square" anchor="t" lIns="27432" rIns="27432" tIns="18288" bIns="18288">
            <a:spAutoFit/>
          </a:bodyPr>
          <a:lstStyle/>
          <a:p>
            <a:pPr algn="l"/>
            <a:r>
              <a:rPr sz="1050" b="1">
                <a:solidFill>
                  <a:srgbClr val="0F172A"/>
                </a:solidFill>
                <a:latin typeface="Aptos"/>
              </a:rPr>
              <a:t>3</a:t>
            </a:r>
          </a:p>
        </p:txBody>
      </p:sp>
      <p:sp>
        <p:nvSpPr>
          <p:cNvPr id="32" name="TextBox 31"/>
          <p:cNvSpPr txBox="1"/>
          <p:nvPr/>
        </p:nvSpPr>
        <p:spPr>
          <a:xfrm>
            <a:off x="6702552" y="3337560"/>
            <a:ext cx="4270248" cy="0"/>
          </a:xfrm>
          <a:prstGeom prst="rect">
            <a:avLst/>
          </a:prstGeom>
          <a:noFill/>
        </p:spPr>
        <p:txBody>
          <a:bodyPr wrap="square" anchor="t" lIns="27432" rIns="27432" tIns="18288" bIns="18288">
            <a:spAutoFit/>
          </a:bodyPr>
          <a:lstStyle/>
          <a:p>
            <a:pPr algn="l"/>
            <a:r>
              <a:rPr sz="750" b="0">
                <a:solidFill>
                  <a:srgbClr val="475569"/>
                </a:solidFill>
                <a:latin typeface="Aptos"/>
              </a:rPr>
              <a:t>3. Assess safety</a:t>
            </a:r>
          </a:p>
        </p:txBody>
      </p:sp>
      <p:sp>
        <p:nvSpPr>
          <p:cNvPr id="33" name="Rounded Rectangle 32"/>
          <p:cNvSpPr/>
          <p:nvPr/>
        </p:nvSpPr>
        <p:spPr>
          <a:xfrm>
            <a:off x="777240" y="3593592"/>
            <a:ext cx="4800600" cy="530352"/>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32103" y="3739896"/>
            <a:ext cx="45720" cy="237743"/>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41832" y="3703320"/>
            <a:ext cx="4544568" cy="292608"/>
          </a:xfrm>
          <a:prstGeom prst="rect">
            <a:avLst/>
          </a:prstGeom>
          <a:noFill/>
        </p:spPr>
        <p:txBody>
          <a:bodyPr wrap="square" anchor="t" lIns="27432" rIns="27432" tIns="18288" bIns="18288">
            <a:spAutoFit/>
          </a:bodyPr>
          <a:lstStyle/>
          <a:p>
            <a:pPr algn="l"/>
            <a:r>
              <a:rPr sz="1050" b="1">
                <a:solidFill>
                  <a:srgbClr val="0F172A"/>
                </a:solidFill>
                <a:latin typeface="Aptos"/>
              </a:rPr>
              <a:t>D</a:t>
            </a:r>
          </a:p>
        </p:txBody>
      </p:sp>
      <p:sp>
        <p:nvSpPr>
          <p:cNvPr id="36" name="TextBox 35"/>
          <p:cNvSpPr txBox="1"/>
          <p:nvPr/>
        </p:nvSpPr>
        <p:spPr>
          <a:xfrm>
            <a:off x="941832" y="4032504"/>
            <a:ext cx="4544568" cy="0"/>
          </a:xfrm>
          <a:prstGeom prst="rect">
            <a:avLst/>
          </a:prstGeom>
          <a:noFill/>
        </p:spPr>
        <p:txBody>
          <a:bodyPr wrap="square" anchor="t" lIns="27432" rIns="27432" tIns="18288" bIns="18288">
            <a:spAutoFit/>
          </a:bodyPr>
          <a:lstStyle/>
          <a:p>
            <a:pPr algn="l"/>
            <a:r>
              <a:rPr sz="750" b="0">
                <a:solidFill>
                  <a:srgbClr val="475569"/>
                </a:solidFill>
                <a:latin typeface="Aptos"/>
              </a:rPr>
              <a:t>D. A patient is anxious about a procedure.</a:t>
            </a:r>
          </a:p>
        </p:txBody>
      </p:sp>
      <p:sp>
        <p:nvSpPr>
          <p:cNvPr id="37" name="Rounded Rectangle 36"/>
          <p:cNvSpPr/>
          <p:nvPr/>
        </p:nvSpPr>
        <p:spPr>
          <a:xfrm>
            <a:off x="6537960" y="3593592"/>
            <a:ext cx="4526280" cy="530352"/>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592824" y="3739896"/>
            <a:ext cx="45720" cy="237743"/>
          </a:xfrm>
          <a:prstGeom prst="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702552" y="3703320"/>
            <a:ext cx="4270248" cy="292608"/>
          </a:xfrm>
          <a:prstGeom prst="rect">
            <a:avLst/>
          </a:prstGeom>
          <a:noFill/>
        </p:spPr>
        <p:txBody>
          <a:bodyPr wrap="square" anchor="t" lIns="27432" rIns="27432" tIns="18288" bIns="18288">
            <a:spAutoFit/>
          </a:bodyPr>
          <a:lstStyle/>
          <a:p>
            <a:pPr algn="l"/>
            <a:r>
              <a:rPr sz="1050" b="1">
                <a:solidFill>
                  <a:srgbClr val="0F172A"/>
                </a:solidFill>
                <a:latin typeface="Aptos"/>
              </a:rPr>
              <a:t>4</a:t>
            </a:r>
          </a:p>
        </p:txBody>
      </p:sp>
      <p:sp>
        <p:nvSpPr>
          <p:cNvPr id="40" name="TextBox 39"/>
          <p:cNvSpPr txBox="1"/>
          <p:nvPr/>
        </p:nvSpPr>
        <p:spPr>
          <a:xfrm>
            <a:off x="6702552" y="4032504"/>
            <a:ext cx="4270248" cy="0"/>
          </a:xfrm>
          <a:prstGeom prst="rect">
            <a:avLst/>
          </a:prstGeom>
          <a:noFill/>
        </p:spPr>
        <p:txBody>
          <a:bodyPr wrap="square" anchor="t" lIns="27432" rIns="27432" tIns="18288" bIns="18288">
            <a:spAutoFit/>
          </a:bodyPr>
          <a:lstStyle/>
          <a:p>
            <a:pPr algn="l"/>
            <a:r>
              <a:rPr sz="750" b="0">
                <a:solidFill>
                  <a:srgbClr val="475569"/>
                </a:solidFill>
                <a:latin typeface="Aptos"/>
              </a:rPr>
              <a:t>4. Evaluate the result</a:t>
            </a:r>
          </a:p>
        </p:txBody>
      </p:sp>
      <p:sp>
        <p:nvSpPr>
          <p:cNvPr id="41" name="Rounded Rectangle 40"/>
          <p:cNvSpPr/>
          <p:nvPr/>
        </p:nvSpPr>
        <p:spPr>
          <a:xfrm>
            <a:off x="1188720" y="5989320"/>
            <a:ext cx="9784080" cy="411480"/>
          </a:xfrm>
          <a:prstGeom prst="roundRect">
            <a:avLst/>
          </a:prstGeom>
          <a:solidFill>
            <a:srgbClr val="ECFDF5"/>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0F766E"/>
                </a:solidFill>
                <a:latin typeface="Aptos"/>
              </a:rPr>
              <a:t>Output: write matches and one sentence explaining one match.</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PRACTICE</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Debrief: the reasoning behind each action</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10</a:t>
            </a:r>
          </a:p>
        </p:txBody>
      </p:sp>
      <p:sp>
        <p:nvSpPr>
          <p:cNvPr id="5" name="TextBox 4"/>
          <p:cNvSpPr txBox="1"/>
          <p:nvPr/>
        </p:nvSpPr>
        <p:spPr>
          <a:xfrm>
            <a:off x="320040" y="6510528"/>
            <a:ext cx="4023360" cy="128016"/>
          </a:xfrm>
          <a:prstGeom prst="rect">
            <a:avLst/>
          </a:prstGeom>
          <a:noFill/>
        </p:spPr>
        <p:txBody>
          <a:bodyPr wrap="square" anchor="t" lIns="27432" rIns="27432" tIns="18288" bIns="18288">
            <a:spAutoFit/>
          </a:bodyPr>
          <a:lstStyle/>
          <a:p>
            <a:pPr algn="l"/>
            <a:r>
              <a:rPr sz="570" b="0">
                <a:solidFill>
                  <a:srgbClr val="475569"/>
                </a:solidFill>
                <a:latin typeface="Aptos"/>
              </a:rPr>
              <a:t>CJM: analyze cues</a:t>
            </a:r>
          </a:p>
        </p:txBody>
      </p:sp>
      <p:sp>
        <p:nvSpPr>
          <p:cNvPr id="6" name="TextBox 5"/>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7" name="TextBox 6"/>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S10  ·  source-aligned</a:t>
            </a:r>
          </a:p>
        </p:txBody>
      </p:sp>
      <p:sp>
        <p:nvSpPr>
          <p:cNvPr id="8" name="Rounded Rectangle 7"/>
          <p:cNvSpPr/>
          <p:nvPr/>
        </p:nvSpPr>
        <p:spPr>
          <a:xfrm>
            <a:off x="502920" y="1097280"/>
            <a:ext cx="5510631"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 y="1243584"/>
            <a:ext cx="45720" cy="941832"/>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1207007"/>
            <a:ext cx="5254599" cy="292608"/>
          </a:xfrm>
          <a:prstGeom prst="rect">
            <a:avLst/>
          </a:prstGeom>
          <a:noFill/>
        </p:spPr>
        <p:txBody>
          <a:bodyPr wrap="square" anchor="t" lIns="27432" rIns="27432" tIns="18288" bIns="18288">
            <a:spAutoFit/>
          </a:bodyPr>
          <a:lstStyle/>
          <a:p>
            <a:pPr algn="l"/>
            <a:r>
              <a:rPr sz="1200" b="1">
                <a:solidFill>
                  <a:srgbClr val="0F172A"/>
                </a:solidFill>
                <a:latin typeface="Aptos"/>
              </a:rPr>
              <a:t>Acknowledge the distress and ask directly about thoughts o</a:t>
            </a:r>
          </a:p>
        </p:txBody>
      </p:sp>
      <p:sp>
        <p:nvSpPr>
          <p:cNvPr id="11" name="TextBox 10"/>
          <p:cNvSpPr txBox="1"/>
          <p:nvPr/>
        </p:nvSpPr>
        <p:spPr>
          <a:xfrm>
            <a:off x="667512" y="1536192"/>
            <a:ext cx="5254599" cy="704088"/>
          </a:xfrm>
          <a:prstGeom prst="rect">
            <a:avLst/>
          </a:prstGeom>
          <a:noFill/>
        </p:spPr>
        <p:txBody>
          <a:bodyPr wrap="square" anchor="t" lIns="27432" rIns="27432" tIns="18288" bIns="18288">
            <a:spAutoFit/>
          </a:bodyPr>
          <a:lstStyle/>
          <a:p>
            <a:pPr algn="l"/>
            <a:r>
              <a:rPr sz="819" b="0">
                <a:solidFill>
                  <a:srgbClr val="475569"/>
                </a:solidFill>
                <a:latin typeface="Aptos"/>
              </a:rPr>
              <a:t>Hopeless statements warrant therapeutic exploration and direct safety assessment.</a:t>
            </a:r>
          </a:p>
        </p:txBody>
      </p:sp>
      <p:sp>
        <p:nvSpPr>
          <p:cNvPr id="12" name="Rounded Rectangle 11"/>
          <p:cNvSpPr/>
          <p:nvPr/>
        </p:nvSpPr>
        <p:spPr>
          <a:xfrm>
            <a:off x="6178143" y="1097280"/>
            <a:ext cx="5510631"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3007" y="1243584"/>
            <a:ext cx="45720" cy="941832"/>
          </a:xfrm>
          <a:prstGeom prst="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42735" y="1207007"/>
            <a:ext cx="5254599" cy="292608"/>
          </a:xfrm>
          <a:prstGeom prst="rect">
            <a:avLst/>
          </a:prstGeom>
          <a:noFill/>
        </p:spPr>
        <p:txBody>
          <a:bodyPr wrap="square" anchor="t" lIns="27432" rIns="27432" tIns="18288" bIns="18288">
            <a:spAutoFit/>
          </a:bodyPr>
          <a:lstStyle/>
          <a:p>
            <a:pPr algn="l"/>
            <a:r>
              <a:rPr sz="1200" b="1">
                <a:solidFill>
                  <a:srgbClr val="0F172A"/>
                </a:solidFill>
                <a:latin typeface="Aptos"/>
              </a:rPr>
              <a:t>Remain present and allow silence while offering the patien</a:t>
            </a:r>
          </a:p>
        </p:txBody>
      </p:sp>
      <p:sp>
        <p:nvSpPr>
          <p:cNvPr id="15" name="TextBox 14"/>
          <p:cNvSpPr txBox="1"/>
          <p:nvPr/>
        </p:nvSpPr>
        <p:spPr>
          <a:xfrm>
            <a:off x="6342735" y="1536192"/>
            <a:ext cx="5254599" cy="704088"/>
          </a:xfrm>
          <a:prstGeom prst="rect">
            <a:avLst/>
          </a:prstGeom>
          <a:noFill/>
        </p:spPr>
        <p:txBody>
          <a:bodyPr wrap="square" anchor="t" lIns="27432" rIns="27432" tIns="18288" bIns="18288">
            <a:spAutoFit/>
          </a:bodyPr>
          <a:lstStyle/>
          <a:p>
            <a:pPr algn="l"/>
            <a:r>
              <a:rPr sz="819" b="0">
                <a:solidFill>
                  <a:srgbClr val="475569"/>
                </a:solidFill>
                <a:latin typeface="Aptos"/>
              </a:rPr>
              <a:t>Therapeutic silence communicates presence without forcing conversation.</a:t>
            </a:r>
          </a:p>
        </p:txBody>
      </p:sp>
      <p:sp>
        <p:nvSpPr>
          <p:cNvPr id="16" name="Rounded Rectangle 15"/>
          <p:cNvSpPr/>
          <p:nvPr/>
        </p:nvSpPr>
        <p:spPr>
          <a:xfrm>
            <a:off x="502920" y="2496312"/>
            <a:ext cx="5510631"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57784" y="2642616"/>
            <a:ext cx="45720" cy="941832"/>
          </a:xfrm>
          <a:prstGeom prst="rect">
            <a:avLst/>
          </a:prstGeom>
          <a:solidFill>
            <a:srgbClr val="DC2626"/>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7512" y="2606040"/>
            <a:ext cx="5254599" cy="292608"/>
          </a:xfrm>
          <a:prstGeom prst="rect">
            <a:avLst/>
          </a:prstGeom>
          <a:noFill/>
        </p:spPr>
        <p:txBody>
          <a:bodyPr wrap="square" anchor="t" lIns="27432" rIns="27432" tIns="18288" bIns="18288">
            <a:spAutoFit/>
          </a:bodyPr>
          <a:lstStyle/>
          <a:p>
            <a:pPr algn="l"/>
            <a:r>
              <a:rPr sz="1200" b="1">
                <a:solidFill>
                  <a:srgbClr val="0F172A"/>
                </a:solidFill>
                <a:latin typeface="Aptos"/>
              </a:rPr>
              <a:t>Respond, "It sounds as though you feel judged; tell me mor</a:t>
            </a:r>
          </a:p>
        </p:txBody>
      </p:sp>
      <p:sp>
        <p:nvSpPr>
          <p:cNvPr id="19" name="TextBox 18"/>
          <p:cNvSpPr txBox="1"/>
          <p:nvPr/>
        </p:nvSpPr>
        <p:spPr>
          <a:xfrm>
            <a:off x="667512" y="2935224"/>
            <a:ext cx="5254599" cy="704088"/>
          </a:xfrm>
          <a:prstGeom prst="rect">
            <a:avLst/>
          </a:prstGeom>
          <a:noFill/>
        </p:spPr>
        <p:txBody>
          <a:bodyPr wrap="square" anchor="t" lIns="27432" rIns="27432" tIns="18288" bIns="18288">
            <a:spAutoFit/>
          </a:bodyPr>
          <a:lstStyle/>
          <a:p>
            <a:pPr algn="l"/>
            <a:r>
              <a:rPr sz="819" b="0">
                <a:solidFill>
                  <a:srgbClr val="475569"/>
                </a:solidFill>
                <a:latin typeface="Aptos"/>
              </a:rPr>
              <a:t>Reflection validates the expressed feeling and invites clarification.</a:t>
            </a:r>
          </a:p>
        </p:txBody>
      </p:sp>
      <p:sp>
        <p:nvSpPr>
          <p:cNvPr id="20" name="Rounded Rectangle 19"/>
          <p:cNvSpPr/>
          <p:nvPr/>
        </p:nvSpPr>
        <p:spPr>
          <a:xfrm>
            <a:off x="6178143" y="2496312"/>
            <a:ext cx="5510631"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33007" y="2642616"/>
            <a:ext cx="45720" cy="941832"/>
          </a:xfrm>
          <a:prstGeom prst="rect">
            <a:avLst/>
          </a:prstGeom>
          <a:solidFill>
            <a:srgbClr val="7C3AED"/>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2735" y="2606040"/>
            <a:ext cx="5254599" cy="292608"/>
          </a:xfrm>
          <a:prstGeom prst="rect">
            <a:avLst/>
          </a:prstGeom>
          <a:noFill/>
        </p:spPr>
        <p:txBody>
          <a:bodyPr wrap="square" anchor="t" lIns="27432" rIns="27432" tIns="18288" bIns="18288">
            <a:spAutoFit/>
          </a:bodyPr>
          <a:lstStyle/>
          <a:p>
            <a:pPr algn="l"/>
            <a:r>
              <a:rPr sz="1200" b="1">
                <a:solidFill>
                  <a:srgbClr val="0F172A"/>
                </a:solidFill>
                <a:latin typeface="Aptos"/>
              </a:rPr>
              <a:t>Ask what concerns them most and provide information respon</a:t>
            </a:r>
          </a:p>
        </p:txBody>
      </p:sp>
      <p:sp>
        <p:nvSpPr>
          <p:cNvPr id="23" name="TextBox 22"/>
          <p:cNvSpPr txBox="1"/>
          <p:nvPr/>
        </p:nvSpPr>
        <p:spPr>
          <a:xfrm>
            <a:off x="6342735" y="2935224"/>
            <a:ext cx="5254599" cy="704088"/>
          </a:xfrm>
          <a:prstGeom prst="rect">
            <a:avLst/>
          </a:prstGeom>
          <a:noFill/>
        </p:spPr>
        <p:txBody>
          <a:bodyPr wrap="square" anchor="t" lIns="27432" rIns="27432" tIns="18288" bIns="18288">
            <a:spAutoFit/>
          </a:bodyPr>
          <a:lstStyle/>
          <a:p>
            <a:pPr algn="l"/>
            <a:r>
              <a:rPr sz="819" b="0">
                <a:solidFill>
                  <a:srgbClr val="475569"/>
                </a:solidFill>
                <a:latin typeface="Aptos"/>
              </a:rPr>
              <a:t>Open exploration identifies the patient's need before teaching.</a:t>
            </a:r>
          </a:p>
        </p:txBody>
      </p:sp>
      <p:sp>
        <p:nvSpPr>
          <p:cNvPr id="24" name="Rounded Rectangle 23"/>
          <p:cNvSpPr/>
          <p:nvPr/>
        </p:nvSpPr>
        <p:spPr>
          <a:xfrm>
            <a:off x="1188720" y="5989320"/>
            <a:ext cx="9784080" cy="411480"/>
          </a:xfrm>
          <a:prstGeom prst="roundRect">
            <a:avLst/>
          </a:prstGeom>
          <a:solidFill>
            <a:srgbClr val="FFF7ED"/>
          </a:solidFill>
          <a:ln w="127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EA580C"/>
                </a:solidFill>
                <a:latin typeface="Aptos"/>
              </a:rPr>
              <a:t>Explain why each keyed action follows from its cue.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PRACTICE</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Checkpoint</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11</a:t>
            </a:r>
          </a:p>
        </p:txBody>
      </p:sp>
      <p:sp>
        <p:nvSpPr>
          <p:cNvPr id="5" name="TextBox 4"/>
          <p:cNvSpPr txBox="1"/>
          <p:nvPr/>
        </p:nvSpPr>
        <p:spPr>
          <a:xfrm>
            <a:off x="320040" y="6510528"/>
            <a:ext cx="4023360" cy="128016"/>
          </a:xfrm>
          <a:prstGeom prst="rect">
            <a:avLst/>
          </a:prstGeom>
          <a:noFill/>
        </p:spPr>
        <p:txBody>
          <a:bodyPr wrap="square" anchor="t" lIns="27432" rIns="27432" tIns="18288" bIns="18288">
            <a:spAutoFit/>
          </a:bodyPr>
          <a:lstStyle/>
          <a:p>
            <a:pPr algn="l"/>
            <a:r>
              <a:rPr sz="570" b="0">
                <a:solidFill>
                  <a:srgbClr val="475569"/>
                </a:solidFill>
                <a:latin typeface="Aptos"/>
              </a:rPr>
              <a:t>CJM: analyze cues</a:t>
            </a:r>
          </a:p>
        </p:txBody>
      </p:sp>
      <p:sp>
        <p:nvSpPr>
          <p:cNvPr id="6" name="TextBox 5"/>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7" name="TextBox 6"/>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S11  ·  source-aligned</a:t>
            </a:r>
          </a:p>
        </p:txBody>
      </p:sp>
      <p:sp>
        <p:nvSpPr>
          <p:cNvPr id="8" name="Rounded Rectangle 7"/>
          <p:cNvSpPr/>
          <p:nvPr/>
        </p:nvSpPr>
        <p:spPr>
          <a:xfrm>
            <a:off x="777240" y="1097280"/>
            <a:ext cx="10698480" cy="868680"/>
          </a:xfrm>
          <a:prstGeom prst="roundRect">
            <a:avLst/>
          </a:prstGeom>
          <a:solidFill>
            <a:srgbClr val="F5F3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32103" y="1243584"/>
            <a:ext cx="45720" cy="576071"/>
          </a:xfrm>
          <a:prstGeom prst="rect">
            <a:avLst/>
          </a:prstGeom>
          <a:solidFill>
            <a:srgbClr val="7C3AED"/>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41832" y="1207007"/>
            <a:ext cx="10442448" cy="292608"/>
          </a:xfrm>
          <a:prstGeom prst="rect">
            <a:avLst/>
          </a:prstGeom>
          <a:noFill/>
        </p:spPr>
        <p:txBody>
          <a:bodyPr wrap="square" anchor="t" lIns="27432" rIns="27432" tIns="18288" bIns="18288">
            <a:spAutoFit/>
          </a:bodyPr>
          <a:lstStyle/>
          <a:p>
            <a:pPr algn="l"/>
            <a:r>
              <a:rPr sz="1300" b="1">
                <a:solidFill>
                  <a:srgbClr val="0F172A"/>
                </a:solidFill>
                <a:latin typeface="Aptos"/>
              </a:rPr>
              <a:t>checkpoint question</a:t>
            </a:r>
          </a:p>
        </p:txBody>
      </p:sp>
      <p:sp>
        <p:nvSpPr>
          <p:cNvPr id="11" name="TextBox 10"/>
          <p:cNvSpPr txBox="1"/>
          <p:nvPr/>
        </p:nvSpPr>
        <p:spPr>
          <a:xfrm>
            <a:off x="941832" y="1536192"/>
            <a:ext cx="10442448" cy="338328"/>
          </a:xfrm>
          <a:prstGeom prst="rect">
            <a:avLst/>
          </a:prstGeom>
          <a:noFill/>
        </p:spPr>
        <p:txBody>
          <a:bodyPr wrap="square" anchor="t" lIns="27432" rIns="27432" tIns="18288" bIns="18288">
            <a:spAutoFit/>
          </a:bodyPr>
          <a:lstStyle/>
          <a:p>
            <a:pPr algn="l"/>
            <a:r>
              <a:rPr sz="1000" b="0">
                <a:solidFill>
                  <a:srgbClr val="475569"/>
                </a:solidFill>
                <a:latin typeface="Aptos"/>
              </a:rPr>
              <a:t>A grieving patient becomes silent and tearful. What should the nurse do?</a:t>
            </a:r>
          </a:p>
        </p:txBody>
      </p:sp>
      <p:sp>
        <p:nvSpPr>
          <p:cNvPr id="12" name="Rounded Rectangle 11"/>
          <p:cNvSpPr/>
          <p:nvPr/>
        </p:nvSpPr>
        <p:spPr>
          <a:xfrm>
            <a:off x="1005840" y="2240280"/>
            <a:ext cx="10012680" cy="402336"/>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43000" y="2359152"/>
            <a:ext cx="256032" cy="146304"/>
          </a:xfrm>
          <a:prstGeom prst="rect">
            <a:avLst/>
          </a:prstGeom>
          <a:noFill/>
        </p:spPr>
        <p:txBody>
          <a:bodyPr wrap="square" anchor="t" lIns="27432" rIns="27432" tIns="18288" bIns="18288">
            <a:spAutoFit/>
          </a:bodyPr>
          <a:lstStyle/>
          <a:p>
            <a:pPr algn="l"/>
            <a:r>
              <a:rPr sz="800" b="1">
                <a:solidFill>
                  <a:srgbClr val="7C3AED"/>
                </a:solidFill>
                <a:latin typeface="Aptos"/>
              </a:rPr>
              <a:t>A</a:t>
            </a:r>
          </a:p>
        </p:txBody>
      </p:sp>
      <p:sp>
        <p:nvSpPr>
          <p:cNvPr id="14" name="TextBox 13"/>
          <p:cNvSpPr txBox="1"/>
          <p:nvPr/>
        </p:nvSpPr>
        <p:spPr>
          <a:xfrm>
            <a:off x="1554480" y="2340864"/>
            <a:ext cx="9052560" cy="164592"/>
          </a:xfrm>
          <a:prstGeom prst="rect">
            <a:avLst/>
          </a:prstGeom>
          <a:noFill/>
        </p:spPr>
        <p:txBody>
          <a:bodyPr wrap="square" anchor="t" lIns="27432" rIns="27432" tIns="18288" bIns="18288">
            <a:spAutoFit/>
          </a:bodyPr>
          <a:lstStyle/>
          <a:p>
            <a:pPr algn="l"/>
            <a:r>
              <a:rPr sz="850" b="0">
                <a:solidFill>
                  <a:srgbClr val="475569"/>
                </a:solidFill>
                <a:latin typeface="Aptos"/>
              </a:rPr>
              <a:t>A. Delay action until the end of the shift.</a:t>
            </a:r>
          </a:p>
        </p:txBody>
      </p:sp>
      <p:sp>
        <p:nvSpPr>
          <p:cNvPr id="15" name="Rounded Rectangle 14"/>
          <p:cNvSpPr/>
          <p:nvPr/>
        </p:nvSpPr>
        <p:spPr>
          <a:xfrm>
            <a:off x="1005840" y="2807208"/>
            <a:ext cx="10012680" cy="402336"/>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43000" y="2926080"/>
            <a:ext cx="256032" cy="146304"/>
          </a:xfrm>
          <a:prstGeom prst="rect">
            <a:avLst/>
          </a:prstGeom>
          <a:noFill/>
        </p:spPr>
        <p:txBody>
          <a:bodyPr wrap="square" anchor="t" lIns="27432" rIns="27432" tIns="18288" bIns="18288">
            <a:spAutoFit/>
          </a:bodyPr>
          <a:lstStyle/>
          <a:p>
            <a:pPr algn="l"/>
            <a:r>
              <a:rPr sz="800" b="1">
                <a:solidFill>
                  <a:srgbClr val="7C3AED"/>
                </a:solidFill>
                <a:latin typeface="Aptos"/>
              </a:rPr>
              <a:t>B</a:t>
            </a:r>
          </a:p>
        </p:txBody>
      </p:sp>
      <p:sp>
        <p:nvSpPr>
          <p:cNvPr id="17" name="TextBox 16"/>
          <p:cNvSpPr txBox="1"/>
          <p:nvPr/>
        </p:nvSpPr>
        <p:spPr>
          <a:xfrm>
            <a:off x="1554480" y="2907792"/>
            <a:ext cx="9052560" cy="164592"/>
          </a:xfrm>
          <a:prstGeom prst="rect">
            <a:avLst/>
          </a:prstGeom>
          <a:noFill/>
        </p:spPr>
        <p:txBody>
          <a:bodyPr wrap="square" anchor="t" lIns="27432" rIns="27432" tIns="18288" bIns="18288">
            <a:spAutoFit/>
          </a:bodyPr>
          <a:lstStyle/>
          <a:p>
            <a:pPr algn="l"/>
            <a:r>
              <a:rPr sz="850" b="0">
                <a:solidFill>
                  <a:srgbClr val="475569"/>
                </a:solidFill>
                <a:latin typeface="Aptos"/>
              </a:rPr>
              <a:t>B. Document the finding without reassessment or follow-up.</a:t>
            </a:r>
          </a:p>
        </p:txBody>
      </p:sp>
      <p:sp>
        <p:nvSpPr>
          <p:cNvPr id="18" name="Rounded Rectangle 17"/>
          <p:cNvSpPr/>
          <p:nvPr/>
        </p:nvSpPr>
        <p:spPr>
          <a:xfrm>
            <a:off x="1005840" y="3374136"/>
            <a:ext cx="10012680" cy="402336"/>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43000" y="3493008"/>
            <a:ext cx="256032" cy="146304"/>
          </a:xfrm>
          <a:prstGeom prst="rect">
            <a:avLst/>
          </a:prstGeom>
          <a:noFill/>
        </p:spPr>
        <p:txBody>
          <a:bodyPr wrap="square" anchor="t" lIns="27432" rIns="27432" tIns="18288" bIns="18288">
            <a:spAutoFit/>
          </a:bodyPr>
          <a:lstStyle/>
          <a:p>
            <a:pPr algn="l"/>
            <a:r>
              <a:rPr sz="800" b="1">
                <a:solidFill>
                  <a:srgbClr val="7C3AED"/>
                </a:solidFill>
                <a:latin typeface="Aptos"/>
              </a:rPr>
              <a:t>C</a:t>
            </a:r>
          </a:p>
        </p:txBody>
      </p:sp>
      <p:sp>
        <p:nvSpPr>
          <p:cNvPr id="20" name="TextBox 19"/>
          <p:cNvSpPr txBox="1"/>
          <p:nvPr/>
        </p:nvSpPr>
        <p:spPr>
          <a:xfrm>
            <a:off x="1554480" y="3474720"/>
            <a:ext cx="9052560" cy="164592"/>
          </a:xfrm>
          <a:prstGeom prst="rect">
            <a:avLst/>
          </a:prstGeom>
          <a:noFill/>
        </p:spPr>
        <p:txBody>
          <a:bodyPr wrap="square" anchor="t" lIns="27432" rIns="27432" tIns="18288" bIns="18288">
            <a:spAutoFit/>
          </a:bodyPr>
          <a:lstStyle/>
          <a:p>
            <a:pPr algn="l"/>
            <a:r>
              <a:rPr sz="850" b="0">
                <a:solidFill>
                  <a:srgbClr val="475569"/>
                </a:solidFill>
                <a:latin typeface="Aptos"/>
              </a:rPr>
              <a:t>C. Remain present and allow silence while offering the patient time to speak.</a:t>
            </a:r>
          </a:p>
        </p:txBody>
      </p:sp>
      <p:sp>
        <p:nvSpPr>
          <p:cNvPr id="21" name="Rounded Rectangle 20"/>
          <p:cNvSpPr/>
          <p:nvPr/>
        </p:nvSpPr>
        <p:spPr>
          <a:xfrm>
            <a:off x="1005840" y="3941064"/>
            <a:ext cx="10012680" cy="402336"/>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43000" y="4059936"/>
            <a:ext cx="256032" cy="146304"/>
          </a:xfrm>
          <a:prstGeom prst="rect">
            <a:avLst/>
          </a:prstGeom>
          <a:noFill/>
        </p:spPr>
        <p:txBody>
          <a:bodyPr wrap="square" anchor="t" lIns="27432" rIns="27432" tIns="18288" bIns="18288">
            <a:spAutoFit/>
          </a:bodyPr>
          <a:lstStyle/>
          <a:p>
            <a:pPr algn="l"/>
            <a:r>
              <a:rPr sz="800" b="1">
                <a:solidFill>
                  <a:srgbClr val="7C3AED"/>
                </a:solidFill>
                <a:latin typeface="Aptos"/>
              </a:rPr>
              <a:t>D</a:t>
            </a:r>
          </a:p>
        </p:txBody>
      </p:sp>
      <p:sp>
        <p:nvSpPr>
          <p:cNvPr id="23" name="TextBox 22"/>
          <p:cNvSpPr txBox="1"/>
          <p:nvPr/>
        </p:nvSpPr>
        <p:spPr>
          <a:xfrm>
            <a:off x="1554480" y="4041648"/>
            <a:ext cx="9052560" cy="164592"/>
          </a:xfrm>
          <a:prstGeom prst="rect">
            <a:avLst/>
          </a:prstGeom>
          <a:noFill/>
        </p:spPr>
        <p:txBody>
          <a:bodyPr wrap="square" anchor="t" lIns="27432" rIns="27432" tIns="18288" bIns="18288">
            <a:spAutoFit/>
          </a:bodyPr>
          <a:lstStyle/>
          <a:p>
            <a:pPr algn="l"/>
            <a:r>
              <a:rPr sz="850" b="0">
                <a:solidFill>
                  <a:srgbClr val="475569"/>
                </a:solidFill>
                <a:latin typeface="Aptos"/>
              </a:rPr>
              <a:t>D. Delegate the clinical judgment decision to unlicensed assistive personnel.</a:t>
            </a:r>
          </a:p>
        </p:txBody>
      </p:sp>
      <p:sp>
        <p:nvSpPr>
          <p:cNvPr id="24" name="Rounded Rectangle 23"/>
          <p:cNvSpPr/>
          <p:nvPr/>
        </p:nvSpPr>
        <p:spPr>
          <a:xfrm>
            <a:off x="1188720" y="5989320"/>
            <a:ext cx="9784080" cy="411480"/>
          </a:xfrm>
          <a:prstGeom prst="roundRect">
            <a:avLst/>
          </a:prstGeom>
          <a:solidFill>
            <a:srgbClr val="F5F3FF"/>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7C3AED"/>
                </a:solidFill>
                <a:latin typeface="Aptos"/>
              </a:rPr>
              <a:t>Choose the best response.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APPLY</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Mini case</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12</a:t>
            </a:r>
          </a:p>
        </p:txBody>
      </p:sp>
      <p:sp>
        <p:nvSpPr>
          <p:cNvPr id="5" name="TextBox 4"/>
          <p:cNvSpPr txBox="1"/>
          <p:nvPr/>
        </p:nvSpPr>
        <p:spPr>
          <a:xfrm>
            <a:off x="320040" y="6510528"/>
            <a:ext cx="4023360" cy="128016"/>
          </a:xfrm>
          <a:prstGeom prst="rect">
            <a:avLst/>
          </a:prstGeom>
          <a:noFill/>
        </p:spPr>
        <p:txBody>
          <a:bodyPr wrap="square" anchor="t" lIns="27432" rIns="27432" tIns="18288" bIns="18288">
            <a:spAutoFit/>
          </a:bodyPr>
          <a:lstStyle/>
          <a:p>
            <a:pPr algn="l"/>
            <a:r>
              <a:rPr sz="570" b="0">
                <a:solidFill>
                  <a:srgbClr val="475569"/>
                </a:solidFill>
                <a:latin typeface="Aptos"/>
              </a:rPr>
              <a:t>CJM: prioritize hypotheses, take action</a:t>
            </a:r>
          </a:p>
        </p:txBody>
      </p:sp>
      <p:sp>
        <p:nvSpPr>
          <p:cNvPr id="6" name="TextBox 5"/>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7" name="TextBox 6"/>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S12  ·  source-aligned</a:t>
            </a:r>
          </a:p>
        </p:txBody>
      </p:sp>
      <p:sp>
        <p:nvSpPr>
          <p:cNvPr id="8" name="Rounded Rectangle 7"/>
          <p:cNvSpPr/>
          <p:nvPr/>
        </p:nvSpPr>
        <p:spPr>
          <a:xfrm>
            <a:off x="731520" y="1051560"/>
            <a:ext cx="10744200" cy="713232"/>
          </a:xfrm>
          <a:prstGeom prst="roundRect">
            <a:avLst/>
          </a:prstGeom>
          <a:solidFill>
            <a:srgbClr val="FFF7ED"/>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86384" y="1197863"/>
            <a:ext cx="45720" cy="420624"/>
          </a:xfrm>
          <a:prstGeom prst="rect">
            <a:avLst/>
          </a:prstGeom>
          <a:solidFill>
            <a:srgbClr val="EA580C"/>
          </a:solidFill>
          <a:ln w="127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1161288"/>
            <a:ext cx="10488168" cy="292608"/>
          </a:xfrm>
          <a:prstGeom prst="rect">
            <a:avLst/>
          </a:prstGeom>
          <a:noFill/>
        </p:spPr>
        <p:txBody>
          <a:bodyPr wrap="square" anchor="t" lIns="27432" rIns="27432" tIns="18288" bIns="18288">
            <a:spAutoFit/>
          </a:bodyPr>
          <a:lstStyle/>
          <a:p>
            <a:pPr algn="l"/>
            <a:r>
              <a:rPr sz="1200" b="1">
                <a:solidFill>
                  <a:srgbClr val="0F172A"/>
                </a:solidFill>
                <a:latin typeface="Aptos"/>
              </a:rPr>
              <a:t>mini case</a:t>
            </a:r>
          </a:p>
        </p:txBody>
      </p:sp>
      <p:sp>
        <p:nvSpPr>
          <p:cNvPr id="11" name="TextBox 10"/>
          <p:cNvSpPr txBox="1"/>
          <p:nvPr/>
        </p:nvSpPr>
        <p:spPr>
          <a:xfrm>
            <a:off x="896112" y="1490472"/>
            <a:ext cx="10488168" cy="182880"/>
          </a:xfrm>
          <a:prstGeom prst="rect">
            <a:avLst/>
          </a:prstGeom>
          <a:noFill/>
        </p:spPr>
        <p:txBody>
          <a:bodyPr wrap="square" anchor="t" lIns="27432" rIns="27432" tIns="18288" bIns="18288">
            <a:spAutoFit/>
          </a:bodyPr>
          <a:lstStyle/>
          <a:p>
            <a:pPr algn="l"/>
            <a:r>
              <a:rPr sz="900" b="0">
                <a:solidFill>
                  <a:srgbClr val="475569"/>
                </a:solidFill>
                <a:latin typeface="Aptos"/>
              </a:rPr>
              <a:t>A patient says, "Everyone is judging me."</a:t>
            </a:r>
          </a:p>
        </p:txBody>
      </p:sp>
      <p:sp>
        <p:nvSpPr>
          <p:cNvPr id="12" name="Rounded Rectangle 11"/>
          <p:cNvSpPr/>
          <p:nvPr/>
        </p:nvSpPr>
        <p:spPr>
          <a:xfrm>
            <a:off x="502920" y="2057400"/>
            <a:ext cx="5510631"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57784" y="2203704"/>
            <a:ext cx="45720" cy="941832"/>
          </a:xfrm>
          <a:prstGeom prst="rect">
            <a:avLst/>
          </a:prstGeom>
          <a:solidFill>
            <a:srgbClr val="DC2626"/>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7512" y="2167128"/>
            <a:ext cx="5254599" cy="292608"/>
          </a:xfrm>
          <a:prstGeom prst="rect">
            <a:avLst/>
          </a:prstGeom>
          <a:noFill/>
        </p:spPr>
        <p:txBody>
          <a:bodyPr wrap="square" anchor="t" lIns="27432" rIns="27432" tIns="18288" bIns="18288">
            <a:spAutoFit/>
          </a:bodyPr>
          <a:lstStyle/>
          <a:p>
            <a:pPr algn="l"/>
            <a:r>
              <a:rPr sz="1200" b="1">
                <a:solidFill>
                  <a:srgbClr val="0F172A"/>
                </a:solidFill>
                <a:latin typeface="Aptos"/>
              </a:rPr>
              <a:t>cues</a:t>
            </a:r>
          </a:p>
        </p:txBody>
      </p:sp>
      <p:sp>
        <p:nvSpPr>
          <p:cNvPr id="15" name="TextBox 14"/>
          <p:cNvSpPr txBox="1"/>
          <p:nvPr/>
        </p:nvSpPr>
        <p:spPr>
          <a:xfrm>
            <a:off x="667512" y="2496312"/>
            <a:ext cx="5254599" cy="704088"/>
          </a:xfrm>
          <a:prstGeom prst="rect">
            <a:avLst/>
          </a:prstGeom>
          <a:noFill/>
        </p:spPr>
        <p:txBody>
          <a:bodyPr wrap="square" anchor="t" lIns="27432" rIns="27432" tIns="18288" bIns="18288">
            <a:spAutoFit/>
          </a:bodyPr>
          <a:lstStyle/>
          <a:p>
            <a:pPr algn="l"/>
            <a:r>
              <a:rPr sz="800" b="0">
                <a:solidFill>
                  <a:srgbClr val="475569"/>
                </a:solidFill>
                <a:latin typeface="Aptos"/>
              </a:rPr>
              <a:t>- Keyed action: Respond, "It sounds as though you feel judged; tell me more about that."
- Because: Reflection validates the expressed feeling and invites clarification.</a:t>
            </a:r>
          </a:p>
        </p:txBody>
      </p:sp>
      <p:sp>
        <p:nvSpPr>
          <p:cNvPr id="16" name="Rounded Rectangle 15"/>
          <p:cNvSpPr/>
          <p:nvPr/>
        </p:nvSpPr>
        <p:spPr>
          <a:xfrm>
            <a:off x="6178143" y="2057400"/>
            <a:ext cx="5510631"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33007" y="2203704"/>
            <a:ext cx="45720" cy="941832"/>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42735" y="2167128"/>
            <a:ext cx="5254599" cy="292608"/>
          </a:xfrm>
          <a:prstGeom prst="rect">
            <a:avLst/>
          </a:prstGeom>
          <a:noFill/>
        </p:spPr>
        <p:txBody>
          <a:bodyPr wrap="square" anchor="t" lIns="27432" rIns="27432" tIns="18288" bIns="18288">
            <a:spAutoFit/>
          </a:bodyPr>
          <a:lstStyle/>
          <a:p>
            <a:pPr algn="l"/>
            <a:r>
              <a:rPr sz="1200" b="1">
                <a:solidFill>
                  <a:srgbClr val="0F172A"/>
                </a:solidFill>
                <a:latin typeface="Aptos"/>
              </a:rPr>
              <a:t>your task</a:t>
            </a:r>
          </a:p>
        </p:txBody>
      </p:sp>
      <p:sp>
        <p:nvSpPr>
          <p:cNvPr id="19" name="TextBox 18"/>
          <p:cNvSpPr txBox="1"/>
          <p:nvPr/>
        </p:nvSpPr>
        <p:spPr>
          <a:xfrm>
            <a:off x="6342735" y="2496312"/>
            <a:ext cx="5254599" cy="704088"/>
          </a:xfrm>
          <a:prstGeom prst="rect">
            <a:avLst/>
          </a:prstGeom>
          <a:noFill/>
        </p:spPr>
        <p:txBody>
          <a:bodyPr wrap="square" anchor="t" lIns="27432" rIns="27432" tIns="18288" bIns="18288">
            <a:spAutoFit/>
          </a:bodyPr>
          <a:lstStyle/>
          <a:p>
            <a:pPr algn="l"/>
            <a:r>
              <a:rPr sz="800" b="0">
                <a:solidFill>
                  <a:srgbClr val="475569"/>
                </a:solidFill>
                <a:latin typeface="Aptos"/>
              </a:rPr>
              <a:t>Write one assessment sentence and one action sentence.</a:t>
            </a:r>
          </a:p>
        </p:txBody>
      </p:sp>
      <p:sp>
        <p:nvSpPr>
          <p:cNvPr id="20" name="Rounded Rectangle 19"/>
          <p:cNvSpPr/>
          <p:nvPr/>
        </p:nvSpPr>
        <p:spPr>
          <a:xfrm>
            <a:off x="1188720" y="5989320"/>
            <a:ext cx="9784080" cy="411480"/>
          </a:xfrm>
          <a:prstGeom prst="roundRect">
            <a:avLst/>
          </a:prstGeom>
          <a:solidFill>
            <a:srgbClr val="ECFDF5"/>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0F766E"/>
                </a:solidFill>
                <a:latin typeface="Aptos"/>
              </a:rPr>
              <a:t>Two sentences: what you assess, then what you do.</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SIGNAL</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Sort by urgency</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13</a:t>
            </a:r>
          </a:p>
        </p:txBody>
      </p:sp>
      <p:sp>
        <p:nvSpPr>
          <p:cNvPr id="5" name="TextBox 4"/>
          <p:cNvSpPr txBox="1"/>
          <p:nvPr/>
        </p:nvSpPr>
        <p:spPr>
          <a:xfrm>
            <a:off x="320040" y="6510528"/>
            <a:ext cx="4023360" cy="128016"/>
          </a:xfrm>
          <a:prstGeom prst="rect">
            <a:avLst/>
          </a:prstGeom>
          <a:noFill/>
        </p:spPr>
        <p:txBody>
          <a:bodyPr wrap="square" anchor="t" lIns="27432" rIns="27432" tIns="18288" bIns="18288">
            <a:spAutoFit/>
          </a:bodyPr>
          <a:lstStyle/>
          <a:p>
            <a:pPr algn="l"/>
            <a:r>
              <a:rPr sz="570" b="0">
                <a:solidFill>
                  <a:srgbClr val="475569"/>
                </a:solidFill>
                <a:latin typeface="Aptos"/>
              </a:rPr>
              <a:t>CJM: prioritize hypotheses</a:t>
            </a:r>
          </a:p>
        </p:txBody>
      </p:sp>
      <p:sp>
        <p:nvSpPr>
          <p:cNvPr id="6" name="TextBox 5"/>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7" name="TextBox 6"/>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S13  ·  source-aligned</a:t>
            </a:r>
          </a:p>
        </p:txBody>
      </p:sp>
      <p:sp>
        <p:nvSpPr>
          <p:cNvPr id="8" name="Rounded Rectangle 7"/>
          <p:cNvSpPr/>
          <p:nvPr/>
        </p:nvSpPr>
        <p:spPr>
          <a:xfrm>
            <a:off x="502920" y="1143000"/>
            <a:ext cx="5510631"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 y="1289304"/>
            <a:ext cx="45720" cy="941832"/>
          </a:xfrm>
          <a:prstGeom prst="rect">
            <a:avLst/>
          </a:prstGeom>
          <a:solidFill>
            <a:srgbClr val="DC2626"/>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1252728"/>
            <a:ext cx="5254599" cy="292608"/>
          </a:xfrm>
          <a:prstGeom prst="rect">
            <a:avLst/>
          </a:prstGeom>
          <a:noFill/>
        </p:spPr>
        <p:txBody>
          <a:bodyPr wrap="square" anchor="t" lIns="27432" rIns="27432" tIns="18288" bIns="18288">
            <a:spAutoFit/>
          </a:bodyPr>
          <a:lstStyle/>
          <a:p>
            <a:pPr algn="l"/>
            <a:r>
              <a:rPr sz="1200" b="1">
                <a:solidFill>
                  <a:srgbClr val="0F172A"/>
                </a:solidFill>
                <a:latin typeface="Aptos"/>
              </a:rPr>
              <a:t>Act now</a:t>
            </a:r>
          </a:p>
        </p:txBody>
      </p:sp>
      <p:sp>
        <p:nvSpPr>
          <p:cNvPr id="11" name="TextBox 10"/>
          <p:cNvSpPr txBox="1"/>
          <p:nvPr/>
        </p:nvSpPr>
        <p:spPr>
          <a:xfrm>
            <a:off x="667512" y="1581912"/>
            <a:ext cx="5254599" cy="704088"/>
          </a:xfrm>
          <a:prstGeom prst="rect">
            <a:avLst/>
          </a:prstGeom>
          <a:noFill/>
        </p:spPr>
        <p:txBody>
          <a:bodyPr wrap="square" anchor="t" lIns="27432" rIns="27432" tIns="18288" bIns="18288">
            <a:spAutoFit/>
          </a:bodyPr>
          <a:lstStyle/>
          <a:p>
            <a:pPr algn="l"/>
            <a:r>
              <a:rPr sz="800" b="0">
                <a:solidFill>
                  <a:srgbClr val="475569"/>
                </a:solidFill>
                <a:latin typeface="Aptos"/>
              </a:rPr>
              <a:t>- A patient says, "Nothing will ever get better."
- A grieving patient becomes silent and tearful.
- A patient says, "Everyone is judging me."</a:t>
            </a:r>
          </a:p>
        </p:txBody>
      </p:sp>
      <p:sp>
        <p:nvSpPr>
          <p:cNvPr id="12" name="Rounded Rectangle 11"/>
          <p:cNvSpPr/>
          <p:nvPr/>
        </p:nvSpPr>
        <p:spPr>
          <a:xfrm>
            <a:off x="6178143" y="1143000"/>
            <a:ext cx="5510631"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3007" y="1289304"/>
            <a:ext cx="45720" cy="941832"/>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42735" y="1252728"/>
            <a:ext cx="5254599" cy="292608"/>
          </a:xfrm>
          <a:prstGeom prst="rect">
            <a:avLst/>
          </a:prstGeom>
          <a:noFill/>
        </p:spPr>
        <p:txBody>
          <a:bodyPr wrap="square" anchor="t" lIns="27432" rIns="27432" tIns="18288" bIns="18288">
            <a:spAutoFit/>
          </a:bodyPr>
          <a:lstStyle/>
          <a:p>
            <a:pPr algn="l"/>
            <a:r>
              <a:rPr sz="1200" b="1">
                <a:solidFill>
                  <a:srgbClr val="0F172A"/>
                </a:solidFill>
                <a:latin typeface="Aptos"/>
              </a:rPr>
              <a:t>Act in sequence</a:t>
            </a:r>
          </a:p>
        </p:txBody>
      </p:sp>
      <p:sp>
        <p:nvSpPr>
          <p:cNvPr id="15" name="TextBox 14"/>
          <p:cNvSpPr txBox="1"/>
          <p:nvPr/>
        </p:nvSpPr>
        <p:spPr>
          <a:xfrm>
            <a:off x="6342735" y="1581912"/>
            <a:ext cx="5254599" cy="704088"/>
          </a:xfrm>
          <a:prstGeom prst="rect">
            <a:avLst/>
          </a:prstGeom>
          <a:noFill/>
        </p:spPr>
        <p:txBody>
          <a:bodyPr wrap="square" anchor="t" lIns="27432" rIns="27432" tIns="18288" bIns="18288">
            <a:spAutoFit/>
          </a:bodyPr>
          <a:lstStyle/>
          <a:p>
            <a:pPr algn="l"/>
            <a:r>
              <a:rPr sz="800" b="0">
                <a:solidFill>
                  <a:srgbClr val="475569"/>
                </a:solidFill>
                <a:latin typeface="Aptos"/>
              </a:rPr>
              <a:t>- A patient is anxious about a procedure.
- The nurse is tempted to say, "Everything will be fine."</a:t>
            </a:r>
          </a:p>
        </p:txBody>
      </p:sp>
      <p:sp>
        <p:nvSpPr>
          <p:cNvPr id="16" name="Rounded Rectangle 15"/>
          <p:cNvSpPr/>
          <p:nvPr/>
        </p:nvSpPr>
        <p:spPr>
          <a:xfrm>
            <a:off x="1188720" y="5989320"/>
            <a:ext cx="9784080" cy="411480"/>
          </a:xfrm>
          <a:prstGeom prst="roundRect">
            <a:avLst/>
          </a:prstGeom>
          <a:solidFill>
            <a:srgbClr val="FEF2F2"/>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DC2626"/>
                </a:solidFill>
                <a:latin typeface="Aptos"/>
              </a:rPr>
              <a:t>Place each cue and justify one.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APPLY</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Documentation frame</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14</a:t>
            </a:r>
          </a:p>
        </p:txBody>
      </p:sp>
      <p:sp>
        <p:nvSpPr>
          <p:cNvPr id="5" name="TextBox 4"/>
          <p:cNvSpPr txBox="1"/>
          <p:nvPr/>
        </p:nvSpPr>
        <p:spPr>
          <a:xfrm>
            <a:off x="320040" y="6510528"/>
            <a:ext cx="4023360" cy="128016"/>
          </a:xfrm>
          <a:prstGeom prst="rect">
            <a:avLst/>
          </a:prstGeom>
          <a:noFill/>
        </p:spPr>
        <p:txBody>
          <a:bodyPr wrap="square" anchor="t" lIns="27432" rIns="27432" tIns="18288" bIns="18288">
            <a:spAutoFit/>
          </a:bodyPr>
          <a:lstStyle/>
          <a:p>
            <a:pPr algn="l"/>
            <a:r>
              <a:rPr sz="570" b="0">
                <a:solidFill>
                  <a:srgbClr val="475569"/>
                </a:solidFill>
                <a:latin typeface="Aptos"/>
              </a:rPr>
              <a:t>CJM: generate solutions</a:t>
            </a:r>
          </a:p>
        </p:txBody>
      </p:sp>
      <p:sp>
        <p:nvSpPr>
          <p:cNvPr id="6" name="TextBox 5"/>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7" name="TextBox 6"/>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S14  ·  source-aligned</a:t>
            </a:r>
          </a:p>
        </p:txBody>
      </p:sp>
      <p:sp>
        <p:nvSpPr>
          <p:cNvPr id="8" name="Rounded Rectangle 7"/>
          <p:cNvSpPr/>
          <p:nvPr/>
        </p:nvSpPr>
        <p:spPr>
          <a:xfrm>
            <a:off x="502920" y="1143000"/>
            <a:ext cx="3618890"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 y="1289304"/>
            <a:ext cx="45720" cy="941832"/>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1252728"/>
            <a:ext cx="3362858" cy="292608"/>
          </a:xfrm>
          <a:prstGeom prst="rect">
            <a:avLst/>
          </a:prstGeom>
          <a:noFill/>
        </p:spPr>
        <p:txBody>
          <a:bodyPr wrap="square" anchor="t" lIns="27432" rIns="27432" tIns="18288" bIns="18288">
            <a:spAutoFit/>
          </a:bodyPr>
          <a:lstStyle/>
          <a:p>
            <a:pPr algn="l"/>
            <a:r>
              <a:rPr sz="1300" b="1">
                <a:solidFill>
                  <a:srgbClr val="0F172A"/>
                </a:solidFill>
                <a:latin typeface="Aptos"/>
              </a:rPr>
              <a:t>Observed cue</a:t>
            </a:r>
          </a:p>
        </p:txBody>
      </p:sp>
      <p:sp>
        <p:nvSpPr>
          <p:cNvPr id="11" name="TextBox 10"/>
          <p:cNvSpPr txBox="1"/>
          <p:nvPr/>
        </p:nvSpPr>
        <p:spPr>
          <a:xfrm>
            <a:off x="667512" y="1581912"/>
            <a:ext cx="3362858" cy="704088"/>
          </a:xfrm>
          <a:prstGeom prst="rect">
            <a:avLst/>
          </a:prstGeom>
          <a:noFill/>
        </p:spPr>
        <p:txBody>
          <a:bodyPr wrap="square" anchor="t" lIns="27432" rIns="27432" tIns="18288" bIns="18288">
            <a:spAutoFit/>
          </a:bodyPr>
          <a:lstStyle/>
          <a:p>
            <a:pPr algn="l"/>
            <a:r>
              <a:rPr sz="900" b="0">
                <a:solidFill>
                  <a:srgbClr val="475569"/>
                </a:solidFill>
                <a:latin typeface="Aptos"/>
              </a:rPr>
              <a:t>—</a:t>
            </a:r>
          </a:p>
        </p:txBody>
      </p:sp>
      <p:sp>
        <p:nvSpPr>
          <p:cNvPr id="12" name="Rounded Rectangle 11"/>
          <p:cNvSpPr/>
          <p:nvPr/>
        </p:nvSpPr>
        <p:spPr>
          <a:xfrm>
            <a:off x="4286402" y="1143000"/>
            <a:ext cx="3618890"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41266" y="1289304"/>
            <a:ext cx="45720" cy="941832"/>
          </a:xfrm>
          <a:prstGeom prst="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50994" y="1252728"/>
            <a:ext cx="3362858" cy="292608"/>
          </a:xfrm>
          <a:prstGeom prst="rect">
            <a:avLst/>
          </a:prstGeom>
          <a:noFill/>
        </p:spPr>
        <p:txBody>
          <a:bodyPr wrap="square" anchor="t" lIns="27432" rIns="27432" tIns="18288" bIns="18288">
            <a:spAutoFit/>
          </a:bodyPr>
          <a:lstStyle/>
          <a:p>
            <a:pPr algn="l"/>
            <a:r>
              <a:rPr sz="1300" b="1">
                <a:solidFill>
                  <a:srgbClr val="0F172A"/>
                </a:solidFill>
                <a:latin typeface="Aptos"/>
              </a:rPr>
              <a:t>Therapeutic response</a:t>
            </a:r>
          </a:p>
        </p:txBody>
      </p:sp>
      <p:sp>
        <p:nvSpPr>
          <p:cNvPr id="15" name="TextBox 14"/>
          <p:cNvSpPr txBox="1"/>
          <p:nvPr/>
        </p:nvSpPr>
        <p:spPr>
          <a:xfrm>
            <a:off x="4450994" y="1581912"/>
            <a:ext cx="3362858" cy="704088"/>
          </a:xfrm>
          <a:prstGeom prst="rect">
            <a:avLst/>
          </a:prstGeom>
          <a:noFill/>
        </p:spPr>
        <p:txBody>
          <a:bodyPr wrap="square" anchor="t" lIns="27432" rIns="27432" tIns="18288" bIns="18288">
            <a:spAutoFit/>
          </a:bodyPr>
          <a:lstStyle/>
          <a:p>
            <a:pPr algn="l"/>
            <a:r>
              <a:rPr sz="900" b="0">
                <a:solidFill>
                  <a:srgbClr val="475569"/>
                </a:solidFill>
                <a:latin typeface="Aptos"/>
              </a:rPr>
              <a:t>—</a:t>
            </a:r>
          </a:p>
        </p:txBody>
      </p:sp>
      <p:sp>
        <p:nvSpPr>
          <p:cNvPr id="16" name="Rounded Rectangle 15"/>
          <p:cNvSpPr/>
          <p:nvPr/>
        </p:nvSpPr>
        <p:spPr>
          <a:xfrm>
            <a:off x="8069884" y="1143000"/>
            <a:ext cx="3618890"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124748" y="1289304"/>
            <a:ext cx="45720" cy="941832"/>
          </a:xfrm>
          <a:prstGeom prst="rect">
            <a:avLst/>
          </a:prstGeom>
          <a:solidFill>
            <a:srgbClr val="16A34A"/>
          </a:solidFill>
          <a:ln w="127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34476" y="1252728"/>
            <a:ext cx="3362858" cy="292608"/>
          </a:xfrm>
          <a:prstGeom prst="rect">
            <a:avLst/>
          </a:prstGeom>
          <a:noFill/>
        </p:spPr>
        <p:txBody>
          <a:bodyPr wrap="square" anchor="t" lIns="27432" rIns="27432" tIns="18288" bIns="18288">
            <a:spAutoFit/>
          </a:bodyPr>
          <a:lstStyle/>
          <a:p>
            <a:pPr algn="l"/>
            <a:r>
              <a:rPr sz="1300" b="1">
                <a:solidFill>
                  <a:srgbClr val="0F172A"/>
                </a:solidFill>
                <a:latin typeface="Aptos"/>
              </a:rPr>
              <a:t>Nontherapeutic trap</a:t>
            </a:r>
          </a:p>
        </p:txBody>
      </p:sp>
      <p:sp>
        <p:nvSpPr>
          <p:cNvPr id="19" name="TextBox 18"/>
          <p:cNvSpPr txBox="1"/>
          <p:nvPr/>
        </p:nvSpPr>
        <p:spPr>
          <a:xfrm>
            <a:off x="8234476" y="1581912"/>
            <a:ext cx="3362858" cy="704088"/>
          </a:xfrm>
          <a:prstGeom prst="rect">
            <a:avLst/>
          </a:prstGeom>
          <a:noFill/>
        </p:spPr>
        <p:txBody>
          <a:bodyPr wrap="square" anchor="t" lIns="27432" rIns="27432" tIns="18288" bIns="18288">
            <a:spAutoFit/>
          </a:bodyPr>
          <a:lstStyle/>
          <a:p>
            <a:pPr algn="l"/>
            <a:r>
              <a:rPr sz="900" b="0">
                <a:solidFill>
                  <a:srgbClr val="475569"/>
                </a:solidFill>
                <a:latin typeface="Aptos"/>
              </a:rPr>
              <a:t>—</a:t>
            </a:r>
          </a:p>
        </p:txBody>
      </p:sp>
      <p:sp>
        <p:nvSpPr>
          <p:cNvPr id="20" name="Rounded Rectangle 19"/>
          <p:cNvSpPr/>
          <p:nvPr/>
        </p:nvSpPr>
        <p:spPr>
          <a:xfrm>
            <a:off x="502920" y="2542032"/>
            <a:ext cx="3618890"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57784" y="2688336"/>
            <a:ext cx="45720" cy="941832"/>
          </a:xfrm>
          <a:prstGeom prst="rect">
            <a:avLst/>
          </a:prstGeom>
          <a:solidFill>
            <a:srgbClr val="7C3AED"/>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7512" y="2651760"/>
            <a:ext cx="3362858" cy="292608"/>
          </a:xfrm>
          <a:prstGeom prst="rect">
            <a:avLst/>
          </a:prstGeom>
          <a:noFill/>
        </p:spPr>
        <p:txBody>
          <a:bodyPr wrap="square" anchor="t" lIns="27432" rIns="27432" tIns="18288" bIns="18288">
            <a:spAutoFit/>
          </a:bodyPr>
          <a:lstStyle/>
          <a:p>
            <a:pPr algn="l"/>
            <a:r>
              <a:rPr sz="1300" b="1">
                <a:solidFill>
                  <a:srgbClr val="0F172A"/>
                </a:solidFill>
                <a:latin typeface="Aptos"/>
              </a:rPr>
              <a:t>Safety question</a:t>
            </a:r>
          </a:p>
        </p:txBody>
      </p:sp>
      <p:sp>
        <p:nvSpPr>
          <p:cNvPr id="23" name="TextBox 22"/>
          <p:cNvSpPr txBox="1"/>
          <p:nvPr/>
        </p:nvSpPr>
        <p:spPr>
          <a:xfrm>
            <a:off x="667512" y="2980944"/>
            <a:ext cx="3362858" cy="704088"/>
          </a:xfrm>
          <a:prstGeom prst="rect">
            <a:avLst/>
          </a:prstGeom>
          <a:noFill/>
        </p:spPr>
        <p:txBody>
          <a:bodyPr wrap="square" anchor="t" lIns="27432" rIns="27432" tIns="18288" bIns="18288">
            <a:spAutoFit/>
          </a:bodyPr>
          <a:lstStyle/>
          <a:p>
            <a:pPr algn="l"/>
            <a:r>
              <a:rPr sz="900" b="0">
                <a:solidFill>
                  <a:srgbClr val="475569"/>
                </a:solidFill>
                <a:latin typeface="Aptos"/>
              </a:rPr>
              <a:t>—</a:t>
            </a:r>
          </a:p>
        </p:txBody>
      </p:sp>
      <p:sp>
        <p:nvSpPr>
          <p:cNvPr id="24" name="Rounded Rectangle 23"/>
          <p:cNvSpPr/>
          <p:nvPr/>
        </p:nvSpPr>
        <p:spPr>
          <a:xfrm>
            <a:off x="4286402" y="2542032"/>
            <a:ext cx="3618890"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341266" y="2688336"/>
            <a:ext cx="45720" cy="941832"/>
          </a:xfrm>
          <a:prstGeom prst="rect">
            <a:avLst/>
          </a:prstGeom>
          <a:solidFill>
            <a:srgbClr val="EA580C"/>
          </a:solidFill>
          <a:ln w="127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50994" y="2651760"/>
            <a:ext cx="3362858" cy="292608"/>
          </a:xfrm>
          <a:prstGeom prst="rect">
            <a:avLst/>
          </a:prstGeom>
          <a:noFill/>
        </p:spPr>
        <p:txBody>
          <a:bodyPr wrap="square" anchor="t" lIns="27432" rIns="27432" tIns="18288" bIns="18288">
            <a:spAutoFit/>
          </a:bodyPr>
          <a:lstStyle/>
          <a:p>
            <a:pPr algn="l"/>
            <a:r>
              <a:rPr sz="1300" b="1">
                <a:solidFill>
                  <a:srgbClr val="0F172A"/>
                </a:solidFill>
                <a:latin typeface="Aptos"/>
              </a:rPr>
              <a:t>Follow-up action</a:t>
            </a:r>
          </a:p>
        </p:txBody>
      </p:sp>
      <p:sp>
        <p:nvSpPr>
          <p:cNvPr id="27" name="TextBox 26"/>
          <p:cNvSpPr txBox="1"/>
          <p:nvPr/>
        </p:nvSpPr>
        <p:spPr>
          <a:xfrm>
            <a:off x="4450994" y="2980944"/>
            <a:ext cx="3362858" cy="704088"/>
          </a:xfrm>
          <a:prstGeom prst="rect">
            <a:avLst/>
          </a:prstGeom>
          <a:noFill/>
        </p:spPr>
        <p:txBody>
          <a:bodyPr wrap="square" anchor="t" lIns="27432" rIns="27432" tIns="18288" bIns="18288">
            <a:spAutoFit/>
          </a:bodyPr>
          <a:lstStyle/>
          <a:p>
            <a:pPr algn="l"/>
            <a:r>
              <a:rPr sz="900" b="0">
                <a:solidFill>
                  <a:srgbClr val="475569"/>
                </a:solidFill>
                <a:latin typeface="Aptos"/>
              </a:rPr>
              <a:t>—</a:t>
            </a:r>
          </a:p>
        </p:txBody>
      </p:sp>
      <p:sp>
        <p:nvSpPr>
          <p:cNvPr id="28" name="Rounded Rectangle 27"/>
          <p:cNvSpPr/>
          <p:nvPr/>
        </p:nvSpPr>
        <p:spPr>
          <a:xfrm>
            <a:off x="1188720" y="5989320"/>
            <a:ext cx="9784080" cy="41148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2563EB"/>
                </a:solidFill>
                <a:latin typeface="Aptos"/>
              </a:rPr>
              <a:t>Record the lesson's decisions in a reusable frame.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APPLY</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Capstone: choose the next safe action</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15</a:t>
            </a:r>
          </a:p>
        </p:txBody>
      </p:sp>
      <p:sp>
        <p:nvSpPr>
          <p:cNvPr id="5" name="TextBox 4"/>
          <p:cNvSpPr txBox="1"/>
          <p:nvPr/>
        </p:nvSpPr>
        <p:spPr>
          <a:xfrm>
            <a:off x="320040" y="6510528"/>
            <a:ext cx="4023360" cy="128016"/>
          </a:xfrm>
          <a:prstGeom prst="rect">
            <a:avLst/>
          </a:prstGeom>
          <a:noFill/>
        </p:spPr>
        <p:txBody>
          <a:bodyPr wrap="square" anchor="t" lIns="27432" rIns="27432" tIns="18288" bIns="18288">
            <a:spAutoFit/>
          </a:bodyPr>
          <a:lstStyle/>
          <a:p>
            <a:pPr algn="l"/>
            <a:r>
              <a:rPr sz="570" b="0">
                <a:solidFill>
                  <a:srgbClr val="475569"/>
                </a:solidFill>
                <a:latin typeface="Aptos"/>
              </a:rPr>
              <a:t>CJM: take action, evaluate outcomes</a:t>
            </a:r>
          </a:p>
        </p:txBody>
      </p:sp>
      <p:sp>
        <p:nvSpPr>
          <p:cNvPr id="6" name="TextBox 5"/>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7" name="TextBox 6"/>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S15  ·  source-aligned</a:t>
            </a:r>
          </a:p>
        </p:txBody>
      </p:sp>
      <p:sp>
        <p:nvSpPr>
          <p:cNvPr id="8" name="Rounded Rectangle 7"/>
          <p:cNvSpPr/>
          <p:nvPr/>
        </p:nvSpPr>
        <p:spPr>
          <a:xfrm>
            <a:off x="685800" y="1005840"/>
            <a:ext cx="10835640" cy="621792"/>
          </a:xfrm>
          <a:prstGeom prst="roundRect">
            <a:avLst/>
          </a:prstGeom>
          <a:solidFill>
            <a:srgbClr val="FEF2F2"/>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40664" y="1152144"/>
            <a:ext cx="45720" cy="329184"/>
          </a:xfrm>
          <a:prstGeom prst="rect">
            <a:avLst/>
          </a:prstGeom>
          <a:solidFill>
            <a:srgbClr val="DC2626"/>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0392" y="1115568"/>
            <a:ext cx="10579608" cy="292608"/>
          </a:xfrm>
          <a:prstGeom prst="rect">
            <a:avLst/>
          </a:prstGeom>
          <a:noFill/>
        </p:spPr>
        <p:txBody>
          <a:bodyPr wrap="square" anchor="t" lIns="27432" rIns="27432" tIns="18288" bIns="18288">
            <a:spAutoFit/>
          </a:bodyPr>
          <a:lstStyle/>
          <a:p>
            <a:pPr algn="l"/>
            <a:r>
              <a:rPr sz="1150" b="1">
                <a:solidFill>
                  <a:srgbClr val="0F172A"/>
                </a:solidFill>
                <a:latin typeface="Aptos"/>
              </a:rPr>
              <a:t>capstone scenario</a:t>
            </a:r>
          </a:p>
        </p:txBody>
      </p:sp>
      <p:sp>
        <p:nvSpPr>
          <p:cNvPr id="11" name="TextBox 10"/>
          <p:cNvSpPr txBox="1"/>
          <p:nvPr/>
        </p:nvSpPr>
        <p:spPr>
          <a:xfrm>
            <a:off x="850392" y="1444752"/>
            <a:ext cx="10579608" cy="91440"/>
          </a:xfrm>
          <a:prstGeom prst="rect">
            <a:avLst/>
          </a:prstGeom>
          <a:noFill/>
        </p:spPr>
        <p:txBody>
          <a:bodyPr wrap="square" anchor="t" lIns="27432" rIns="27432" tIns="18288" bIns="18288">
            <a:spAutoFit/>
          </a:bodyPr>
          <a:lstStyle/>
          <a:p>
            <a:pPr algn="l"/>
            <a:r>
              <a:rPr sz="850" b="0">
                <a:solidFill>
                  <a:srgbClr val="475569"/>
                </a:solidFill>
                <a:latin typeface="Aptos"/>
              </a:rPr>
              <a:t>The nurse is tempted to say, "Everything will be fine."</a:t>
            </a:r>
          </a:p>
        </p:txBody>
      </p:sp>
      <p:sp>
        <p:nvSpPr>
          <p:cNvPr id="12" name="Rounded Rectangle 11"/>
          <p:cNvSpPr/>
          <p:nvPr/>
        </p:nvSpPr>
        <p:spPr>
          <a:xfrm>
            <a:off x="914400" y="1874519"/>
            <a:ext cx="10378440" cy="658368"/>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969264" y="2020824"/>
            <a:ext cx="45720" cy="365759"/>
          </a:xfrm>
          <a:prstGeom prst="rect">
            <a:avLst/>
          </a:prstGeom>
          <a:solidFill>
            <a:srgbClr val="7C3AED"/>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8992" y="1984248"/>
            <a:ext cx="10122408" cy="292608"/>
          </a:xfrm>
          <a:prstGeom prst="rect">
            <a:avLst/>
          </a:prstGeom>
          <a:noFill/>
        </p:spPr>
        <p:txBody>
          <a:bodyPr wrap="square" anchor="t" lIns="27432" rIns="27432" tIns="18288" bIns="18288">
            <a:spAutoFit/>
          </a:bodyPr>
          <a:lstStyle/>
          <a:p>
            <a:pPr algn="l"/>
            <a:r>
              <a:rPr sz="1250" b="1">
                <a:solidFill>
                  <a:srgbClr val="0F172A"/>
                </a:solidFill>
                <a:latin typeface="Aptos"/>
              </a:rPr>
              <a:t>priority nursing response</a:t>
            </a:r>
          </a:p>
        </p:txBody>
      </p:sp>
      <p:sp>
        <p:nvSpPr>
          <p:cNvPr id="15" name="TextBox 14"/>
          <p:cNvSpPr txBox="1"/>
          <p:nvPr/>
        </p:nvSpPr>
        <p:spPr>
          <a:xfrm>
            <a:off x="1078992" y="2313432"/>
            <a:ext cx="10122408" cy="128016"/>
          </a:xfrm>
          <a:prstGeom prst="rect">
            <a:avLst/>
          </a:prstGeom>
          <a:noFill/>
        </p:spPr>
        <p:txBody>
          <a:bodyPr wrap="square" anchor="t" lIns="27432" rIns="27432" tIns="18288" bIns="18288">
            <a:spAutoFit/>
          </a:bodyPr>
          <a:lstStyle/>
          <a:p>
            <a:pPr algn="l"/>
            <a:r>
              <a:rPr sz="900" b="0">
                <a:solidFill>
                  <a:srgbClr val="475569"/>
                </a:solidFill>
                <a:latin typeface="Aptos"/>
              </a:rPr>
              <a:t>What is the priority nursing action?</a:t>
            </a:r>
          </a:p>
        </p:txBody>
      </p:sp>
      <p:sp>
        <p:nvSpPr>
          <p:cNvPr id="16" name="Rounded Rectangle 15"/>
          <p:cNvSpPr/>
          <p:nvPr/>
        </p:nvSpPr>
        <p:spPr>
          <a:xfrm>
            <a:off x="1097280" y="2788920"/>
            <a:ext cx="9875520" cy="36576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234440" y="2898648"/>
            <a:ext cx="256032" cy="146304"/>
          </a:xfrm>
          <a:prstGeom prst="rect">
            <a:avLst/>
          </a:prstGeom>
          <a:noFill/>
        </p:spPr>
        <p:txBody>
          <a:bodyPr wrap="square" anchor="t" lIns="27432" rIns="27432" tIns="18288" bIns="18288">
            <a:spAutoFit/>
          </a:bodyPr>
          <a:lstStyle/>
          <a:p>
            <a:pPr algn="l"/>
            <a:r>
              <a:rPr sz="800" b="1">
                <a:solidFill>
                  <a:srgbClr val="DC2626"/>
                </a:solidFill>
                <a:latin typeface="Aptos"/>
              </a:rPr>
              <a:t>A</a:t>
            </a:r>
          </a:p>
        </p:txBody>
      </p:sp>
      <p:sp>
        <p:nvSpPr>
          <p:cNvPr id="18" name="TextBox 17"/>
          <p:cNvSpPr txBox="1"/>
          <p:nvPr/>
        </p:nvSpPr>
        <p:spPr>
          <a:xfrm>
            <a:off x="1627632" y="2871215"/>
            <a:ext cx="8869680" cy="164592"/>
          </a:xfrm>
          <a:prstGeom prst="rect">
            <a:avLst/>
          </a:prstGeom>
          <a:noFill/>
        </p:spPr>
        <p:txBody>
          <a:bodyPr wrap="square" anchor="t" lIns="27432" rIns="27432" tIns="18288" bIns="18288">
            <a:spAutoFit/>
          </a:bodyPr>
          <a:lstStyle/>
          <a:p>
            <a:pPr algn="l"/>
            <a:r>
              <a:rPr sz="840" b="0">
                <a:solidFill>
                  <a:srgbClr val="475569"/>
                </a:solidFill>
                <a:latin typeface="Aptos"/>
              </a:rPr>
              <a:t>A. Delay action until the end of the shift.</a:t>
            </a:r>
          </a:p>
        </p:txBody>
      </p:sp>
      <p:sp>
        <p:nvSpPr>
          <p:cNvPr id="19" name="Rounded Rectangle 18"/>
          <p:cNvSpPr/>
          <p:nvPr/>
        </p:nvSpPr>
        <p:spPr>
          <a:xfrm>
            <a:off x="1097280" y="3319272"/>
            <a:ext cx="9875520" cy="36576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234440" y="3429000"/>
            <a:ext cx="256032" cy="146304"/>
          </a:xfrm>
          <a:prstGeom prst="rect">
            <a:avLst/>
          </a:prstGeom>
          <a:noFill/>
        </p:spPr>
        <p:txBody>
          <a:bodyPr wrap="square" anchor="t" lIns="27432" rIns="27432" tIns="18288" bIns="18288">
            <a:spAutoFit/>
          </a:bodyPr>
          <a:lstStyle/>
          <a:p>
            <a:pPr algn="l"/>
            <a:r>
              <a:rPr sz="800" b="1">
                <a:solidFill>
                  <a:srgbClr val="DC2626"/>
                </a:solidFill>
                <a:latin typeface="Aptos"/>
              </a:rPr>
              <a:t>B</a:t>
            </a:r>
          </a:p>
        </p:txBody>
      </p:sp>
      <p:sp>
        <p:nvSpPr>
          <p:cNvPr id="21" name="TextBox 20"/>
          <p:cNvSpPr txBox="1"/>
          <p:nvPr/>
        </p:nvSpPr>
        <p:spPr>
          <a:xfrm>
            <a:off x="1627632" y="3401568"/>
            <a:ext cx="8869680" cy="164592"/>
          </a:xfrm>
          <a:prstGeom prst="rect">
            <a:avLst/>
          </a:prstGeom>
          <a:noFill/>
        </p:spPr>
        <p:txBody>
          <a:bodyPr wrap="square" anchor="t" lIns="27432" rIns="27432" tIns="18288" bIns="18288">
            <a:spAutoFit/>
          </a:bodyPr>
          <a:lstStyle/>
          <a:p>
            <a:pPr algn="l"/>
            <a:r>
              <a:rPr sz="840" b="0">
                <a:solidFill>
                  <a:srgbClr val="475569"/>
                </a:solidFill>
                <a:latin typeface="Aptos"/>
              </a:rPr>
              <a:t>B. Acknowledge uncertainty and explore the patient's specific concern instead.</a:t>
            </a:r>
          </a:p>
        </p:txBody>
      </p:sp>
      <p:sp>
        <p:nvSpPr>
          <p:cNvPr id="22" name="Rounded Rectangle 21"/>
          <p:cNvSpPr/>
          <p:nvPr/>
        </p:nvSpPr>
        <p:spPr>
          <a:xfrm>
            <a:off x="1097280" y="3849624"/>
            <a:ext cx="9875520" cy="36576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234440" y="3959352"/>
            <a:ext cx="256032" cy="146304"/>
          </a:xfrm>
          <a:prstGeom prst="rect">
            <a:avLst/>
          </a:prstGeom>
          <a:noFill/>
        </p:spPr>
        <p:txBody>
          <a:bodyPr wrap="square" anchor="t" lIns="27432" rIns="27432" tIns="18288" bIns="18288">
            <a:spAutoFit/>
          </a:bodyPr>
          <a:lstStyle/>
          <a:p>
            <a:pPr algn="l"/>
            <a:r>
              <a:rPr sz="800" b="1">
                <a:solidFill>
                  <a:srgbClr val="DC2626"/>
                </a:solidFill>
                <a:latin typeface="Aptos"/>
              </a:rPr>
              <a:t>C</a:t>
            </a:r>
          </a:p>
        </p:txBody>
      </p:sp>
      <p:sp>
        <p:nvSpPr>
          <p:cNvPr id="24" name="TextBox 23"/>
          <p:cNvSpPr txBox="1"/>
          <p:nvPr/>
        </p:nvSpPr>
        <p:spPr>
          <a:xfrm>
            <a:off x="1627632" y="3931920"/>
            <a:ext cx="8869680" cy="164592"/>
          </a:xfrm>
          <a:prstGeom prst="rect">
            <a:avLst/>
          </a:prstGeom>
          <a:noFill/>
        </p:spPr>
        <p:txBody>
          <a:bodyPr wrap="square" anchor="t" lIns="27432" rIns="27432" tIns="18288" bIns="18288">
            <a:spAutoFit/>
          </a:bodyPr>
          <a:lstStyle/>
          <a:p>
            <a:pPr algn="l"/>
            <a:r>
              <a:rPr sz="840" b="0">
                <a:solidFill>
                  <a:srgbClr val="475569"/>
                </a:solidFill>
                <a:latin typeface="Aptos"/>
              </a:rPr>
              <a:t>C. Document the finding without reassessment or follow-up.</a:t>
            </a:r>
          </a:p>
        </p:txBody>
      </p:sp>
      <p:sp>
        <p:nvSpPr>
          <p:cNvPr id="25" name="Rounded Rectangle 24"/>
          <p:cNvSpPr/>
          <p:nvPr/>
        </p:nvSpPr>
        <p:spPr>
          <a:xfrm>
            <a:off x="1097280" y="4379975"/>
            <a:ext cx="9875520" cy="36576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234440" y="4489703"/>
            <a:ext cx="256032" cy="146304"/>
          </a:xfrm>
          <a:prstGeom prst="rect">
            <a:avLst/>
          </a:prstGeom>
          <a:noFill/>
        </p:spPr>
        <p:txBody>
          <a:bodyPr wrap="square" anchor="t" lIns="27432" rIns="27432" tIns="18288" bIns="18288">
            <a:spAutoFit/>
          </a:bodyPr>
          <a:lstStyle/>
          <a:p>
            <a:pPr algn="l"/>
            <a:r>
              <a:rPr sz="800" b="1">
                <a:solidFill>
                  <a:srgbClr val="DC2626"/>
                </a:solidFill>
                <a:latin typeface="Aptos"/>
              </a:rPr>
              <a:t>D</a:t>
            </a:r>
          </a:p>
        </p:txBody>
      </p:sp>
      <p:sp>
        <p:nvSpPr>
          <p:cNvPr id="27" name="TextBox 26"/>
          <p:cNvSpPr txBox="1"/>
          <p:nvPr/>
        </p:nvSpPr>
        <p:spPr>
          <a:xfrm>
            <a:off x="1627632" y="4462271"/>
            <a:ext cx="8869680" cy="164592"/>
          </a:xfrm>
          <a:prstGeom prst="rect">
            <a:avLst/>
          </a:prstGeom>
          <a:noFill/>
        </p:spPr>
        <p:txBody>
          <a:bodyPr wrap="square" anchor="t" lIns="27432" rIns="27432" tIns="18288" bIns="18288">
            <a:spAutoFit/>
          </a:bodyPr>
          <a:lstStyle/>
          <a:p>
            <a:pPr algn="l"/>
            <a:r>
              <a:rPr sz="840" b="0">
                <a:solidFill>
                  <a:srgbClr val="475569"/>
                </a:solidFill>
                <a:latin typeface="Aptos"/>
              </a:rPr>
              <a:t>D. Delegate the clinical judgment decision to unlicensed assistive personnel.</a:t>
            </a:r>
          </a:p>
        </p:txBody>
      </p:sp>
      <p:sp>
        <p:nvSpPr>
          <p:cNvPr id="28" name="Rounded Rectangle 27"/>
          <p:cNvSpPr/>
          <p:nvPr/>
        </p:nvSpPr>
        <p:spPr>
          <a:xfrm>
            <a:off x="1188720" y="5989320"/>
            <a:ext cx="9784080" cy="411480"/>
          </a:xfrm>
          <a:prstGeom prst="roundRect">
            <a:avLst/>
          </a:prstGeom>
          <a:solidFill>
            <a:srgbClr val="FEF2F2"/>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DC2626"/>
                </a:solidFill>
                <a:latin typeface="Aptos"/>
              </a:rPr>
              <a:t>Choose the priority action.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CLOSE</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Rapid retrieval: exit check</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16</a:t>
            </a:r>
          </a:p>
        </p:txBody>
      </p:sp>
      <p:sp>
        <p:nvSpPr>
          <p:cNvPr id="5" name="TextBox 4"/>
          <p:cNvSpPr txBox="1"/>
          <p:nvPr/>
        </p:nvSpPr>
        <p:spPr>
          <a:xfrm>
            <a:off x="320040" y="6510528"/>
            <a:ext cx="4023360" cy="128016"/>
          </a:xfrm>
          <a:prstGeom prst="rect">
            <a:avLst/>
          </a:prstGeom>
          <a:noFill/>
        </p:spPr>
        <p:txBody>
          <a:bodyPr wrap="square" anchor="t" lIns="27432" rIns="27432" tIns="18288" bIns="18288">
            <a:spAutoFit/>
          </a:bodyPr>
          <a:lstStyle/>
          <a:p>
            <a:pPr algn="l"/>
            <a:r>
              <a:rPr sz="570" b="0">
                <a:solidFill>
                  <a:srgbClr val="475569"/>
                </a:solidFill>
                <a:latin typeface="Aptos"/>
              </a:rPr>
              <a:t>CJM: evaluate outcomes</a:t>
            </a:r>
          </a:p>
        </p:txBody>
      </p:sp>
      <p:sp>
        <p:nvSpPr>
          <p:cNvPr id="6" name="TextBox 5"/>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7" name="TextBox 6"/>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S16  ·  source-aligned</a:t>
            </a:r>
          </a:p>
        </p:txBody>
      </p:sp>
      <p:sp>
        <p:nvSpPr>
          <p:cNvPr id="8" name="Rounded Rectangle 7"/>
          <p:cNvSpPr/>
          <p:nvPr/>
        </p:nvSpPr>
        <p:spPr>
          <a:xfrm>
            <a:off x="777240" y="1143000"/>
            <a:ext cx="10652760" cy="438912"/>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68680" y="1216152"/>
            <a:ext cx="45720" cy="292608"/>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1261872"/>
            <a:ext cx="9966960" cy="164592"/>
          </a:xfrm>
          <a:prstGeom prst="rect">
            <a:avLst/>
          </a:prstGeom>
          <a:noFill/>
        </p:spPr>
        <p:txBody>
          <a:bodyPr wrap="square" anchor="t" lIns="27432" rIns="27432" tIns="18288" bIns="18288">
            <a:spAutoFit/>
          </a:bodyPr>
          <a:lstStyle/>
          <a:p>
            <a:pPr algn="l"/>
            <a:r>
              <a:rPr sz="869" b="0">
                <a:solidFill>
                  <a:srgbClr val="0F172A"/>
                </a:solidFill>
                <a:latin typeface="Aptos"/>
              </a:rPr>
              <a:t>Acknowledge emotion before problem-solving.</a:t>
            </a:r>
          </a:p>
        </p:txBody>
      </p:sp>
      <p:sp>
        <p:nvSpPr>
          <p:cNvPr id="11" name="Rounded Rectangle 10"/>
          <p:cNvSpPr/>
          <p:nvPr/>
        </p:nvSpPr>
        <p:spPr>
          <a:xfrm>
            <a:off x="777240" y="1801368"/>
            <a:ext cx="10652760" cy="438912"/>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68680" y="1874519"/>
            <a:ext cx="45720" cy="292608"/>
          </a:xfrm>
          <a:prstGeom prst="rect">
            <a:avLst/>
          </a:prstGeom>
          <a:solidFill>
            <a:srgbClr val="7C3AED"/>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1920240"/>
            <a:ext cx="9966960" cy="164592"/>
          </a:xfrm>
          <a:prstGeom prst="rect">
            <a:avLst/>
          </a:prstGeom>
          <a:noFill/>
        </p:spPr>
        <p:txBody>
          <a:bodyPr wrap="square" anchor="t" lIns="27432" rIns="27432" tIns="18288" bIns="18288">
            <a:spAutoFit/>
          </a:bodyPr>
          <a:lstStyle/>
          <a:p>
            <a:pPr algn="l"/>
            <a:r>
              <a:rPr sz="869" b="0">
                <a:solidFill>
                  <a:srgbClr val="0F172A"/>
                </a:solidFill>
                <a:latin typeface="Aptos"/>
              </a:rPr>
              <a:t>Avoid advice and false reassurance.</a:t>
            </a:r>
          </a:p>
        </p:txBody>
      </p:sp>
      <p:sp>
        <p:nvSpPr>
          <p:cNvPr id="14" name="Rounded Rectangle 13"/>
          <p:cNvSpPr/>
          <p:nvPr/>
        </p:nvSpPr>
        <p:spPr>
          <a:xfrm>
            <a:off x="777240" y="2459736"/>
            <a:ext cx="10652760" cy="438912"/>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68680" y="2532888"/>
            <a:ext cx="45720" cy="292608"/>
          </a:xfrm>
          <a:prstGeom prst="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2578608"/>
            <a:ext cx="9966960" cy="164592"/>
          </a:xfrm>
          <a:prstGeom prst="rect">
            <a:avLst/>
          </a:prstGeom>
          <a:noFill/>
        </p:spPr>
        <p:txBody>
          <a:bodyPr wrap="square" anchor="t" lIns="27432" rIns="27432" tIns="18288" bIns="18288">
            <a:spAutoFit/>
          </a:bodyPr>
          <a:lstStyle/>
          <a:p>
            <a:pPr algn="l"/>
            <a:r>
              <a:rPr sz="869" b="0">
                <a:solidFill>
                  <a:srgbClr val="0F172A"/>
                </a:solidFill>
                <a:latin typeface="Aptos"/>
              </a:rPr>
              <a:t>Silence can be therapeutic.</a:t>
            </a:r>
          </a:p>
        </p:txBody>
      </p:sp>
      <p:sp>
        <p:nvSpPr>
          <p:cNvPr id="17" name="Rounded Rectangle 16"/>
          <p:cNvSpPr/>
          <p:nvPr/>
        </p:nvSpPr>
        <p:spPr>
          <a:xfrm>
            <a:off x="777240" y="3118104"/>
            <a:ext cx="10652760" cy="438912"/>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68680" y="3191256"/>
            <a:ext cx="45720" cy="292608"/>
          </a:xfrm>
          <a:prstGeom prst="rect">
            <a:avLst/>
          </a:prstGeom>
          <a:solidFill>
            <a:srgbClr val="DC2626"/>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3236976"/>
            <a:ext cx="9966960" cy="164592"/>
          </a:xfrm>
          <a:prstGeom prst="rect">
            <a:avLst/>
          </a:prstGeom>
          <a:noFill/>
        </p:spPr>
        <p:txBody>
          <a:bodyPr wrap="square" anchor="t" lIns="27432" rIns="27432" tIns="18288" bIns="18288">
            <a:spAutoFit/>
          </a:bodyPr>
          <a:lstStyle/>
          <a:p>
            <a:pPr algn="l"/>
            <a:r>
              <a:rPr sz="869" b="0">
                <a:solidFill>
                  <a:srgbClr val="0F172A"/>
                </a:solidFill>
                <a:latin typeface="Aptos"/>
              </a:rPr>
              <a:t>Ask directly about self-harm when indicated.</a:t>
            </a:r>
          </a:p>
        </p:txBody>
      </p:sp>
      <p:sp>
        <p:nvSpPr>
          <p:cNvPr id="20" name="Rounded Rectangle 19"/>
          <p:cNvSpPr/>
          <p:nvPr/>
        </p:nvSpPr>
        <p:spPr>
          <a:xfrm>
            <a:off x="777240" y="3776472"/>
            <a:ext cx="10652760" cy="438912"/>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68680" y="3849624"/>
            <a:ext cx="45720" cy="292608"/>
          </a:xfrm>
          <a:prstGeom prst="rect">
            <a:avLst/>
          </a:prstGeom>
          <a:solidFill>
            <a:srgbClr val="16A34A"/>
          </a:solidFill>
          <a:ln w="127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51560" y="3895344"/>
            <a:ext cx="9966960" cy="164592"/>
          </a:xfrm>
          <a:prstGeom prst="rect">
            <a:avLst/>
          </a:prstGeom>
          <a:noFill/>
        </p:spPr>
        <p:txBody>
          <a:bodyPr wrap="square" anchor="t" lIns="27432" rIns="27432" tIns="18288" bIns="18288">
            <a:spAutoFit/>
          </a:bodyPr>
          <a:lstStyle/>
          <a:p>
            <a:pPr algn="l"/>
            <a:r>
              <a:rPr sz="869" b="0">
                <a:solidFill>
                  <a:srgbClr val="0F172A"/>
                </a:solidFill>
                <a:latin typeface="Aptos"/>
              </a:rPr>
              <a:t>Escalate statements that indicate possible self-harm.</a:t>
            </a:r>
          </a:p>
        </p:txBody>
      </p:sp>
      <p:sp>
        <p:nvSpPr>
          <p:cNvPr id="23" name="Rounded Rectangle 22"/>
          <p:cNvSpPr/>
          <p:nvPr/>
        </p:nvSpPr>
        <p:spPr>
          <a:xfrm>
            <a:off x="1188720" y="5989320"/>
            <a:ext cx="9784080" cy="411480"/>
          </a:xfrm>
          <a:prstGeom prst="roundRect">
            <a:avLst/>
          </a:prstGeom>
          <a:solidFill>
            <a:srgbClr val="FFFFFF"/>
          </a:solidFill>
          <a:ln w="1270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475569"/>
                </a:solidFill>
                <a:latin typeface="Aptos"/>
              </a:rPr>
              <a:t>Answer all of them.</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CLOSE</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Takeaway</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17</a:t>
            </a:r>
          </a:p>
        </p:txBody>
      </p:sp>
      <p:sp>
        <p:nvSpPr>
          <p:cNvPr id="5" name="TextBox 4"/>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6" name="TextBox 5"/>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S17  ·  instructor-added</a:t>
            </a:r>
          </a:p>
        </p:txBody>
      </p:sp>
      <p:sp>
        <p:nvSpPr>
          <p:cNvPr id="7" name="Rounded Rectangle 6"/>
          <p:cNvSpPr/>
          <p:nvPr/>
        </p:nvSpPr>
        <p:spPr>
          <a:xfrm>
            <a:off x="502920" y="1325880"/>
            <a:ext cx="2673019"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57784" y="1472184"/>
            <a:ext cx="45720" cy="941832"/>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 y="1435607"/>
            <a:ext cx="2416987" cy="292608"/>
          </a:xfrm>
          <a:prstGeom prst="rect">
            <a:avLst/>
          </a:prstGeom>
          <a:noFill/>
        </p:spPr>
        <p:txBody>
          <a:bodyPr wrap="square" anchor="t" lIns="27432" rIns="27432" tIns="18288" bIns="18288">
            <a:spAutoFit/>
          </a:bodyPr>
          <a:lstStyle/>
          <a:p>
            <a:pPr algn="l"/>
            <a:r>
              <a:rPr sz="1300" b="1">
                <a:solidFill>
                  <a:srgbClr val="0F172A"/>
                </a:solidFill>
                <a:latin typeface="Aptos"/>
              </a:rPr>
              <a:t>Acknowledge Emotion Before Problem-Solvi</a:t>
            </a:r>
          </a:p>
        </p:txBody>
      </p:sp>
      <p:sp>
        <p:nvSpPr>
          <p:cNvPr id="10" name="TextBox 9"/>
          <p:cNvSpPr txBox="1"/>
          <p:nvPr/>
        </p:nvSpPr>
        <p:spPr>
          <a:xfrm>
            <a:off x="667512" y="1764792"/>
            <a:ext cx="2416987" cy="704088"/>
          </a:xfrm>
          <a:prstGeom prst="rect">
            <a:avLst/>
          </a:prstGeom>
          <a:noFill/>
        </p:spPr>
        <p:txBody>
          <a:bodyPr wrap="square" anchor="t" lIns="27432" rIns="27432" tIns="18288" bIns="18288">
            <a:spAutoFit/>
          </a:bodyPr>
          <a:lstStyle/>
          <a:p>
            <a:pPr algn="l"/>
            <a:r>
              <a:rPr sz="850" b="0">
                <a:solidFill>
                  <a:srgbClr val="475569"/>
                </a:solidFill>
                <a:latin typeface="Aptos"/>
              </a:rPr>
              <a:t>Acknowledge emotion before problem-solving.</a:t>
            </a:r>
          </a:p>
        </p:txBody>
      </p:sp>
      <p:sp>
        <p:nvSpPr>
          <p:cNvPr id="11" name="Rounded Rectangle 10"/>
          <p:cNvSpPr/>
          <p:nvPr/>
        </p:nvSpPr>
        <p:spPr>
          <a:xfrm>
            <a:off x="3340531" y="1325880"/>
            <a:ext cx="2673019"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395395" y="1472184"/>
            <a:ext cx="45720" cy="941832"/>
          </a:xfrm>
          <a:prstGeom prst="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05123" y="1435607"/>
            <a:ext cx="2416987" cy="292608"/>
          </a:xfrm>
          <a:prstGeom prst="rect">
            <a:avLst/>
          </a:prstGeom>
          <a:noFill/>
        </p:spPr>
        <p:txBody>
          <a:bodyPr wrap="square" anchor="t" lIns="27432" rIns="27432" tIns="18288" bIns="18288">
            <a:spAutoFit/>
          </a:bodyPr>
          <a:lstStyle/>
          <a:p>
            <a:pPr algn="l"/>
            <a:r>
              <a:rPr sz="1300" b="1">
                <a:solidFill>
                  <a:srgbClr val="0F172A"/>
                </a:solidFill>
                <a:latin typeface="Aptos"/>
              </a:rPr>
              <a:t>Avoid Advice And False Reassurance</a:t>
            </a:r>
          </a:p>
        </p:txBody>
      </p:sp>
      <p:sp>
        <p:nvSpPr>
          <p:cNvPr id="14" name="TextBox 13"/>
          <p:cNvSpPr txBox="1"/>
          <p:nvPr/>
        </p:nvSpPr>
        <p:spPr>
          <a:xfrm>
            <a:off x="3505123" y="1764792"/>
            <a:ext cx="2416987" cy="704088"/>
          </a:xfrm>
          <a:prstGeom prst="rect">
            <a:avLst/>
          </a:prstGeom>
          <a:noFill/>
        </p:spPr>
        <p:txBody>
          <a:bodyPr wrap="square" anchor="t" lIns="27432" rIns="27432" tIns="18288" bIns="18288">
            <a:spAutoFit/>
          </a:bodyPr>
          <a:lstStyle/>
          <a:p>
            <a:pPr algn="l"/>
            <a:r>
              <a:rPr sz="850" b="0">
                <a:solidFill>
                  <a:srgbClr val="475569"/>
                </a:solidFill>
                <a:latin typeface="Aptos"/>
              </a:rPr>
              <a:t>Avoid advice and false reassurance.</a:t>
            </a:r>
          </a:p>
        </p:txBody>
      </p:sp>
      <p:sp>
        <p:nvSpPr>
          <p:cNvPr id="15" name="Rounded Rectangle 14"/>
          <p:cNvSpPr/>
          <p:nvPr/>
        </p:nvSpPr>
        <p:spPr>
          <a:xfrm>
            <a:off x="6178143" y="1325880"/>
            <a:ext cx="2673019"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3007" y="1472184"/>
            <a:ext cx="45720" cy="941832"/>
          </a:xfrm>
          <a:prstGeom prst="rect">
            <a:avLst/>
          </a:prstGeom>
          <a:solidFill>
            <a:srgbClr val="DC2626"/>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42735" y="1435607"/>
            <a:ext cx="2416987" cy="292608"/>
          </a:xfrm>
          <a:prstGeom prst="rect">
            <a:avLst/>
          </a:prstGeom>
          <a:noFill/>
        </p:spPr>
        <p:txBody>
          <a:bodyPr wrap="square" anchor="t" lIns="27432" rIns="27432" tIns="18288" bIns="18288">
            <a:spAutoFit/>
          </a:bodyPr>
          <a:lstStyle/>
          <a:p>
            <a:pPr algn="l"/>
            <a:r>
              <a:rPr sz="1300" b="1">
                <a:solidFill>
                  <a:srgbClr val="0F172A"/>
                </a:solidFill>
                <a:latin typeface="Aptos"/>
              </a:rPr>
              <a:t>Silence Can Be Therapeutic</a:t>
            </a:r>
          </a:p>
        </p:txBody>
      </p:sp>
      <p:sp>
        <p:nvSpPr>
          <p:cNvPr id="18" name="TextBox 17"/>
          <p:cNvSpPr txBox="1"/>
          <p:nvPr/>
        </p:nvSpPr>
        <p:spPr>
          <a:xfrm>
            <a:off x="6342735" y="1764792"/>
            <a:ext cx="2416987" cy="704088"/>
          </a:xfrm>
          <a:prstGeom prst="rect">
            <a:avLst/>
          </a:prstGeom>
          <a:noFill/>
        </p:spPr>
        <p:txBody>
          <a:bodyPr wrap="square" anchor="t" lIns="27432" rIns="27432" tIns="18288" bIns="18288">
            <a:spAutoFit/>
          </a:bodyPr>
          <a:lstStyle/>
          <a:p>
            <a:pPr algn="l"/>
            <a:r>
              <a:rPr sz="850" b="0">
                <a:solidFill>
                  <a:srgbClr val="475569"/>
                </a:solidFill>
                <a:latin typeface="Aptos"/>
              </a:rPr>
              <a:t>Silence can be therapeutic.</a:t>
            </a:r>
          </a:p>
        </p:txBody>
      </p:sp>
      <p:sp>
        <p:nvSpPr>
          <p:cNvPr id="19" name="Rounded Rectangle 18"/>
          <p:cNvSpPr/>
          <p:nvPr/>
        </p:nvSpPr>
        <p:spPr>
          <a:xfrm>
            <a:off x="9015755" y="1325880"/>
            <a:ext cx="2673019"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070619" y="1472184"/>
            <a:ext cx="45720" cy="941832"/>
          </a:xfrm>
          <a:prstGeom prst="rect">
            <a:avLst/>
          </a:prstGeom>
          <a:solidFill>
            <a:srgbClr val="16A34A"/>
          </a:solidFill>
          <a:ln w="127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80347" y="1435607"/>
            <a:ext cx="2416987" cy="292608"/>
          </a:xfrm>
          <a:prstGeom prst="rect">
            <a:avLst/>
          </a:prstGeom>
          <a:noFill/>
        </p:spPr>
        <p:txBody>
          <a:bodyPr wrap="square" anchor="t" lIns="27432" rIns="27432" tIns="18288" bIns="18288">
            <a:spAutoFit/>
          </a:bodyPr>
          <a:lstStyle/>
          <a:p>
            <a:pPr algn="l"/>
            <a:r>
              <a:rPr sz="1300" b="1">
                <a:solidFill>
                  <a:srgbClr val="0F172A"/>
                </a:solidFill>
                <a:latin typeface="Aptos"/>
              </a:rPr>
              <a:t>Ask Directly About Self-Harm When Indica</a:t>
            </a:r>
          </a:p>
        </p:txBody>
      </p:sp>
      <p:sp>
        <p:nvSpPr>
          <p:cNvPr id="22" name="TextBox 21"/>
          <p:cNvSpPr txBox="1"/>
          <p:nvPr/>
        </p:nvSpPr>
        <p:spPr>
          <a:xfrm>
            <a:off x="9180347" y="1764792"/>
            <a:ext cx="2416987" cy="704088"/>
          </a:xfrm>
          <a:prstGeom prst="rect">
            <a:avLst/>
          </a:prstGeom>
          <a:noFill/>
        </p:spPr>
        <p:txBody>
          <a:bodyPr wrap="square" anchor="t" lIns="27432" rIns="27432" tIns="18288" bIns="18288">
            <a:spAutoFit/>
          </a:bodyPr>
          <a:lstStyle/>
          <a:p>
            <a:pPr algn="l"/>
            <a:r>
              <a:rPr sz="850" b="0">
                <a:solidFill>
                  <a:srgbClr val="475569"/>
                </a:solidFill>
                <a:latin typeface="Aptos"/>
              </a:rPr>
              <a:t>Ask directly about self-harm when indicated.</a:t>
            </a:r>
          </a:p>
        </p:txBody>
      </p:sp>
      <p:sp>
        <p:nvSpPr>
          <p:cNvPr id="23" name="Rounded Rectangle 22"/>
          <p:cNvSpPr/>
          <p:nvPr/>
        </p:nvSpPr>
        <p:spPr>
          <a:xfrm>
            <a:off x="1234440" y="4892040"/>
            <a:ext cx="9646920" cy="82296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289304" y="5038344"/>
            <a:ext cx="45720" cy="530352"/>
          </a:xfrm>
          <a:prstGeom prst="rect">
            <a:avLst/>
          </a:prstGeom>
          <a:solidFill>
            <a:srgbClr val="0F172A"/>
          </a:solidFill>
          <a:ln w="127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399032" y="5001768"/>
            <a:ext cx="9390888" cy="292608"/>
          </a:xfrm>
          <a:prstGeom prst="rect">
            <a:avLst/>
          </a:prstGeom>
          <a:noFill/>
        </p:spPr>
        <p:txBody>
          <a:bodyPr wrap="square" anchor="t" lIns="27432" rIns="27432" tIns="18288" bIns="18288">
            <a:spAutoFit/>
          </a:bodyPr>
          <a:lstStyle/>
          <a:p>
            <a:pPr algn="l"/>
            <a:r>
              <a:rPr sz="1200" b="1">
                <a:solidFill>
                  <a:srgbClr val="0F172A"/>
                </a:solidFill>
                <a:latin typeface="Aptos"/>
              </a:rPr>
              <a:t>final bedside frame</a:t>
            </a:r>
          </a:p>
        </p:txBody>
      </p:sp>
      <p:sp>
        <p:nvSpPr>
          <p:cNvPr id="26" name="TextBox 25"/>
          <p:cNvSpPr txBox="1"/>
          <p:nvPr/>
        </p:nvSpPr>
        <p:spPr>
          <a:xfrm>
            <a:off x="1399032" y="5330952"/>
            <a:ext cx="9390888" cy="292608"/>
          </a:xfrm>
          <a:prstGeom prst="rect">
            <a:avLst/>
          </a:prstGeom>
          <a:noFill/>
        </p:spPr>
        <p:txBody>
          <a:bodyPr wrap="square" anchor="t" lIns="27432" rIns="27432" tIns="18288" bIns="18288">
            <a:spAutoFit/>
          </a:bodyPr>
          <a:lstStyle/>
          <a:p>
            <a:pPr algn="l"/>
            <a:r>
              <a:rPr sz="800" b="0">
                <a:solidFill>
                  <a:srgbClr val="475569"/>
                </a:solidFill>
                <a:latin typeface="Aptos"/>
              </a:rPr>
              <a:t>Use presence, observation, open invitations, reflection, and direct safety assessment without false reassurance or judgment.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