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Precautions and Exposure Prevention. The concept underneath it is infection prevention, and the module rates its safety risk high — its top rating, so this is one to be able to do under pressure rather than one to recognise on a test. Here is the whole lesson in one sentence. Select hand hygiene and protective equipment from the anticipated exposure, then remove equipment without contaminating clean areas. By the end you should be able to do three things: apply standard precautions to every patient encounter; select PPE from the anticipated exposure; and respond safely to a sharps or body-fluid exposure. We get there in three moves, and then spend the second half putting all of them against patient cues, because knowing this and doing it at the bedside are not the same skill.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with a cue rather than a definition, because that is the order the unit gives you: the patient arrives first and the explanation catches up later. Here it is. A procedure may splash body fluid toward the face. Decide now, before any of this is taught, what you would do and why that thing first. Write it somewhere you will still be able to read at the end, because this exact cue comes back as the first assessment item. Comparing the two answers is most of what the rest of this session is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follows answers one question. Select hand hygiene and protective equipment from the anticipated exposure, then remove equipment without contaminating clean areas. Keep that sentence in view for the rest of the session. When a slide stops making sense it is almost always because you have lost which part of this sentence it is working on, and naming the part is the fastest way back. The lesson takes the question in three moves — anticipate exposure, then hand hygiene, then exposure response — and then asks you to apply all of them to cues you have not seen.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first, detail second. The lanes on the left are the lesson's teaching moves, in the order a nurse actually performs them; apply and evaluate on the right are where you are made to use them. The reason to show this before teaching any of it is orientation: every cue you meet today sits in one of these lanes, and knowing which lane a cue belongs to usually tells you what to do with it before you can explain why. When you get stuck later, come back to this slide rather than to the last one you read.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minute, before any of this is taught. These three headings are the whole lesson in order, but they are shuffled on the slide. Put them in the sequence the nurse actually performs them at the bedside, then compare with a neighbour before the reveal. Getting the order wrong here is more useful than getting it right: it shows you which move you would have skipped under pressure.</a:t>
            </a:r>
          </a:p>
          <a:p/>
          <a:p>
            <a:r>
              <a:t>ANSWER KEY:</a:t>
            </a:r>
          </a:p>
          <a:p>
            <a:r>
              <a:t>- Anticipate exposure</a:t>
            </a:r>
          </a:p>
          <a:p>
            <a:r>
              <a:t>- Hand hygiene</a:t>
            </a:r>
          </a:p>
          <a:p>
            <a:r>
              <a:t>- Exposure response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Anticipate exposure. Standard precautions apply to every patient. Add gloves, gown, mask, and eye protection according to likely contact with blood, body fluids, mucous membranes, nonintact skin, or contaminated equipment. This is the first of the three, and the two after it assume it. What you get wrong here does not stay here; it propagates quietly into every decision the rest of the lesson asks you to make. Do not move on until you can say this part back without the slide. The test is the objective: if you can apply standard precautions to every patient encounter, this lane has done its job, and if you cannot, nothing later in the lesson will fix it — it will only hide it.</a:t>
            </a:r>
          </a:p>
          <a:p/>
          <a:p>
            <a:r>
              <a:t>VISUAL NOTES: Section 1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hygiene. Perform hand hygiene at indicated moments and after glove removal. Gloves do not replace hand hygiene. This is the middle move, and it is where most of the disagreement in this lesson will sit: the point at which a defensible action and the priority action stop being the same answer. Do not move on until you can say this part back without the slide. The test is the objective: if you can select PPE from the anticipated exposure, this lane has done its job, and if you cannot, nothing later in the lesson will fix it — it will only hide it.</a:t>
            </a:r>
          </a:p>
          <a:p/>
          <a:p>
            <a:r>
              <a:t>VISUAL NOTES: Section 2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Exposure response. Immediately wash or flush the exposed area, report the event, and follow the organization's exposure evaluation process. This is the last of the three, and it is the one most often left implicit -- the step learners can describe accurately and then do not actually perform when the first two have gone well. Say it out loud; that is how it survives contact with a busy shift. Do not move on until you can say this part back without the slide. The test is the objective: if you can respond safely to a sharps or body-fluid exposure, this lane has done its job, and if you cannot, nothing later in the lesson will fix it — it will only hide it.</a:t>
            </a:r>
          </a:p>
          <a:p/>
          <a:p>
            <a:r>
              <a:t>VISUAL NOTES: Section 3 of 3 from the source topic.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four minutes. Every cue on the left was written for one of the lesson moves on the right; your job is to say which, and to be able to defend one of the four out loud. Where the two of you match a cue differently, stop and stay there — you have found a cue whose lane is genuinely arguable, and those are worth more than the three you agreed on instantly. Bring one disagreement to the debrief.</a:t>
            </a:r>
          </a:p>
          <a:p/>
          <a:p>
            <a:r>
              <a:t>ANSWER KEY:</a:t>
            </a:r>
          </a:p>
          <a:p>
            <a:r>
              <a:t>- A relates to: Anticipate exposure</a:t>
            </a:r>
          </a:p>
          <a:p>
            <a:r>
              <a:t>- B relates to: Hand hygiene</a:t>
            </a:r>
          </a:p>
          <a:p>
            <a:r>
              <a:t>- C relates to: Exposure response</a:t>
            </a:r>
          </a:p>
          <a:p>
            <a:r>
              <a:t>- D relates to: Exposure response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four rationales as a set rather than one at a time. They are deliberately repetitive: the same habit of mind is showing up behind four different cues, and that repetition is the teaching point rather than an accident of writing. A learner who memorises four rules will meet a fifth cue and stall. A learner who can name the one habit will handle cues this lesson never showed them. Say the habit out loud in your own words before you leave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question, and it targets the middle of the lesson. The cue is: Gloves are removed after contact with contaminated material. Read all four options and commit to one before the reveal, because the value of a checkpoint is in being wrong out loud rather than quietly. The reasoning you are being tested on is this: Gloves can have defects and hands can be contaminated during removal.</a:t>
            </a:r>
          </a:p>
          <a:p/>
          <a:p>
            <a:r>
              <a:t>CORRECT: C</a:t>
            </a:r>
          </a:p>
          <a:p>
            <a:r>
              <a:t>RATIONALE: Gloves can have defects and hands can be contaminated during removal.</a:t>
            </a:r>
          </a:p>
          <a:p/>
          <a:p>
            <a:r>
              <a:t>ANSWER KEY:</a:t>
            </a:r>
          </a:p>
          <a:p>
            <a:r>
              <a:t>- C. Perform hand hygiene immediately after glove removal.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bedside moment, and this time you write rather than choose. The situation: A nurse sustains a needlestick injury. Write two sentences before the debrief: one naming what you assess, one naming what you do about it. Keep them in that order, because the order is the judgement. The keyed reasoning is: Immediate cleansing and timely evaluation reduce preventable harm and enable indicated prophylaxis.</a:t>
            </a:r>
          </a:p>
          <a:p/>
          <a:p>
            <a:r>
              <a:t>ANSWER KEY:</a:t>
            </a:r>
          </a:p>
          <a:p>
            <a:r>
              <a:t>- Wash the area, report promptly, and begin the exposure protocol.</a:t>
            </a:r>
          </a:p>
          <a:p>
            <a:r>
              <a:t>- Immediate cleansing and timely evaluation reduce preventable harm and enable indicated prophylaxis.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columns, and the sorting rule is the point of the slide. Put a cue on the left when delay changes the outcome for the patient, and on the right when the correct action is verification, planning or teaching that a short delay does not worsen. Justify one of your placements aloud. Learners who can sort these reliably are the ones who prioritise well under load.</a:t>
            </a:r>
          </a:p>
          <a:p/>
          <a:p>
            <a:r>
              <a:t>ANSWER KEY:</a:t>
            </a:r>
          </a:p>
          <a:p>
            <a:r>
              <a:t>- Act now: the cues whose keyed action is immediate</a:t>
            </a:r>
          </a:p>
          <a:p>
            <a:r>
              <a:t>- Act in sequence: the cues whose keyed action is verification or planning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 turned into something you can write down. The module asks you to be able to fill every one of these fields for any patient in this situation, and the value is in the blanks: a field you cannot complete is not a documentation gap, it is an assessment you have not done yet. Fill them now for the mini-case patient, and notice which field you reach for last — that one is your weak lane.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question, and the hardest cue the topic carries: A nurse plans to recap a used needle by hand. All four options are things a nurse might plausibly do, which is what makes it a capstone rather than a checkpoint. Choose the priority action, not merely a defensible one. The reasoning that separates them: Avoiding manipulation of used sharps reduces percutaneous injury risk.</a:t>
            </a:r>
          </a:p>
          <a:p/>
          <a:p>
            <a:r>
              <a:t>CORRECT: B</a:t>
            </a:r>
          </a:p>
          <a:p>
            <a:r>
              <a:t>RATIONALE: Avoiding manipulation of used sharps reduces percutaneous injury risk.</a:t>
            </a:r>
          </a:p>
          <a:p/>
          <a:p>
            <a:r>
              <a:t>ANSWER KEY:</a:t>
            </a:r>
          </a:p>
          <a:p>
            <a:r>
              <a:t>- B. Activate the safety device and place the needle directly in an approved sharps container.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with no notes. Answer each of these aloud or on paper, one per lane of the lesson. The answers are on the slides you have just seen and in the facilitator guide, so this is retrieval rather than assessment. If any one of them produces silence across the room, that is the lane to re-teach before this cohort meets the situation on a real unit.</a:t>
            </a:r>
          </a:p>
          <a:p/>
          <a:p>
            <a:r>
              <a:t>ANSWER KEY:</a:t>
            </a:r>
          </a:p>
          <a:p>
            <a:r>
              <a:t>- Standard precautions apply to all patients.</a:t>
            </a:r>
          </a:p>
          <a:p>
            <a:r>
              <a:t>- Match PPE to exposure risk.</a:t>
            </a:r>
          </a:p>
          <a:p>
            <a:r>
              <a:t>- Remove PPE to prevent self-contamination.</a:t>
            </a:r>
          </a:p>
          <a:p>
            <a:r>
              <a:t>- Report occupational exposures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where we opened. The question was: Select hand hygiene and protective equipment from the anticipated exposure, then remove equipment without contaminating clean areas. The lines on this slide are the module's own answer, and they are what should still be there in a week when the detail has gone. If you keep one, keep the first: Standard precautions apply to all patients. Everything else here is that sentence applied to a different cue. Go back now to what you wrote at the opening case and see whether you would still do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502920" y="457200"/>
            <a:ext cx="2194560" cy="182880"/>
          </a:xfrm>
          <a:prstGeom prst="rect">
            <a:avLst/>
          </a:prstGeom>
          <a:noFill/>
        </p:spPr>
        <p:txBody>
          <a:bodyPr wrap="square" anchor="t" lIns="27432" rIns="27432" tIns="18288" bIns="18288">
            <a:spAutoFit/>
          </a:bodyPr>
          <a:lstStyle/>
          <a:p>
            <a:pPr algn="l"/>
            <a:r>
              <a:rPr sz="720" b="1">
                <a:solidFill>
                  <a:srgbClr val="2563EB"/>
                </a:solidFill>
                <a:latin typeface="Aptos"/>
              </a:rPr>
              <a:t>OPEN</a:t>
            </a:r>
          </a:p>
        </p:txBody>
      </p:sp>
      <p:sp>
        <p:nvSpPr>
          <p:cNvPr id="3" name="TextBox 2"/>
          <p:cNvSpPr txBox="1"/>
          <p:nvPr/>
        </p:nvSpPr>
        <p:spPr>
          <a:xfrm>
            <a:off x="502920" y="822960"/>
            <a:ext cx="7498079" cy="548640"/>
          </a:xfrm>
          <a:prstGeom prst="rect">
            <a:avLst/>
          </a:prstGeom>
          <a:noFill/>
        </p:spPr>
        <p:txBody>
          <a:bodyPr wrap="square" anchor="t" lIns="27432" rIns="27432" tIns="18288" bIns="18288">
            <a:spAutoFit/>
          </a:bodyPr>
          <a:lstStyle/>
          <a:p>
            <a:pPr algn="l"/>
            <a:r>
              <a:rPr sz="2800" b="1">
                <a:solidFill>
                  <a:srgbClr val="0F172A"/>
                </a:solidFill>
                <a:latin typeface="Aptos"/>
              </a:rPr>
              <a:t>Standard Precautions and Exposure Prevention</a:t>
            </a:r>
          </a:p>
        </p:txBody>
      </p:sp>
      <p:sp>
        <p:nvSpPr>
          <p:cNvPr id="4" name="TextBox 3"/>
          <p:cNvSpPr txBox="1"/>
          <p:nvPr/>
        </p:nvSpPr>
        <p:spPr>
          <a:xfrm>
            <a:off x="530352" y="1463040"/>
            <a:ext cx="7589520" cy="438912"/>
          </a:xfrm>
          <a:prstGeom prst="rect">
            <a:avLst/>
          </a:prstGeom>
          <a:noFill/>
        </p:spPr>
        <p:txBody>
          <a:bodyPr wrap="square" anchor="t" lIns="27432" rIns="27432" tIns="18288" bIns="18288">
            <a:spAutoFit/>
          </a:bodyPr>
          <a:lstStyle/>
          <a:p>
            <a:pPr algn="l"/>
            <a:r>
              <a:rPr sz="1200" b="0">
                <a:solidFill>
                  <a:srgbClr val="475569"/>
                </a:solidFill>
                <a:latin typeface="Aptos"/>
              </a:rPr>
              <a:t>NCLEX  ·  Safety and Infection Prevention and Control  ·  Standard_Precautions_and_Exposure_Preven</a:t>
            </a:r>
          </a:p>
        </p:txBody>
      </p:sp>
      <p:sp>
        <p:nvSpPr>
          <p:cNvPr id="5" name="Rounded Rectangle 4"/>
          <p:cNvSpPr/>
          <p:nvPr/>
        </p:nvSpPr>
        <p:spPr>
          <a:xfrm>
            <a:off x="502920" y="2331720"/>
            <a:ext cx="5303520" cy="10515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57784" y="2478024"/>
            <a:ext cx="45720" cy="758951"/>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44144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clinical question</a:t>
            </a:r>
          </a:p>
        </p:txBody>
      </p:sp>
      <p:sp>
        <p:nvSpPr>
          <p:cNvPr id="8" name="TextBox 7"/>
          <p:cNvSpPr txBox="1"/>
          <p:nvPr/>
        </p:nvSpPr>
        <p:spPr>
          <a:xfrm>
            <a:off x="667512" y="2770632"/>
            <a:ext cx="5047488" cy="521207"/>
          </a:xfrm>
          <a:prstGeom prst="rect">
            <a:avLst/>
          </a:prstGeom>
          <a:noFill/>
        </p:spPr>
        <p:txBody>
          <a:bodyPr wrap="square" anchor="t" lIns="27432" rIns="27432" tIns="18288" bIns="18288">
            <a:spAutoFit/>
          </a:bodyPr>
          <a:lstStyle/>
          <a:p>
            <a:pPr algn="l"/>
            <a:r>
              <a:rPr sz="900" b="0">
                <a:solidFill>
                  <a:srgbClr val="475569"/>
                </a:solidFill>
                <a:latin typeface="Aptos"/>
              </a:rPr>
              <a:t>Select hand hygiene and protective equipment from the anticipated exposure, then remove equipment without contaminating clean areas.</a:t>
            </a:r>
          </a:p>
        </p:txBody>
      </p:sp>
      <p:sp>
        <p:nvSpPr>
          <p:cNvPr id="9" name="Rounded Rectangle 8"/>
          <p:cNvSpPr/>
          <p:nvPr/>
        </p:nvSpPr>
        <p:spPr>
          <a:xfrm>
            <a:off x="502920" y="3611880"/>
            <a:ext cx="5303520" cy="132588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 y="3758184"/>
            <a:ext cx="45720" cy="1033271"/>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721608"/>
            <a:ext cx="5047488" cy="292608"/>
          </a:xfrm>
          <a:prstGeom prst="rect">
            <a:avLst/>
          </a:prstGeom>
          <a:noFill/>
        </p:spPr>
        <p:txBody>
          <a:bodyPr wrap="square" anchor="t" lIns="27432" rIns="27432" tIns="18288" bIns="18288">
            <a:spAutoFit/>
          </a:bodyPr>
          <a:lstStyle/>
          <a:p>
            <a:pPr algn="l"/>
            <a:r>
              <a:rPr sz="1300" b="1">
                <a:solidFill>
                  <a:srgbClr val="0F172A"/>
                </a:solidFill>
                <a:latin typeface="Aptos"/>
              </a:rPr>
              <a:t>today is not a vocabulary tour</a:t>
            </a:r>
          </a:p>
        </p:txBody>
      </p:sp>
      <p:sp>
        <p:nvSpPr>
          <p:cNvPr id="12" name="TextBox 11"/>
          <p:cNvSpPr txBox="1"/>
          <p:nvPr/>
        </p:nvSpPr>
        <p:spPr>
          <a:xfrm>
            <a:off x="667512" y="4050791"/>
            <a:ext cx="5047488" cy="795528"/>
          </a:xfrm>
          <a:prstGeom prst="rect">
            <a:avLst/>
          </a:prstGeom>
          <a:noFill/>
        </p:spPr>
        <p:txBody>
          <a:bodyPr wrap="square" anchor="t" lIns="27432" rIns="27432" tIns="18288" bIns="18288">
            <a:spAutoFit/>
          </a:bodyPr>
          <a:lstStyle/>
          <a:p>
            <a:pPr algn="l"/>
            <a:r>
              <a:rPr sz="900" b="0">
                <a:solidFill>
                  <a:srgbClr val="475569"/>
                </a:solidFill>
                <a:latin typeface="Aptos"/>
              </a:rPr>
              <a:t>you will use the science only when it explains a patient question or a safety decision.</a:t>
            </a:r>
          </a:p>
        </p:txBody>
      </p:sp>
      <p:sp>
        <p:nvSpPr>
          <p:cNvPr id="13" name="Rounded Rectangle 12"/>
          <p:cNvSpPr/>
          <p:nvPr/>
        </p:nvSpPr>
        <p:spPr>
          <a:xfrm>
            <a:off x="8458200" y="502920"/>
            <a:ext cx="1965960" cy="196596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914400"/>
            <a:ext cx="1417320" cy="274320"/>
          </a:xfrm>
          <a:prstGeom prst="rect">
            <a:avLst/>
          </a:prstGeom>
          <a:noFill/>
        </p:spPr>
        <p:txBody>
          <a:bodyPr wrap="square" anchor="t" lIns="27432" rIns="27432" tIns="18288" bIns="18288">
            <a:spAutoFit/>
          </a:bodyPr>
          <a:lstStyle/>
          <a:p>
            <a:pPr algn="ctr"/>
            <a:r>
              <a:rPr sz="1300" b="1">
                <a:solidFill>
                  <a:srgbClr val="2563EB"/>
                </a:solidFill>
                <a:latin typeface="Aptos"/>
              </a:rPr>
              <a:t>Nurse lens</a:t>
            </a:r>
          </a:p>
        </p:txBody>
      </p:sp>
      <p:sp>
        <p:nvSpPr>
          <p:cNvPr id="15" name="TextBox 14"/>
          <p:cNvSpPr txBox="1"/>
          <p:nvPr/>
        </p:nvSpPr>
        <p:spPr>
          <a:xfrm>
            <a:off x="8915400" y="1234440"/>
            <a:ext cx="1097280" cy="685800"/>
          </a:xfrm>
          <a:prstGeom prst="rect">
            <a:avLst/>
          </a:prstGeom>
          <a:noFill/>
        </p:spPr>
        <p:txBody>
          <a:bodyPr wrap="square" anchor="t" lIns="27432" rIns="27432" tIns="18288" bIns="18288">
            <a:spAutoFit/>
          </a:bodyPr>
          <a:lstStyle/>
          <a:p>
            <a:pPr algn="ctr"/>
            <a:r>
              <a:rPr sz="1000" b="1">
                <a:solidFill>
                  <a:srgbClr val="0F172A"/>
                </a:solidFill>
                <a:latin typeface="Aptos"/>
              </a:rPr>
              <a:t>TEACH
ASSESS
ESCALATE</a:t>
            </a:r>
          </a:p>
        </p:txBody>
      </p:sp>
      <p:sp>
        <p:nvSpPr>
          <p:cNvPr id="16" name="Rounded Rectangle 15"/>
          <p:cNvSpPr/>
          <p:nvPr/>
        </p:nvSpPr>
        <p:spPr>
          <a:xfrm>
            <a:off x="64008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404104"/>
            <a:ext cx="45720" cy="365759"/>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1"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1</a:t>
            </a:r>
          </a:p>
        </p:txBody>
      </p:sp>
      <p:sp>
        <p:nvSpPr>
          <p:cNvPr id="19" name="TextBox 18"/>
          <p:cNvSpPr txBox="1"/>
          <p:nvPr/>
        </p:nvSpPr>
        <p:spPr>
          <a:xfrm>
            <a:off x="804671"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Standard Precautions and Exposure Prevention</a:t>
            </a:r>
          </a:p>
        </p:txBody>
      </p:sp>
      <p:sp>
        <p:nvSpPr>
          <p:cNvPr id="20" name="Rounded Rectangle 19"/>
          <p:cNvSpPr/>
          <p:nvPr/>
        </p:nvSpPr>
        <p:spPr>
          <a:xfrm>
            <a:off x="3429000" y="5257800"/>
            <a:ext cx="242316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483864" y="5404104"/>
            <a:ext cx="45720" cy="365759"/>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93592" y="5367528"/>
            <a:ext cx="2167128" cy="292608"/>
          </a:xfrm>
          <a:prstGeom prst="rect">
            <a:avLst/>
          </a:prstGeom>
          <a:noFill/>
        </p:spPr>
        <p:txBody>
          <a:bodyPr wrap="square" anchor="t" lIns="27432" rIns="27432" tIns="18288" bIns="18288">
            <a:spAutoFit/>
          </a:bodyPr>
          <a:lstStyle/>
          <a:p>
            <a:pPr algn="l"/>
            <a:r>
              <a:rPr sz="1200" b="1">
                <a:solidFill>
                  <a:srgbClr val="0F172A"/>
                </a:solidFill>
                <a:latin typeface="Aptos"/>
              </a:rPr>
              <a:t>2</a:t>
            </a:r>
          </a:p>
        </p:txBody>
      </p:sp>
      <p:sp>
        <p:nvSpPr>
          <p:cNvPr id="23" name="TextBox 22"/>
          <p:cNvSpPr txBox="1"/>
          <p:nvPr/>
        </p:nvSpPr>
        <p:spPr>
          <a:xfrm>
            <a:off x="3593592" y="5696712"/>
            <a:ext cx="2167128" cy="128016"/>
          </a:xfrm>
          <a:prstGeom prst="rect">
            <a:avLst/>
          </a:prstGeom>
          <a:noFill/>
        </p:spPr>
        <p:txBody>
          <a:bodyPr wrap="square" anchor="t" lIns="27432" rIns="27432" tIns="18288" bIns="18288">
            <a:spAutoFit/>
          </a:bodyPr>
          <a:lstStyle/>
          <a:p>
            <a:pPr algn="l"/>
            <a:r>
              <a:rPr sz="800" b="0">
                <a:solidFill>
                  <a:srgbClr val="475569"/>
                </a:solidFill>
                <a:latin typeface="Aptos"/>
              </a:rPr>
              <a:t>Prelicensure RN · Safety and Infection Prevention and Control · safety risk: high</a:t>
            </a:r>
          </a:p>
        </p:txBody>
      </p:sp>
      <p:sp>
        <p:nvSpPr>
          <p:cNvPr id="24" name="TextBox 23"/>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25" name="TextBox 24"/>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S01  ·  instructor-added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OPEN</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Opening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S02  ·  source-aligned</a:t>
            </a:r>
          </a:p>
        </p:txBody>
      </p:sp>
      <p:sp>
        <p:nvSpPr>
          <p:cNvPr id="8" name="Rounded Rectangle 7"/>
          <p:cNvSpPr/>
          <p:nvPr/>
        </p:nvSpPr>
        <p:spPr>
          <a:xfrm>
            <a:off x="548640" y="1097280"/>
            <a:ext cx="5394960" cy="1325880"/>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3503" y="1243584"/>
            <a:ext cx="45720" cy="1033271"/>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207007"/>
            <a:ext cx="5138928" cy="292608"/>
          </a:xfrm>
          <a:prstGeom prst="rect">
            <a:avLst/>
          </a:prstGeom>
          <a:noFill/>
        </p:spPr>
        <p:txBody>
          <a:bodyPr wrap="square" anchor="t" lIns="27432" rIns="27432" tIns="18288" bIns="18288">
            <a:spAutoFit/>
          </a:bodyPr>
          <a:lstStyle/>
          <a:p>
            <a:pPr algn="l"/>
            <a:r>
              <a:rPr sz="1300" b="1">
                <a:solidFill>
                  <a:srgbClr val="0F172A"/>
                </a:solidFill>
                <a:latin typeface="Aptos"/>
              </a:rPr>
              <a:t>patient says</a:t>
            </a:r>
          </a:p>
        </p:txBody>
      </p:sp>
      <p:sp>
        <p:nvSpPr>
          <p:cNvPr id="11" name="TextBox 10"/>
          <p:cNvSpPr txBox="1"/>
          <p:nvPr/>
        </p:nvSpPr>
        <p:spPr>
          <a:xfrm>
            <a:off x="713232" y="1536192"/>
            <a:ext cx="5138928" cy="795528"/>
          </a:xfrm>
          <a:prstGeom prst="rect">
            <a:avLst/>
          </a:prstGeom>
          <a:noFill/>
        </p:spPr>
        <p:txBody>
          <a:bodyPr wrap="square" anchor="t" lIns="27432" rIns="27432" tIns="18288" bIns="18288">
            <a:spAutoFit/>
          </a:bodyPr>
          <a:lstStyle/>
          <a:p>
            <a:pPr algn="l"/>
            <a:r>
              <a:rPr sz="1000" b="0">
                <a:solidFill>
                  <a:srgbClr val="475569"/>
                </a:solidFill>
                <a:latin typeface="Aptos"/>
              </a:rPr>
              <a:t>A procedure may splash body fluid toward the face.</a:t>
            </a:r>
          </a:p>
        </p:txBody>
      </p:sp>
      <p:sp>
        <p:nvSpPr>
          <p:cNvPr id="12" name="Rounded Rectangle 11"/>
          <p:cNvSpPr/>
          <p:nvPr/>
        </p:nvSpPr>
        <p:spPr>
          <a:xfrm>
            <a:off x="54864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3503" y="2889504"/>
            <a:ext cx="45720" cy="153619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know so far</a:t>
            </a:r>
          </a:p>
        </p:txBody>
      </p:sp>
      <p:sp>
        <p:nvSpPr>
          <p:cNvPr id="15" name="TextBox 14"/>
          <p:cNvSpPr txBox="1"/>
          <p:nvPr/>
        </p:nvSpPr>
        <p:spPr>
          <a:xfrm>
            <a:off x="713232" y="3182112"/>
            <a:ext cx="2395728" cy="1298448"/>
          </a:xfrm>
          <a:prstGeom prst="rect">
            <a:avLst/>
          </a:prstGeom>
          <a:noFill/>
        </p:spPr>
        <p:txBody>
          <a:bodyPr wrap="square" anchor="t" lIns="27432" rIns="27432" tIns="18288" bIns="18288">
            <a:spAutoFit/>
          </a:bodyPr>
          <a:lstStyle/>
          <a:p>
            <a:pPr algn="l"/>
            <a:r>
              <a:rPr sz="850" b="0">
                <a:solidFill>
                  <a:srgbClr val="475569"/>
                </a:solidFill>
                <a:latin typeface="Aptos"/>
              </a:rPr>
              <a:t>- Objective in play: Apply standard precautions to every patient encounter.
- Concept: Infection Prevention</a:t>
            </a:r>
          </a:p>
        </p:txBody>
      </p:sp>
      <p:sp>
        <p:nvSpPr>
          <p:cNvPr id="16" name="Rounded Rectangle 15"/>
          <p:cNvSpPr/>
          <p:nvPr/>
        </p:nvSpPr>
        <p:spPr>
          <a:xfrm>
            <a:off x="3429000" y="2743200"/>
            <a:ext cx="2651760" cy="1828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3864" y="2889504"/>
            <a:ext cx="45720" cy="1536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2852928"/>
            <a:ext cx="2395728" cy="292608"/>
          </a:xfrm>
          <a:prstGeom prst="rect">
            <a:avLst/>
          </a:prstGeom>
          <a:noFill/>
        </p:spPr>
        <p:txBody>
          <a:bodyPr wrap="square" anchor="t" lIns="27432" rIns="27432" tIns="18288" bIns="18288">
            <a:spAutoFit/>
          </a:bodyPr>
          <a:lstStyle/>
          <a:p>
            <a:pPr algn="l"/>
            <a:r>
              <a:rPr sz="1200" b="1">
                <a:solidFill>
                  <a:srgbClr val="0F172A"/>
                </a:solidFill>
                <a:latin typeface="Aptos"/>
              </a:rPr>
              <a:t>what you do not know yet</a:t>
            </a:r>
          </a:p>
        </p:txBody>
      </p:sp>
      <p:sp>
        <p:nvSpPr>
          <p:cNvPr id="19" name="Rounded Rectangle 18"/>
          <p:cNvSpPr/>
          <p:nvPr/>
        </p:nvSpPr>
        <p:spPr>
          <a:xfrm>
            <a:off x="6629400" y="1097280"/>
            <a:ext cx="4389120" cy="3520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684264" y="1243584"/>
            <a:ext cx="45720" cy="3227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93992" y="1207007"/>
            <a:ext cx="4133087" cy="292608"/>
          </a:xfrm>
          <a:prstGeom prst="rect">
            <a:avLst/>
          </a:prstGeom>
          <a:noFill/>
        </p:spPr>
        <p:txBody>
          <a:bodyPr wrap="square" anchor="t" lIns="27432" rIns="27432" tIns="18288" bIns="18288">
            <a:spAutoFit/>
          </a:bodyPr>
          <a:lstStyle/>
          <a:p>
            <a:pPr algn="l"/>
            <a:r>
              <a:rPr sz="1400" b="1">
                <a:solidFill>
                  <a:srgbClr val="0F172A"/>
                </a:solidFill>
                <a:latin typeface="Aptos"/>
              </a:rPr>
              <a:t>your first task</a:t>
            </a:r>
          </a:p>
        </p:txBody>
      </p:sp>
      <p:sp>
        <p:nvSpPr>
          <p:cNvPr id="22" name="TextBox 21"/>
          <p:cNvSpPr txBox="1"/>
          <p:nvPr/>
        </p:nvSpPr>
        <p:spPr>
          <a:xfrm>
            <a:off x="6793992" y="1536192"/>
            <a:ext cx="4133087" cy="2990088"/>
          </a:xfrm>
          <a:prstGeom prst="rect">
            <a:avLst/>
          </a:prstGeom>
          <a:noFill/>
        </p:spPr>
        <p:txBody>
          <a:bodyPr wrap="square" anchor="t" lIns="27432" rIns="27432" tIns="18288" bIns="18288">
            <a:spAutoFit/>
          </a:bodyPr>
          <a:lstStyle/>
          <a:p>
            <a:pPr algn="l"/>
            <a:r>
              <a:rPr sz="1000" b="0">
                <a:solidFill>
                  <a:srgbClr val="475569"/>
                </a:solidFill>
                <a:latin typeface="Aptos"/>
              </a:rPr>
              <a:t>Thirty seconds: what is your first action, and why that one first?</a:t>
            </a:r>
          </a:p>
        </p:txBody>
      </p:sp>
      <p:sp>
        <p:nvSpPr>
          <p:cNvPr id="23" name="Rounded Rectangle 22"/>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Before facts: decide what information is missing and what could be unsafe.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The question this lesson answers</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S03  ·  instructor-added</a:t>
            </a:r>
          </a:p>
        </p:txBody>
      </p:sp>
      <p:sp>
        <p:nvSpPr>
          <p:cNvPr id="8" name="Rounded Rectangle 7"/>
          <p:cNvSpPr/>
          <p:nvPr/>
        </p:nvSpPr>
        <p:spPr>
          <a:xfrm>
            <a:off x="1463040" y="960120"/>
            <a:ext cx="9235440" cy="77724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1143000"/>
            <a:ext cx="8778240" cy="384048"/>
          </a:xfrm>
          <a:prstGeom prst="rect">
            <a:avLst/>
          </a:prstGeom>
          <a:noFill/>
        </p:spPr>
        <p:txBody>
          <a:bodyPr wrap="square" anchor="ctr" lIns="27432" rIns="27432" tIns="18288" bIns="18288">
            <a:spAutoFit/>
          </a:bodyPr>
          <a:lstStyle/>
          <a:p>
            <a:pPr algn="ctr"/>
            <a:r>
              <a:rPr sz="1600" b="1">
                <a:solidFill>
                  <a:srgbClr val="FFFFFF"/>
                </a:solidFill>
                <a:latin typeface="Aptos"/>
              </a:rPr>
              <a:t>Select hand hygiene and protective equipment from the anticipated exposure, then remove equipment without contaminating clean areas.</a:t>
            </a:r>
          </a:p>
        </p:txBody>
      </p:sp>
      <p:sp>
        <p:nvSpPr>
          <p:cNvPr id="10" name="Rounded Rectangle 9"/>
          <p:cNvSpPr/>
          <p:nvPr/>
        </p:nvSpPr>
        <p:spPr>
          <a:xfrm>
            <a:off x="594360"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 y="2295144"/>
            <a:ext cx="45720" cy="882396"/>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Anticipate Exposure</a:t>
            </a:r>
          </a:p>
        </p:txBody>
      </p:sp>
      <p:sp>
        <p:nvSpPr>
          <p:cNvPr id="13" name="TextBox 12"/>
          <p:cNvSpPr txBox="1"/>
          <p:nvPr/>
        </p:nvSpPr>
        <p:spPr>
          <a:xfrm>
            <a:off x="758952"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Anticipate exposure</a:t>
            </a:r>
          </a:p>
        </p:txBody>
      </p:sp>
      <p:sp>
        <p:nvSpPr>
          <p:cNvPr id="14" name="Rounded Rectangle 13"/>
          <p:cNvSpPr/>
          <p:nvPr/>
        </p:nvSpPr>
        <p:spPr>
          <a:xfrm>
            <a:off x="3386251"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41115" y="2295144"/>
            <a:ext cx="45720" cy="882396"/>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0843"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Hand Hygiene</a:t>
            </a:r>
          </a:p>
        </p:txBody>
      </p:sp>
      <p:sp>
        <p:nvSpPr>
          <p:cNvPr id="17" name="TextBox 16"/>
          <p:cNvSpPr txBox="1"/>
          <p:nvPr/>
        </p:nvSpPr>
        <p:spPr>
          <a:xfrm>
            <a:off x="3550843"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Hand hygiene</a:t>
            </a:r>
          </a:p>
        </p:txBody>
      </p:sp>
      <p:sp>
        <p:nvSpPr>
          <p:cNvPr id="18" name="Rounded Rectangle 17"/>
          <p:cNvSpPr/>
          <p:nvPr/>
        </p:nvSpPr>
        <p:spPr>
          <a:xfrm>
            <a:off x="6178143"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3007" y="2295144"/>
            <a:ext cx="45720" cy="882396"/>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2735"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Exposure Response</a:t>
            </a:r>
          </a:p>
        </p:txBody>
      </p:sp>
      <p:sp>
        <p:nvSpPr>
          <p:cNvPr id="21" name="TextBox 20"/>
          <p:cNvSpPr txBox="1"/>
          <p:nvPr/>
        </p:nvSpPr>
        <p:spPr>
          <a:xfrm>
            <a:off x="6342735"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Exposure response</a:t>
            </a:r>
          </a:p>
        </p:txBody>
      </p:sp>
      <p:sp>
        <p:nvSpPr>
          <p:cNvPr id="22" name="Rounded Rectangle 21"/>
          <p:cNvSpPr/>
          <p:nvPr/>
        </p:nvSpPr>
        <p:spPr>
          <a:xfrm>
            <a:off x="8970035" y="2148840"/>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24899" y="2295144"/>
            <a:ext cx="45720" cy="882396"/>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34627" y="2258568"/>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Apply</a:t>
            </a:r>
          </a:p>
        </p:txBody>
      </p:sp>
      <p:sp>
        <p:nvSpPr>
          <p:cNvPr id="25" name="TextBox 24"/>
          <p:cNvSpPr txBox="1"/>
          <p:nvPr/>
        </p:nvSpPr>
        <p:spPr>
          <a:xfrm>
            <a:off x="9134627" y="2587752"/>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case and items</a:t>
            </a:r>
          </a:p>
        </p:txBody>
      </p:sp>
      <p:sp>
        <p:nvSpPr>
          <p:cNvPr id="26" name="Rounded Rectangle 25"/>
          <p:cNvSpPr/>
          <p:nvPr/>
        </p:nvSpPr>
        <p:spPr>
          <a:xfrm>
            <a:off x="594360" y="3488436"/>
            <a:ext cx="2627299" cy="1175004"/>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 y="3634740"/>
            <a:ext cx="45720" cy="882396"/>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3598164"/>
            <a:ext cx="2371267" cy="292608"/>
          </a:xfrm>
          <a:prstGeom prst="rect">
            <a:avLst/>
          </a:prstGeom>
          <a:noFill/>
        </p:spPr>
        <p:txBody>
          <a:bodyPr wrap="square" anchor="t" lIns="27432" rIns="27432" tIns="18288" bIns="18288">
            <a:spAutoFit/>
          </a:bodyPr>
          <a:lstStyle/>
          <a:p>
            <a:pPr algn="l"/>
            <a:r>
              <a:rPr sz="1400" b="1">
                <a:solidFill>
                  <a:srgbClr val="0F172A"/>
                </a:solidFill>
                <a:latin typeface="Aptos"/>
              </a:rPr>
              <a:t>Evaluate</a:t>
            </a:r>
          </a:p>
        </p:txBody>
      </p:sp>
      <p:sp>
        <p:nvSpPr>
          <p:cNvPr id="29" name="TextBox 28"/>
          <p:cNvSpPr txBox="1"/>
          <p:nvPr/>
        </p:nvSpPr>
        <p:spPr>
          <a:xfrm>
            <a:off x="758952" y="3927348"/>
            <a:ext cx="2371267" cy="644652"/>
          </a:xfrm>
          <a:prstGeom prst="rect">
            <a:avLst/>
          </a:prstGeom>
          <a:noFill/>
        </p:spPr>
        <p:txBody>
          <a:bodyPr wrap="square" anchor="t" lIns="27432" rIns="27432" tIns="18288" bIns="18288">
            <a:spAutoFit/>
          </a:bodyPr>
          <a:lstStyle/>
          <a:p>
            <a:pPr algn="l"/>
            <a:r>
              <a:rPr sz="900" b="0">
                <a:solidFill>
                  <a:srgbClr val="475569"/>
                </a:solidFill>
                <a:latin typeface="Aptos"/>
              </a:rPr>
              <a:t>retrieval; takeaway</a:t>
            </a:r>
          </a:p>
        </p:txBody>
      </p:sp>
      <p:sp>
        <p:nvSpPr>
          <p:cNvPr id="30" name="Rounded Rectangle 2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Every concept must answer: what do I teach, what do I assess, what must I escalate?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MAP</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Lesson map</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4</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S04  ·  instructor-added</a:t>
            </a:r>
          </a:p>
        </p:txBody>
      </p:sp>
      <p:cxnSp>
        <p:nvCxnSpPr>
          <p:cNvPr id="7" name="Connector 6"/>
          <p:cNvCxnSpPr/>
          <p:nvPr/>
        </p:nvCxnSpPr>
        <p:spPr>
          <a:xfrm>
            <a:off x="1143000" y="2148840"/>
            <a:ext cx="9601200" cy="0"/>
          </a:xfrm>
          <a:prstGeom prst="line">
            <a:avLst/>
          </a:prstGeom>
          <a:ln w="38100">
            <a:solidFill>
              <a:srgbClr val="D7DFEA"/>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3" y="1975104"/>
            <a:ext cx="347472" cy="347472"/>
          </a:xfrm>
          <a:prstGeom prst="round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1</a:t>
            </a:r>
          </a:p>
        </p:txBody>
      </p:sp>
      <p:sp>
        <p:nvSpPr>
          <p:cNvPr id="10" name="TextBox 9"/>
          <p:cNvSpPr txBox="1"/>
          <p:nvPr/>
        </p:nvSpPr>
        <p:spPr>
          <a:xfrm>
            <a:off x="91439"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Anticipate Exposure</a:t>
            </a:r>
          </a:p>
        </p:txBody>
      </p:sp>
      <p:sp>
        <p:nvSpPr>
          <p:cNvPr id="11" name="TextBox 10"/>
          <p:cNvSpPr txBox="1"/>
          <p:nvPr/>
        </p:nvSpPr>
        <p:spPr>
          <a:xfrm>
            <a:off x="45719"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Anticipate exposure</a:t>
            </a:r>
          </a:p>
        </p:txBody>
      </p:sp>
      <p:sp>
        <p:nvSpPr>
          <p:cNvPr id="12" name="Rounded Rectangle 11"/>
          <p:cNvSpPr/>
          <p:nvPr/>
        </p:nvSpPr>
        <p:spPr>
          <a:xfrm>
            <a:off x="3186684" y="1975104"/>
            <a:ext cx="347472" cy="347472"/>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5069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2</a:t>
            </a:r>
          </a:p>
        </p:txBody>
      </p:sp>
      <p:sp>
        <p:nvSpPr>
          <p:cNvPr id="14" name="TextBox 13"/>
          <p:cNvSpPr txBox="1"/>
          <p:nvPr/>
        </p:nvSpPr>
        <p:spPr>
          <a:xfrm>
            <a:off x="267462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Hand Hygiene</a:t>
            </a:r>
          </a:p>
        </p:txBody>
      </p:sp>
      <p:sp>
        <p:nvSpPr>
          <p:cNvPr id="15" name="TextBox 14"/>
          <p:cNvSpPr txBox="1"/>
          <p:nvPr/>
        </p:nvSpPr>
        <p:spPr>
          <a:xfrm>
            <a:off x="262890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Hand hygiene</a:t>
            </a:r>
          </a:p>
        </p:txBody>
      </p:sp>
      <p:sp>
        <p:nvSpPr>
          <p:cNvPr id="16" name="Rounded Rectangle 15"/>
          <p:cNvSpPr/>
          <p:nvPr/>
        </p:nvSpPr>
        <p:spPr>
          <a:xfrm>
            <a:off x="5769864" y="1975104"/>
            <a:ext cx="347472" cy="347472"/>
          </a:xfrm>
          <a:prstGeom prst="round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387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3</a:t>
            </a:r>
          </a:p>
        </p:txBody>
      </p:sp>
      <p:sp>
        <p:nvSpPr>
          <p:cNvPr id="18" name="TextBox 17"/>
          <p:cNvSpPr txBox="1"/>
          <p:nvPr/>
        </p:nvSpPr>
        <p:spPr>
          <a:xfrm>
            <a:off x="525780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Exposure Response</a:t>
            </a:r>
          </a:p>
        </p:txBody>
      </p:sp>
      <p:sp>
        <p:nvSpPr>
          <p:cNvPr id="19" name="TextBox 18"/>
          <p:cNvSpPr txBox="1"/>
          <p:nvPr/>
        </p:nvSpPr>
        <p:spPr>
          <a:xfrm>
            <a:off x="521208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Exposure response</a:t>
            </a:r>
          </a:p>
        </p:txBody>
      </p:sp>
      <p:sp>
        <p:nvSpPr>
          <p:cNvPr id="20" name="Rounded Rectangle 19"/>
          <p:cNvSpPr/>
          <p:nvPr/>
        </p:nvSpPr>
        <p:spPr>
          <a:xfrm>
            <a:off x="8353044" y="1975104"/>
            <a:ext cx="347472" cy="347472"/>
          </a:xfrm>
          <a:prstGeom prst="round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705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4</a:t>
            </a:r>
          </a:p>
        </p:txBody>
      </p:sp>
      <p:sp>
        <p:nvSpPr>
          <p:cNvPr id="22" name="TextBox 21"/>
          <p:cNvSpPr txBox="1"/>
          <p:nvPr/>
        </p:nvSpPr>
        <p:spPr>
          <a:xfrm>
            <a:off x="784098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Apply</a:t>
            </a:r>
          </a:p>
        </p:txBody>
      </p:sp>
      <p:sp>
        <p:nvSpPr>
          <p:cNvPr id="23" name="TextBox 22"/>
          <p:cNvSpPr txBox="1"/>
          <p:nvPr/>
        </p:nvSpPr>
        <p:spPr>
          <a:xfrm>
            <a:off x="779526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mini case → capstone</a:t>
            </a:r>
          </a:p>
        </p:txBody>
      </p:sp>
      <p:sp>
        <p:nvSpPr>
          <p:cNvPr id="24" name="Rounded Rectangle 23"/>
          <p:cNvSpPr/>
          <p:nvPr/>
        </p:nvSpPr>
        <p:spPr>
          <a:xfrm>
            <a:off x="10936224" y="1975104"/>
            <a:ext cx="347472" cy="347472"/>
          </a:xfrm>
          <a:prstGeom prst="round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000232" y="2057400"/>
            <a:ext cx="228600" cy="164592"/>
          </a:xfrm>
          <a:prstGeom prst="rect">
            <a:avLst/>
          </a:prstGeom>
          <a:noFill/>
        </p:spPr>
        <p:txBody>
          <a:bodyPr wrap="square" anchor="t" lIns="27432" rIns="27432" tIns="18288" bIns="18288">
            <a:spAutoFit/>
          </a:bodyPr>
          <a:lstStyle/>
          <a:p>
            <a:pPr algn="ctr"/>
            <a:r>
              <a:rPr sz="800" b="1">
                <a:solidFill>
                  <a:srgbClr val="FFFFFF"/>
                </a:solidFill>
                <a:latin typeface="Aptos"/>
              </a:rPr>
              <a:t>5</a:t>
            </a:r>
          </a:p>
        </p:txBody>
      </p:sp>
      <p:sp>
        <p:nvSpPr>
          <p:cNvPr id="26" name="TextBox 25"/>
          <p:cNvSpPr txBox="1"/>
          <p:nvPr/>
        </p:nvSpPr>
        <p:spPr>
          <a:xfrm>
            <a:off x="10424160" y="2532888"/>
            <a:ext cx="1371600" cy="256032"/>
          </a:xfrm>
          <a:prstGeom prst="rect">
            <a:avLst/>
          </a:prstGeom>
          <a:noFill/>
        </p:spPr>
        <p:txBody>
          <a:bodyPr wrap="square" anchor="t" lIns="27432" rIns="27432" tIns="18288" bIns="18288">
            <a:spAutoFit/>
          </a:bodyPr>
          <a:lstStyle/>
          <a:p>
            <a:pPr algn="ctr"/>
            <a:r>
              <a:rPr sz="1000" b="1">
                <a:solidFill>
                  <a:srgbClr val="0F172A"/>
                </a:solidFill>
                <a:latin typeface="Aptos"/>
              </a:rPr>
              <a:t>Evaluate</a:t>
            </a:r>
          </a:p>
        </p:txBody>
      </p:sp>
      <p:sp>
        <p:nvSpPr>
          <p:cNvPr id="27" name="TextBox 26"/>
          <p:cNvSpPr txBox="1"/>
          <p:nvPr/>
        </p:nvSpPr>
        <p:spPr>
          <a:xfrm>
            <a:off x="10378440" y="2834640"/>
            <a:ext cx="1463040" cy="411480"/>
          </a:xfrm>
          <a:prstGeom prst="rect">
            <a:avLst/>
          </a:prstGeom>
          <a:noFill/>
        </p:spPr>
        <p:txBody>
          <a:bodyPr wrap="square" anchor="t" lIns="27432" rIns="27432" tIns="18288" bIns="18288">
            <a:spAutoFit/>
          </a:bodyPr>
          <a:lstStyle/>
          <a:p>
            <a:pPr algn="ctr"/>
            <a:r>
              <a:rPr sz="660" b="0">
                <a:solidFill>
                  <a:srgbClr val="475569"/>
                </a:solidFill>
                <a:latin typeface="Aptos"/>
              </a:rPr>
              <a:t>exit check</a:t>
            </a:r>
          </a:p>
        </p:txBody>
      </p:sp>
      <p:sp>
        <p:nvSpPr>
          <p:cNvPr id="28" name="Rounded Rectangle 27"/>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Map first. Drill down only where the map or performance data shows a weak link.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ACTIVATE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Warm-up: put the three moves in order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S05  ·  instructor-added</a:t>
            </a:r>
          </a:p>
        </p:txBody>
      </p:sp>
      <p:sp>
        <p:nvSpPr>
          <p:cNvPr id="8" name="Rounded Rectangle 7"/>
          <p:cNvSpPr/>
          <p:nvPr/>
        </p:nvSpPr>
        <p:spPr>
          <a:xfrm>
            <a:off x="685800" y="1005840"/>
            <a:ext cx="10789920" cy="68580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9319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33888" cy="292608"/>
          </a:xfrm>
          <a:prstGeom prst="rect">
            <a:avLst/>
          </a:prstGeom>
          <a:noFill/>
        </p:spPr>
        <p:txBody>
          <a:bodyPr wrap="square" anchor="t" lIns="27432" rIns="27432" tIns="18288" bIns="18288">
            <a:spAutoFit/>
          </a:bodyPr>
          <a:lstStyle/>
          <a:p>
            <a:pPr algn="l"/>
            <a:r>
              <a:rPr sz="1300" b="1">
                <a:solidFill>
                  <a:srgbClr val="0F172A"/>
                </a:solidFill>
                <a:latin typeface="Aptos"/>
              </a:rPr>
              <a:t>learner task</a:t>
            </a:r>
          </a:p>
        </p:txBody>
      </p:sp>
      <p:sp>
        <p:nvSpPr>
          <p:cNvPr id="11" name="TextBox 10"/>
          <p:cNvSpPr txBox="1"/>
          <p:nvPr/>
        </p:nvSpPr>
        <p:spPr>
          <a:xfrm>
            <a:off x="850392" y="1444752"/>
            <a:ext cx="10533888" cy="155448"/>
          </a:xfrm>
          <a:prstGeom prst="rect">
            <a:avLst/>
          </a:prstGeom>
          <a:noFill/>
        </p:spPr>
        <p:txBody>
          <a:bodyPr wrap="square" anchor="t" lIns="27432" rIns="27432" tIns="18288" bIns="18288">
            <a:spAutoFit/>
          </a:bodyPr>
          <a:lstStyle/>
          <a:p>
            <a:pPr algn="l"/>
            <a:r>
              <a:rPr sz="1000" b="0">
                <a:solidFill>
                  <a:srgbClr val="475569"/>
                </a:solidFill>
                <a:latin typeface="Aptos"/>
              </a:rPr>
              <a:t>Order the three.</a:t>
            </a:r>
          </a:p>
        </p:txBody>
      </p:sp>
      <p:sp>
        <p:nvSpPr>
          <p:cNvPr id="12" name="Rounded Rectangle 11"/>
          <p:cNvSpPr/>
          <p:nvPr/>
        </p:nvSpPr>
        <p:spPr>
          <a:xfrm>
            <a:off x="960120" y="1965960"/>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463040" y="2039112"/>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Anticipate exposure</a:t>
            </a:r>
          </a:p>
        </p:txBody>
      </p:sp>
      <p:sp>
        <p:nvSpPr>
          <p:cNvPr id="15" name="Rounded Rectangle 14"/>
          <p:cNvSpPr/>
          <p:nvPr/>
        </p:nvSpPr>
        <p:spPr>
          <a:xfrm>
            <a:off x="960120" y="2532888"/>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587752"/>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463040" y="2596896"/>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Hand hygiene</a:t>
            </a:r>
          </a:p>
        </p:txBody>
      </p:sp>
      <p:sp>
        <p:nvSpPr>
          <p:cNvPr id="18" name="Rounded Rectangle 17"/>
          <p:cNvSpPr/>
          <p:nvPr/>
        </p:nvSpPr>
        <p:spPr>
          <a:xfrm>
            <a:off x="960120" y="3099815"/>
            <a:ext cx="10012680" cy="38404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236976"/>
            <a:ext cx="274320"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463040" y="3154680"/>
            <a:ext cx="9144000" cy="164592"/>
          </a:xfrm>
          <a:prstGeom prst="rect">
            <a:avLst/>
          </a:prstGeom>
          <a:noFill/>
        </p:spPr>
        <p:txBody>
          <a:bodyPr wrap="square" anchor="t" lIns="27432" rIns="27432" tIns="18288" bIns="18288">
            <a:spAutoFit/>
          </a:bodyPr>
          <a:lstStyle/>
          <a:p>
            <a:pPr algn="l"/>
            <a:r>
              <a:rPr sz="850" b="0">
                <a:solidFill>
                  <a:srgbClr val="475569"/>
                </a:solidFill>
                <a:latin typeface="Aptos"/>
              </a:rPr>
              <a:t>Exposure response</a:t>
            </a:r>
          </a:p>
        </p:txBody>
      </p:sp>
      <p:sp>
        <p:nvSpPr>
          <p:cNvPr id="21" name="Rounded Rectangle 20"/>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Use sequence misses to identify where the concept chain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ANTICIPATE EXPOSURE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Anticipate exposure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S06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Anticipate exposure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Standard precautions apply to every patient. Add gloves, gown, mask, and eye protection according to likely contact with blood, body fluids, mucous membranes, nonintact skin, or contaminated equipment.</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Apply standard precautions to every patient encounter.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HAND HYGIENE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Hand hygiene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7</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S07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Hand hygiene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Perform hand hygiene at indicated moments and after glove removal. Gloves do not replace hand hygiene.</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Select PPE from the anticipated exposure.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LANE: EXPOSURE RESPONSE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Exposure response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8</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S08  ·  source-aligned</a:t>
            </a:r>
          </a:p>
        </p:txBody>
      </p:sp>
      <p:sp>
        <p:nvSpPr>
          <p:cNvPr id="8" name="Rounded Rectangle 7"/>
          <p:cNvSpPr/>
          <p:nvPr/>
        </p:nvSpPr>
        <p:spPr>
          <a:xfrm>
            <a:off x="502920" y="1143000"/>
            <a:ext cx="11185855"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10929823" cy="292608"/>
          </a:xfrm>
          <a:prstGeom prst="rect">
            <a:avLst/>
          </a:prstGeom>
          <a:noFill/>
        </p:spPr>
        <p:txBody>
          <a:bodyPr wrap="square" anchor="t" lIns="27432" rIns="27432" tIns="18288" bIns="18288">
            <a:spAutoFit/>
          </a:bodyPr>
          <a:lstStyle/>
          <a:p>
            <a:pPr algn="l"/>
            <a:r>
              <a:rPr sz="1300" b="1">
                <a:solidFill>
                  <a:srgbClr val="0F172A"/>
                </a:solidFill>
                <a:latin typeface="Aptos"/>
              </a:rPr>
              <a:t>Exposure response</a:t>
            </a:r>
          </a:p>
        </p:txBody>
      </p:sp>
      <p:sp>
        <p:nvSpPr>
          <p:cNvPr id="11" name="TextBox 10"/>
          <p:cNvSpPr txBox="1"/>
          <p:nvPr/>
        </p:nvSpPr>
        <p:spPr>
          <a:xfrm>
            <a:off x="667512" y="1581912"/>
            <a:ext cx="10929823" cy="704088"/>
          </a:xfrm>
          <a:prstGeom prst="rect">
            <a:avLst/>
          </a:prstGeom>
          <a:noFill/>
        </p:spPr>
        <p:txBody>
          <a:bodyPr wrap="square" anchor="t" lIns="27432" rIns="27432" tIns="18288" bIns="18288">
            <a:spAutoFit/>
          </a:bodyPr>
          <a:lstStyle/>
          <a:p>
            <a:pPr algn="l"/>
            <a:r>
              <a:rPr sz="900" b="0">
                <a:solidFill>
                  <a:srgbClr val="475569"/>
                </a:solidFill>
                <a:latin typeface="Aptos"/>
              </a:rPr>
              <a:t>Immediately wash or flush the exposed area, report the event, and follow the organization's exposure evaluation process.</a:t>
            </a:r>
          </a:p>
        </p:txBody>
      </p:sp>
      <p:sp>
        <p:nvSpPr>
          <p:cNvPr id="12" name="Rounded Rectangle 11"/>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Respond safely to a sharps or body-fluid exposure.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Activity: match the cue to the move it calls for</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9</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recognize cues,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S09  ·  source-aligned</a:t>
            </a:r>
          </a:p>
        </p:txBody>
      </p:sp>
      <p:sp>
        <p:nvSpPr>
          <p:cNvPr id="8" name="TextBox 7"/>
          <p:cNvSpPr txBox="1"/>
          <p:nvPr/>
        </p:nvSpPr>
        <p:spPr>
          <a:xfrm>
            <a:off x="731520" y="1005840"/>
            <a:ext cx="10698480" cy="256032"/>
          </a:xfrm>
          <a:prstGeom prst="rect">
            <a:avLst/>
          </a:prstGeom>
          <a:noFill/>
        </p:spPr>
        <p:txBody>
          <a:bodyPr wrap="square" anchor="t" lIns="27432" rIns="27432" tIns="18288" bIns="18288">
            <a:spAutoFit/>
          </a:bodyPr>
          <a:lstStyle/>
          <a:p>
            <a:pPr algn="l"/>
            <a:r>
              <a:rPr sz="950" b="1">
                <a:solidFill>
                  <a:srgbClr val="0F172A"/>
                </a:solidFill>
                <a:latin typeface="Aptos"/>
              </a:rPr>
              <a:t>Work with one partner: match each source to the cue or clinical meaning most directly involved.</a:t>
            </a:r>
          </a:p>
        </p:txBody>
      </p:sp>
      <p:sp>
        <p:nvSpPr>
          <p:cNvPr id="9" name="Rounded Rectangle 8"/>
          <p:cNvSpPr/>
          <p:nvPr/>
        </p:nvSpPr>
        <p:spPr>
          <a:xfrm>
            <a:off x="777240" y="1508760"/>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32103" y="1655063"/>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1618488"/>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A</a:t>
            </a:r>
          </a:p>
        </p:txBody>
      </p:sp>
      <p:sp>
        <p:nvSpPr>
          <p:cNvPr id="12" name="TextBox 11"/>
          <p:cNvSpPr txBox="1"/>
          <p:nvPr/>
        </p:nvSpPr>
        <p:spPr>
          <a:xfrm>
            <a:off x="941832" y="1947672"/>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A. A procedure may splash body fluid toward the face.</a:t>
            </a:r>
          </a:p>
        </p:txBody>
      </p:sp>
      <p:sp>
        <p:nvSpPr>
          <p:cNvPr id="13" name="Rounded Rectangle 12"/>
          <p:cNvSpPr/>
          <p:nvPr/>
        </p:nvSpPr>
        <p:spPr>
          <a:xfrm>
            <a:off x="6537960" y="1508760"/>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92824" y="1655063"/>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02552" y="1618488"/>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1</a:t>
            </a:r>
          </a:p>
        </p:txBody>
      </p:sp>
      <p:sp>
        <p:nvSpPr>
          <p:cNvPr id="16" name="TextBox 15"/>
          <p:cNvSpPr txBox="1"/>
          <p:nvPr/>
        </p:nvSpPr>
        <p:spPr>
          <a:xfrm>
            <a:off x="6702552" y="1947672"/>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1. Anticipate exposure</a:t>
            </a:r>
          </a:p>
        </p:txBody>
      </p:sp>
      <p:sp>
        <p:nvSpPr>
          <p:cNvPr id="17" name="Rounded Rectangle 16"/>
          <p:cNvSpPr/>
          <p:nvPr/>
        </p:nvSpPr>
        <p:spPr>
          <a:xfrm>
            <a:off x="777240" y="2203704"/>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3" y="2350008"/>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2313432"/>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B</a:t>
            </a:r>
          </a:p>
        </p:txBody>
      </p:sp>
      <p:sp>
        <p:nvSpPr>
          <p:cNvPr id="20" name="TextBox 19"/>
          <p:cNvSpPr txBox="1"/>
          <p:nvPr/>
        </p:nvSpPr>
        <p:spPr>
          <a:xfrm>
            <a:off x="941832" y="2642616"/>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B. Gloves are removed after contact with contaminated material.</a:t>
            </a:r>
          </a:p>
        </p:txBody>
      </p:sp>
      <p:sp>
        <p:nvSpPr>
          <p:cNvPr id="21" name="Rounded Rectangle 20"/>
          <p:cNvSpPr/>
          <p:nvPr/>
        </p:nvSpPr>
        <p:spPr>
          <a:xfrm>
            <a:off x="6537960" y="2203704"/>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92824" y="2350008"/>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02552" y="2313432"/>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2</a:t>
            </a:r>
          </a:p>
        </p:txBody>
      </p:sp>
      <p:sp>
        <p:nvSpPr>
          <p:cNvPr id="24" name="TextBox 23"/>
          <p:cNvSpPr txBox="1"/>
          <p:nvPr/>
        </p:nvSpPr>
        <p:spPr>
          <a:xfrm>
            <a:off x="6702552" y="2642616"/>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2. Hand hygiene</a:t>
            </a:r>
          </a:p>
        </p:txBody>
      </p:sp>
      <p:sp>
        <p:nvSpPr>
          <p:cNvPr id="25" name="Rounded Rectangle 24"/>
          <p:cNvSpPr/>
          <p:nvPr/>
        </p:nvSpPr>
        <p:spPr>
          <a:xfrm>
            <a:off x="777240" y="2898648"/>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3" y="3044952"/>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008376"/>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C</a:t>
            </a:r>
          </a:p>
        </p:txBody>
      </p:sp>
      <p:sp>
        <p:nvSpPr>
          <p:cNvPr id="28" name="TextBox 27"/>
          <p:cNvSpPr txBox="1"/>
          <p:nvPr/>
        </p:nvSpPr>
        <p:spPr>
          <a:xfrm>
            <a:off x="941832" y="3337560"/>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C. A nurse sustains a needlestick injury.</a:t>
            </a:r>
          </a:p>
        </p:txBody>
      </p:sp>
      <p:sp>
        <p:nvSpPr>
          <p:cNvPr id="29" name="Rounded Rectangle 28"/>
          <p:cNvSpPr/>
          <p:nvPr/>
        </p:nvSpPr>
        <p:spPr>
          <a:xfrm>
            <a:off x="6537960" y="2898648"/>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92824" y="3044952"/>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02552" y="3008376"/>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3</a:t>
            </a:r>
          </a:p>
        </p:txBody>
      </p:sp>
      <p:sp>
        <p:nvSpPr>
          <p:cNvPr id="32" name="TextBox 31"/>
          <p:cNvSpPr txBox="1"/>
          <p:nvPr/>
        </p:nvSpPr>
        <p:spPr>
          <a:xfrm>
            <a:off x="6702552" y="3337560"/>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3. Exposure response</a:t>
            </a:r>
          </a:p>
        </p:txBody>
      </p:sp>
      <p:sp>
        <p:nvSpPr>
          <p:cNvPr id="33" name="Rounded Rectangle 32"/>
          <p:cNvSpPr/>
          <p:nvPr/>
        </p:nvSpPr>
        <p:spPr>
          <a:xfrm>
            <a:off x="777240" y="3593592"/>
            <a:ext cx="480060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32103" y="3739896"/>
            <a:ext cx="45720" cy="237743"/>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 y="3703320"/>
            <a:ext cx="4544568" cy="292608"/>
          </a:xfrm>
          <a:prstGeom prst="rect">
            <a:avLst/>
          </a:prstGeom>
          <a:noFill/>
        </p:spPr>
        <p:txBody>
          <a:bodyPr wrap="square" anchor="t" lIns="27432" rIns="27432" tIns="18288" bIns="18288">
            <a:spAutoFit/>
          </a:bodyPr>
          <a:lstStyle/>
          <a:p>
            <a:pPr algn="l"/>
            <a:r>
              <a:rPr sz="1050" b="1">
                <a:solidFill>
                  <a:srgbClr val="0F172A"/>
                </a:solidFill>
                <a:latin typeface="Aptos"/>
              </a:rPr>
              <a:t>D</a:t>
            </a:r>
          </a:p>
        </p:txBody>
      </p:sp>
      <p:sp>
        <p:nvSpPr>
          <p:cNvPr id="36" name="TextBox 35"/>
          <p:cNvSpPr txBox="1"/>
          <p:nvPr/>
        </p:nvSpPr>
        <p:spPr>
          <a:xfrm>
            <a:off x="941832" y="4032504"/>
            <a:ext cx="4544568" cy="0"/>
          </a:xfrm>
          <a:prstGeom prst="rect">
            <a:avLst/>
          </a:prstGeom>
          <a:noFill/>
        </p:spPr>
        <p:txBody>
          <a:bodyPr wrap="square" anchor="t" lIns="27432" rIns="27432" tIns="18288" bIns="18288">
            <a:spAutoFit/>
          </a:bodyPr>
          <a:lstStyle/>
          <a:p>
            <a:pPr algn="l"/>
            <a:r>
              <a:rPr sz="750" b="0">
                <a:solidFill>
                  <a:srgbClr val="475569"/>
                </a:solidFill>
                <a:latin typeface="Aptos"/>
              </a:rPr>
              <a:t>D. Clean supplies are placed near used wound-care materials.</a:t>
            </a:r>
          </a:p>
        </p:txBody>
      </p:sp>
      <p:sp>
        <p:nvSpPr>
          <p:cNvPr id="37" name="Rounded Rectangle 36"/>
          <p:cNvSpPr/>
          <p:nvPr/>
        </p:nvSpPr>
        <p:spPr>
          <a:xfrm>
            <a:off x="6537960" y="3593592"/>
            <a:ext cx="4526280" cy="53035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92824" y="3739896"/>
            <a:ext cx="45720" cy="237743"/>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02552" y="3703320"/>
            <a:ext cx="4270248" cy="292608"/>
          </a:xfrm>
          <a:prstGeom prst="rect">
            <a:avLst/>
          </a:prstGeom>
          <a:noFill/>
        </p:spPr>
        <p:txBody>
          <a:bodyPr wrap="square" anchor="t" lIns="27432" rIns="27432" tIns="18288" bIns="18288">
            <a:spAutoFit/>
          </a:bodyPr>
          <a:lstStyle/>
          <a:p>
            <a:pPr algn="l"/>
            <a:r>
              <a:rPr sz="1050" b="1">
                <a:solidFill>
                  <a:srgbClr val="0F172A"/>
                </a:solidFill>
                <a:latin typeface="Aptos"/>
              </a:rPr>
              <a:t>4</a:t>
            </a:r>
          </a:p>
        </p:txBody>
      </p:sp>
      <p:sp>
        <p:nvSpPr>
          <p:cNvPr id="40" name="TextBox 39"/>
          <p:cNvSpPr txBox="1"/>
          <p:nvPr/>
        </p:nvSpPr>
        <p:spPr>
          <a:xfrm>
            <a:off x="6702552" y="4032504"/>
            <a:ext cx="4270248" cy="0"/>
          </a:xfrm>
          <a:prstGeom prst="rect">
            <a:avLst/>
          </a:prstGeom>
          <a:noFill/>
        </p:spPr>
        <p:txBody>
          <a:bodyPr wrap="square" anchor="t" lIns="27432" rIns="27432" tIns="18288" bIns="18288">
            <a:spAutoFit/>
          </a:bodyPr>
          <a:lstStyle/>
          <a:p>
            <a:pPr algn="l"/>
            <a:r>
              <a:rPr sz="750" b="0">
                <a:solidFill>
                  <a:srgbClr val="475569"/>
                </a:solidFill>
                <a:latin typeface="Aptos"/>
              </a:rPr>
              <a:t>4. Evaluate the result</a:t>
            </a:r>
          </a:p>
        </p:txBody>
      </p:sp>
      <p:sp>
        <p:nvSpPr>
          <p:cNvPr id="41" name="Rounded Rectangle 40"/>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Output: write matches and one sentence explaining one match.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Debrief: the reasoning behind each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10</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S10  ·  source-aligned</a:t>
            </a:r>
          </a:p>
        </p:txBody>
      </p:sp>
      <p:sp>
        <p:nvSpPr>
          <p:cNvPr id="8" name="Rounded Rectangle 7"/>
          <p:cNvSpPr/>
          <p:nvPr/>
        </p:nvSpPr>
        <p:spPr>
          <a:xfrm>
            <a:off x="502920"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435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Use gloves plus facial and eye protection appropriate to t</a:t>
            </a:r>
          </a:p>
        </p:txBody>
      </p:sp>
      <p:sp>
        <p:nvSpPr>
          <p:cNvPr id="11" name="TextBox 10"/>
          <p:cNvSpPr txBox="1"/>
          <p:nvPr/>
        </p:nvSpPr>
        <p:spPr>
          <a:xfrm>
            <a:off x="667512"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PPE selection is based on the anticipated route and extent of exposure.</a:t>
            </a:r>
          </a:p>
        </p:txBody>
      </p:sp>
      <p:sp>
        <p:nvSpPr>
          <p:cNvPr id="12" name="Rounded Rectangle 11"/>
          <p:cNvSpPr/>
          <p:nvPr/>
        </p:nvSpPr>
        <p:spPr>
          <a:xfrm>
            <a:off x="6178143" y="109728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435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07007"/>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Perform hand hygiene immediately after glove removal.</a:t>
            </a:r>
          </a:p>
        </p:txBody>
      </p:sp>
      <p:sp>
        <p:nvSpPr>
          <p:cNvPr id="15" name="TextBox 14"/>
          <p:cNvSpPr txBox="1"/>
          <p:nvPr/>
        </p:nvSpPr>
        <p:spPr>
          <a:xfrm>
            <a:off x="6342735" y="1536192"/>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Gloves can have defects and hands can be contaminated during removal.</a:t>
            </a:r>
          </a:p>
        </p:txBody>
      </p:sp>
      <p:sp>
        <p:nvSpPr>
          <p:cNvPr id="16" name="Rounded Rectangle 15"/>
          <p:cNvSpPr/>
          <p:nvPr/>
        </p:nvSpPr>
        <p:spPr>
          <a:xfrm>
            <a:off x="502920"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7784" y="2642616"/>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Wash the area, report promptly, and begin the exposure pro</a:t>
            </a:r>
          </a:p>
        </p:txBody>
      </p:sp>
      <p:sp>
        <p:nvSpPr>
          <p:cNvPr id="19" name="TextBox 18"/>
          <p:cNvSpPr txBox="1"/>
          <p:nvPr/>
        </p:nvSpPr>
        <p:spPr>
          <a:xfrm>
            <a:off x="667512"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Immediate cleansing and timely evaluation reduce preventable harm and enable indicated prophylaxis.</a:t>
            </a:r>
          </a:p>
        </p:txBody>
      </p:sp>
      <p:sp>
        <p:nvSpPr>
          <p:cNvPr id="20" name="Rounded Rectangle 19"/>
          <p:cNvSpPr/>
          <p:nvPr/>
        </p:nvSpPr>
        <p:spPr>
          <a:xfrm>
            <a:off x="6178143" y="2496312"/>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3007" y="264261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2735" y="2606040"/>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Separate clean and contaminated fields before continuing c</a:t>
            </a:r>
          </a:p>
        </p:txBody>
      </p:sp>
      <p:sp>
        <p:nvSpPr>
          <p:cNvPr id="23" name="TextBox 22"/>
          <p:cNvSpPr txBox="1"/>
          <p:nvPr/>
        </p:nvSpPr>
        <p:spPr>
          <a:xfrm>
            <a:off x="6342735" y="2935224"/>
            <a:ext cx="5254599" cy="704088"/>
          </a:xfrm>
          <a:prstGeom prst="rect">
            <a:avLst/>
          </a:prstGeom>
          <a:noFill/>
        </p:spPr>
        <p:txBody>
          <a:bodyPr wrap="square" anchor="t" lIns="27432" rIns="27432" tIns="18288" bIns="18288">
            <a:spAutoFit/>
          </a:bodyPr>
          <a:lstStyle/>
          <a:p>
            <a:pPr algn="l"/>
            <a:r>
              <a:rPr sz="819" b="0">
                <a:solidFill>
                  <a:srgbClr val="475569"/>
                </a:solidFill>
                <a:latin typeface="Aptos"/>
              </a:rPr>
              <a:t>Maintaining separation limits indirect transmission.</a:t>
            </a:r>
          </a:p>
        </p:txBody>
      </p:sp>
      <p:sp>
        <p:nvSpPr>
          <p:cNvPr id="24" name="Rounded Rectangle 23"/>
          <p:cNvSpPr/>
          <p:nvPr/>
        </p:nvSpPr>
        <p:spPr>
          <a:xfrm>
            <a:off x="1188720" y="5989320"/>
            <a:ext cx="9784080" cy="41148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EA580C"/>
                </a:solidFill>
                <a:latin typeface="Aptos"/>
              </a:rPr>
              <a:t>Explain why each keyed action follows from its cue.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PRACTICE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Checkpoint</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11</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analyze cues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S11  ·  source-aligned</a:t>
            </a:r>
          </a:p>
        </p:txBody>
      </p:sp>
      <p:sp>
        <p:nvSpPr>
          <p:cNvPr id="8" name="Rounded Rectangle 7"/>
          <p:cNvSpPr/>
          <p:nvPr/>
        </p:nvSpPr>
        <p:spPr>
          <a:xfrm>
            <a:off x="777240" y="1097280"/>
            <a:ext cx="10698480" cy="868680"/>
          </a:xfrm>
          <a:prstGeom prst="roundRect">
            <a:avLst/>
          </a:prstGeom>
          <a:solidFill>
            <a:srgbClr val="F5F3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32103" y="1243584"/>
            <a:ext cx="45720" cy="576071"/>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207007"/>
            <a:ext cx="10442448" cy="292608"/>
          </a:xfrm>
          <a:prstGeom prst="rect">
            <a:avLst/>
          </a:prstGeom>
          <a:noFill/>
        </p:spPr>
        <p:txBody>
          <a:bodyPr wrap="square" anchor="t" lIns="27432" rIns="27432" tIns="18288" bIns="18288">
            <a:spAutoFit/>
          </a:bodyPr>
          <a:lstStyle/>
          <a:p>
            <a:pPr algn="l"/>
            <a:r>
              <a:rPr sz="1300" b="1">
                <a:solidFill>
                  <a:srgbClr val="0F172A"/>
                </a:solidFill>
                <a:latin typeface="Aptos"/>
              </a:rPr>
              <a:t>checkpoint question</a:t>
            </a:r>
          </a:p>
        </p:txBody>
      </p:sp>
      <p:sp>
        <p:nvSpPr>
          <p:cNvPr id="11" name="TextBox 10"/>
          <p:cNvSpPr txBox="1"/>
          <p:nvPr/>
        </p:nvSpPr>
        <p:spPr>
          <a:xfrm>
            <a:off x="941832" y="1536192"/>
            <a:ext cx="10442448" cy="338328"/>
          </a:xfrm>
          <a:prstGeom prst="rect">
            <a:avLst/>
          </a:prstGeom>
          <a:noFill/>
        </p:spPr>
        <p:txBody>
          <a:bodyPr wrap="square" anchor="t" lIns="27432" rIns="27432" tIns="18288" bIns="18288">
            <a:spAutoFit/>
          </a:bodyPr>
          <a:lstStyle/>
          <a:p>
            <a:pPr algn="l"/>
            <a:r>
              <a:rPr sz="1000" b="0">
                <a:solidFill>
                  <a:srgbClr val="475569"/>
                </a:solidFill>
                <a:latin typeface="Aptos"/>
              </a:rPr>
              <a:t>Gloves are removed after contact with contaminated material. What should the nurse do?</a:t>
            </a:r>
          </a:p>
        </p:txBody>
      </p:sp>
      <p:sp>
        <p:nvSpPr>
          <p:cNvPr id="12" name="Rounded Rectangle 11"/>
          <p:cNvSpPr/>
          <p:nvPr/>
        </p:nvSpPr>
        <p:spPr>
          <a:xfrm>
            <a:off x="1005840" y="2240280"/>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3000" y="2359152"/>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A</a:t>
            </a:r>
          </a:p>
        </p:txBody>
      </p:sp>
      <p:sp>
        <p:nvSpPr>
          <p:cNvPr id="14" name="TextBox 13"/>
          <p:cNvSpPr txBox="1"/>
          <p:nvPr/>
        </p:nvSpPr>
        <p:spPr>
          <a:xfrm>
            <a:off x="1554480" y="2340864"/>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A. Delay action until the end of the shift.</a:t>
            </a:r>
          </a:p>
        </p:txBody>
      </p:sp>
      <p:sp>
        <p:nvSpPr>
          <p:cNvPr id="15" name="Rounded Rectangle 14"/>
          <p:cNvSpPr/>
          <p:nvPr/>
        </p:nvSpPr>
        <p:spPr>
          <a:xfrm>
            <a:off x="1005840" y="2807208"/>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3000" y="2926080"/>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B</a:t>
            </a:r>
          </a:p>
        </p:txBody>
      </p:sp>
      <p:sp>
        <p:nvSpPr>
          <p:cNvPr id="17" name="TextBox 16"/>
          <p:cNvSpPr txBox="1"/>
          <p:nvPr/>
        </p:nvSpPr>
        <p:spPr>
          <a:xfrm>
            <a:off x="1554480" y="2907792"/>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B. Document the finding without reassessment or follow-up.</a:t>
            </a:r>
          </a:p>
        </p:txBody>
      </p:sp>
      <p:sp>
        <p:nvSpPr>
          <p:cNvPr id="18" name="Rounded Rectangle 17"/>
          <p:cNvSpPr/>
          <p:nvPr/>
        </p:nvSpPr>
        <p:spPr>
          <a:xfrm>
            <a:off x="1005840" y="3374136"/>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493008"/>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C</a:t>
            </a:r>
          </a:p>
        </p:txBody>
      </p:sp>
      <p:sp>
        <p:nvSpPr>
          <p:cNvPr id="20" name="TextBox 19"/>
          <p:cNvSpPr txBox="1"/>
          <p:nvPr/>
        </p:nvSpPr>
        <p:spPr>
          <a:xfrm>
            <a:off x="1554480" y="3474720"/>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C. Perform hand hygiene immediately after glove removal.</a:t>
            </a:r>
          </a:p>
        </p:txBody>
      </p:sp>
      <p:sp>
        <p:nvSpPr>
          <p:cNvPr id="21" name="Rounded Rectangle 20"/>
          <p:cNvSpPr/>
          <p:nvPr/>
        </p:nvSpPr>
        <p:spPr>
          <a:xfrm>
            <a:off x="1005840" y="3941064"/>
            <a:ext cx="10012680" cy="402336"/>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3000" y="4059936"/>
            <a:ext cx="256032" cy="146304"/>
          </a:xfrm>
          <a:prstGeom prst="rect">
            <a:avLst/>
          </a:prstGeom>
          <a:noFill/>
        </p:spPr>
        <p:txBody>
          <a:bodyPr wrap="square" anchor="t" lIns="27432" rIns="27432" tIns="18288" bIns="18288">
            <a:spAutoFit/>
          </a:bodyPr>
          <a:lstStyle/>
          <a:p>
            <a:pPr algn="l"/>
            <a:r>
              <a:rPr sz="800" b="1">
                <a:solidFill>
                  <a:srgbClr val="7C3AED"/>
                </a:solidFill>
                <a:latin typeface="Aptos"/>
              </a:rPr>
              <a:t>D</a:t>
            </a:r>
          </a:p>
        </p:txBody>
      </p:sp>
      <p:sp>
        <p:nvSpPr>
          <p:cNvPr id="23" name="TextBox 22"/>
          <p:cNvSpPr txBox="1"/>
          <p:nvPr/>
        </p:nvSpPr>
        <p:spPr>
          <a:xfrm>
            <a:off x="1554480" y="4041648"/>
            <a:ext cx="9052560" cy="164592"/>
          </a:xfrm>
          <a:prstGeom prst="rect">
            <a:avLst/>
          </a:prstGeom>
          <a:noFill/>
        </p:spPr>
        <p:txBody>
          <a:bodyPr wrap="square" anchor="t" lIns="27432" rIns="27432" tIns="18288" bIns="18288">
            <a:spAutoFit/>
          </a:bodyPr>
          <a:lstStyle/>
          <a:p>
            <a:pPr algn="l"/>
            <a:r>
              <a:rPr sz="850" b="0">
                <a:solidFill>
                  <a:srgbClr val="475569"/>
                </a:solidFill>
                <a:latin typeface="Aptos"/>
              </a:rPr>
              <a:t>D. Delegate the clinical judgment decision to unlicensed assistive personnel.</a:t>
            </a:r>
          </a:p>
        </p:txBody>
      </p:sp>
      <p:sp>
        <p:nvSpPr>
          <p:cNvPr id="24" name="Rounded Rectangle 23"/>
          <p:cNvSpPr/>
          <p:nvPr/>
        </p:nvSpPr>
        <p:spPr>
          <a:xfrm>
            <a:off x="1188720" y="5989320"/>
            <a:ext cx="9784080" cy="411480"/>
          </a:xfrm>
          <a:prstGeom prst="roundRect">
            <a:avLst/>
          </a:prstGeom>
          <a:solidFill>
            <a:srgbClr val="F5F3FF"/>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7C3AED"/>
                </a:solidFill>
                <a:latin typeface="Aptos"/>
              </a:rPr>
              <a:t>Choose the best response.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Mini case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12</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 take action</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S12  ·  source-aligned</a:t>
            </a:r>
          </a:p>
        </p:txBody>
      </p:sp>
      <p:sp>
        <p:nvSpPr>
          <p:cNvPr id="8" name="Rounded Rectangle 7"/>
          <p:cNvSpPr/>
          <p:nvPr/>
        </p:nvSpPr>
        <p:spPr>
          <a:xfrm>
            <a:off x="731520" y="1051560"/>
            <a:ext cx="10744200" cy="713232"/>
          </a:xfrm>
          <a:prstGeom prst="roundRect">
            <a:avLst/>
          </a:prstGeom>
          <a:solidFill>
            <a:srgbClr val="FFF7ED"/>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 y="1197863"/>
            <a:ext cx="45720" cy="420624"/>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161288"/>
            <a:ext cx="10488168" cy="292608"/>
          </a:xfrm>
          <a:prstGeom prst="rect">
            <a:avLst/>
          </a:prstGeom>
          <a:noFill/>
        </p:spPr>
        <p:txBody>
          <a:bodyPr wrap="square" anchor="t" lIns="27432" rIns="27432" tIns="18288" bIns="18288">
            <a:spAutoFit/>
          </a:bodyPr>
          <a:lstStyle/>
          <a:p>
            <a:pPr algn="l"/>
            <a:r>
              <a:rPr sz="1200" b="1">
                <a:solidFill>
                  <a:srgbClr val="0F172A"/>
                </a:solidFill>
                <a:latin typeface="Aptos"/>
              </a:rPr>
              <a:t>mini case</a:t>
            </a:r>
          </a:p>
        </p:txBody>
      </p:sp>
      <p:sp>
        <p:nvSpPr>
          <p:cNvPr id="11" name="TextBox 10"/>
          <p:cNvSpPr txBox="1"/>
          <p:nvPr/>
        </p:nvSpPr>
        <p:spPr>
          <a:xfrm>
            <a:off x="896112" y="1490472"/>
            <a:ext cx="10488168" cy="182880"/>
          </a:xfrm>
          <a:prstGeom prst="rect">
            <a:avLst/>
          </a:prstGeom>
          <a:noFill/>
        </p:spPr>
        <p:txBody>
          <a:bodyPr wrap="square" anchor="t" lIns="27432" rIns="27432" tIns="18288" bIns="18288">
            <a:spAutoFit/>
          </a:bodyPr>
          <a:lstStyle/>
          <a:p>
            <a:pPr algn="l"/>
            <a:r>
              <a:rPr sz="900" b="0">
                <a:solidFill>
                  <a:srgbClr val="475569"/>
                </a:solidFill>
                <a:latin typeface="Aptos"/>
              </a:rPr>
              <a:t>A nurse sustains a needlestick injury.</a:t>
            </a:r>
          </a:p>
        </p:txBody>
      </p:sp>
      <p:sp>
        <p:nvSpPr>
          <p:cNvPr id="12" name="Rounded Rectangle 11"/>
          <p:cNvSpPr/>
          <p:nvPr/>
        </p:nvSpPr>
        <p:spPr>
          <a:xfrm>
            <a:off x="502920"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57784" y="22037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cues</a:t>
            </a:r>
          </a:p>
        </p:txBody>
      </p:sp>
      <p:sp>
        <p:nvSpPr>
          <p:cNvPr id="15" name="TextBox 14"/>
          <p:cNvSpPr txBox="1"/>
          <p:nvPr/>
        </p:nvSpPr>
        <p:spPr>
          <a:xfrm>
            <a:off x="667512"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Keyed action: Wash the area, report promptly, and begin the exposure protocol.
- Because: Immediate cleansing and timely evaluation reduce preventable harm and enable indicated prophylaxis.</a:t>
            </a:r>
          </a:p>
        </p:txBody>
      </p:sp>
      <p:sp>
        <p:nvSpPr>
          <p:cNvPr id="16" name="Rounded Rectangle 15"/>
          <p:cNvSpPr/>
          <p:nvPr/>
        </p:nvSpPr>
        <p:spPr>
          <a:xfrm>
            <a:off x="6178143" y="20574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3007" y="22037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2735" y="21671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your task</a:t>
            </a:r>
          </a:p>
        </p:txBody>
      </p:sp>
      <p:sp>
        <p:nvSpPr>
          <p:cNvPr id="19" name="TextBox 18"/>
          <p:cNvSpPr txBox="1"/>
          <p:nvPr/>
        </p:nvSpPr>
        <p:spPr>
          <a:xfrm>
            <a:off x="6342735" y="24963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Write one assessment sentence and one action sentence.</a:t>
            </a:r>
          </a:p>
        </p:txBody>
      </p:sp>
      <p:sp>
        <p:nvSpPr>
          <p:cNvPr id="20" name="Rounded Rectangle 19"/>
          <p:cNvSpPr/>
          <p:nvPr/>
        </p:nvSpPr>
        <p:spPr>
          <a:xfrm>
            <a:off x="1188720" y="5989320"/>
            <a:ext cx="9784080" cy="411480"/>
          </a:xfrm>
          <a:prstGeom prst="roundRect">
            <a:avLst/>
          </a:prstGeom>
          <a:solidFill>
            <a:srgbClr val="ECFDF5"/>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0F766E"/>
                </a:solidFill>
                <a:latin typeface="Aptos"/>
              </a:rPr>
              <a:t>Two sentences: what you assess, then what you 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SIGNAL</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Sort by urgency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13</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prioritize hypotheses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S13  ·  source-aligned</a:t>
            </a:r>
          </a:p>
        </p:txBody>
      </p:sp>
      <p:sp>
        <p:nvSpPr>
          <p:cNvPr id="8" name="Rounded Rectangle 7"/>
          <p:cNvSpPr/>
          <p:nvPr/>
        </p:nvSpPr>
        <p:spPr>
          <a:xfrm>
            <a:off x="502920"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now</a:t>
            </a:r>
          </a:p>
        </p:txBody>
      </p:sp>
      <p:sp>
        <p:nvSpPr>
          <p:cNvPr id="11" name="TextBox 10"/>
          <p:cNvSpPr txBox="1"/>
          <p:nvPr/>
        </p:nvSpPr>
        <p:spPr>
          <a:xfrm>
            <a:off x="667512"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A procedure may splash body fluid toward the face.
- Gloves are removed after contact with contaminated material.
- A nurse sustains a needlestick injury.</a:t>
            </a:r>
          </a:p>
        </p:txBody>
      </p:sp>
      <p:sp>
        <p:nvSpPr>
          <p:cNvPr id="12" name="Rounded Rectangle 11"/>
          <p:cNvSpPr/>
          <p:nvPr/>
        </p:nvSpPr>
        <p:spPr>
          <a:xfrm>
            <a:off x="6178143" y="1143000"/>
            <a:ext cx="5510631"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3007"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2735" y="1252728"/>
            <a:ext cx="5254599" cy="292608"/>
          </a:xfrm>
          <a:prstGeom prst="rect">
            <a:avLst/>
          </a:prstGeom>
          <a:noFill/>
        </p:spPr>
        <p:txBody>
          <a:bodyPr wrap="square" anchor="t" lIns="27432" rIns="27432" tIns="18288" bIns="18288">
            <a:spAutoFit/>
          </a:bodyPr>
          <a:lstStyle/>
          <a:p>
            <a:pPr algn="l"/>
            <a:r>
              <a:rPr sz="1200" b="1">
                <a:solidFill>
                  <a:srgbClr val="0F172A"/>
                </a:solidFill>
                <a:latin typeface="Aptos"/>
              </a:rPr>
              <a:t>Act in sequence</a:t>
            </a:r>
          </a:p>
        </p:txBody>
      </p:sp>
      <p:sp>
        <p:nvSpPr>
          <p:cNvPr id="15" name="TextBox 14"/>
          <p:cNvSpPr txBox="1"/>
          <p:nvPr/>
        </p:nvSpPr>
        <p:spPr>
          <a:xfrm>
            <a:off x="6342735" y="1581912"/>
            <a:ext cx="5254599" cy="704088"/>
          </a:xfrm>
          <a:prstGeom prst="rect">
            <a:avLst/>
          </a:prstGeom>
          <a:noFill/>
        </p:spPr>
        <p:txBody>
          <a:bodyPr wrap="square" anchor="t" lIns="27432" rIns="27432" tIns="18288" bIns="18288">
            <a:spAutoFit/>
          </a:bodyPr>
          <a:lstStyle/>
          <a:p>
            <a:pPr algn="l"/>
            <a:r>
              <a:rPr sz="800" b="0">
                <a:solidFill>
                  <a:srgbClr val="475569"/>
                </a:solidFill>
                <a:latin typeface="Aptos"/>
              </a:rPr>
              <a:t>- Clean supplies are placed near used wound-care materials.
- A nurse plans to recap a used needle by hand.</a:t>
            </a:r>
          </a:p>
        </p:txBody>
      </p:sp>
      <p:sp>
        <p:nvSpPr>
          <p:cNvPr id="16" name="Rounded Rectangle 15"/>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Place each cue and justify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Documentation frame</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14</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generate solutions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S14  ·  source-aligned</a:t>
            </a:r>
          </a:p>
        </p:txBody>
      </p:sp>
      <p:sp>
        <p:nvSpPr>
          <p:cNvPr id="8" name="Rounded Rectangle 7"/>
          <p:cNvSpPr/>
          <p:nvPr/>
        </p:nvSpPr>
        <p:spPr>
          <a:xfrm>
            <a:off x="502920"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 y="128930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Expected exposure</a:t>
            </a:r>
          </a:p>
        </p:txBody>
      </p:sp>
      <p:sp>
        <p:nvSpPr>
          <p:cNvPr id="11" name="TextBox 10"/>
          <p:cNvSpPr txBox="1"/>
          <p:nvPr/>
        </p:nvSpPr>
        <p:spPr>
          <a:xfrm>
            <a:off x="667512"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2" name="Rounded Rectangle 11"/>
          <p:cNvSpPr/>
          <p:nvPr/>
        </p:nvSpPr>
        <p:spPr>
          <a:xfrm>
            <a:off x="4286402"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1266" y="128930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0994"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Required PPE</a:t>
            </a:r>
          </a:p>
        </p:txBody>
      </p:sp>
      <p:sp>
        <p:nvSpPr>
          <p:cNvPr id="15" name="TextBox 14"/>
          <p:cNvSpPr txBox="1"/>
          <p:nvPr/>
        </p:nvSpPr>
        <p:spPr>
          <a:xfrm>
            <a:off x="4450994"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16" name="Rounded Rectangle 15"/>
          <p:cNvSpPr/>
          <p:nvPr/>
        </p:nvSpPr>
        <p:spPr>
          <a:xfrm>
            <a:off x="8069884" y="1143000"/>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24748" y="128930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4476" y="1252728"/>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Clean-to-dirty sequence</a:t>
            </a:r>
          </a:p>
        </p:txBody>
      </p:sp>
      <p:sp>
        <p:nvSpPr>
          <p:cNvPr id="19" name="TextBox 18"/>
          <p:cNvSpPr txBox="1"/>
          <p:nvPr/>
        </p:nvSpPr>
        <p:spPr>
          <a:xfrm>
            <a:off x="8234476" y="1581912"/>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0" name="Rounded Rectangle 19"/>
          <p:cNvSpPr/>
          <p:nvPr/>
        </p:nvSpPr>
        <p:spPr>
          <a:xfrm>
            <a:off x="502920"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57784" y="2688336"/>
            <a:ext cx="45720" cy="941832"/>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Hand-hygiene moment</a:t>
            </a:r>
          </a:p>
        </p:txBody>
      </p:sp>
      <p:sp>
        <p:nvSpPr>
          <p:cNvPr id="23" name="TextBox 22"/>
          <p:cNvSpPr txBox="1"/>
          <p:nvPr/>
        </p:nvSpPr>
        <p:spPr>
          <a:xfrm>
            <a:off x="667512"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4" name="Rounded Rectangle 23"/>
          <p:cNvSpPr/>
          <p:nvPr/>
        </p:nvSpPr>
        <p:spPr>
          <a:xfrm>
            <a:off x="4286402" y="2542032"/>
            <a:ext cx="3618890"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1266" y="2688336"/>
            <a:ext cx="45720" cy="941832"/>
          </a:xfrm>
          <a:prstGeom prst="rect">
            <a:avLst/>
          </a:prstGeom>
          <a:solidFill>
            <a:srgbClr val="EA580C"/>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994" y="2651760"/>
            <a:ext cx="3362858" cy="292608"/>
          </a:xfrm>
          <a:prstGeom prst="rect">
            <a:avLst/>
          </a:prstGeom>
          <a:noFill/>
        </p:spPr>
        <p:txBody>
          <a:bodyPr wrap="square" anchor="t" lIns="27432" rIns="27432" tIns="18288" bIns="18288">
            <a:spAutoFit/>
          </a:bodyPr>
          <a:lstStyle/>
          <a:p>
            <a:pPr algn="l"/>
            <a:r>
              <a:rPr sz="1300" b="1">
                <a:solidFill>
                  <a:srgbClr val="0F172A"/>
                </a:solidFill>
                <a:latin typeface="Aptos"/>
              </a:rPr>
              <a:t>Exposure follow-up</a:t>
            </a:r>
          </a:p>
        </p:txBody>
      </p:sp>
      <p:sp>
        <p:nvSpPr>
          <p:cNvPr id="27" name="TextBox 26"/>
          <p:cNvSpPr txBox="1"/>
          <p:nvPr/>
        </p:nvSpPr>
        <p:spPr>
          <a:xfrm>
            <a:off x="4450994" y="2980944"/>
            <a:ext cx="3362858" cy="704088"/>
          </a:xfrm>
          <a:prstGeom prst="rect">
            <a:avLst/>
          </a:prstGeom>
          <a:noFill/>
        </p:spPr>
        <p:txBody>
          <a:bodyPr wrap="square" anchor="t" lIns="27432" rIns="27432" tIns="18288" bIns="18288">
            <a:spAutoFit/>
          </a:bodyPr>
          <a:lstStyle/>
          <a:p>
            <a:pPr algn="l"/>
            <a:r>
              <a:rPr sz="900" b="0">
                <a:solidFill>
                  <a:srgbClr val="475569"/>
                </a:solidFill>
                <a:latin typeface="Aptos"/>
              </a:rPr>
              <a:t>—</a:t>
            </a:r>
          </a:p>
        </p:txBody>
      </p:sp>
      <p:sp>
        <p:nvSpPr>
          <p:cNvPr id="28" name="Rounded Rectangle 27"/>
          <p:cNvSpPr/>
          <p:nvPr/>
        </p:nvSpPr>
        <p:spPr>
          <a:xfrm>
            <a:off x="1188720" y="5989320"/>
            <a:ext cx="9784080" cy="4114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2563EB"/>
                </a:solidFill>
                <a:latin typeface="Aptos"/>
              </a:rPr>
              <a:t>Record the lesson's decisions in a reusable frame.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APPLY</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Capstone: choose the next safe action</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15</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take action,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S15  ·  source-aligned</a:t>
            </a:r>
          </a:p>
        </p:txBody>
      </p:sp>
      <p:sp>
        <p:nvSpPr>
          <p:cNvPr id="8" name="Rounded Rectangle 7"/>
          <p:cNvSpPr/>
          <p:nvPr/>
        </p:nvSpPr>
        <p:spPr>
          <a:xfrm>
            <a:off x="685800" y="1005840"/>
            <a:ext cx="10835640" cy="621792"/>
          </a:xfrm>
          <a:prstGeom prst="roundRect">
            <a:avLst/>
          </a:prstGeom>
          <a:solidFill>
            <a:srgbClr val="FEF2F2"/>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0664" y="1152144"/>
            <a:ext cx="45720" cy="329184"/>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115568"/>
            <a:ext cx="10579608" cy="292608"/>
          </a:xfrm>
          <a:prstGeom prst="rect">
            <a:avLst/>
          </a:prstGeom>
          <a:noFill/>
        </p:spPr>
        <p:txBody>
          <a:bodyPr wrap="square" anchor="t" lIns="27432" rIns="27432" tIns="18288" bIns="18288">
            <a:spAutoFit/>
          </a:bodyPr>
          <a:lstStyle/>
          <a:p>
            <a:pPr algn="l"/>
            <a:r>
              <a:rPr sz="1150" b="1">
                <a:solidFill>
                  <a:srgbClr val="0F172A"/>
                </a:solidFill>
                <a:latin typeface="Aptos"/>
              </a:rPr>
              <a:t>capstone scenario</a:t>
            </a:r>
          </a:p>
        </p:txBody>
      </p:sp>
      <p:sp>
        <p:nvSpPr>
          <p:cNvPr id="11" name="TextBox 10"/>
          <p:cNvSpPr txBox="1"/>
          <p:nvPr/>
        </p:nvSpPr>
        <p:spPr>
          <a:xfrm>
            <a:off x="850392" y="1444752"/>
            <a:ext cx="10579608" cy="91440"/>
          </a:xfrm>
          <a:prstGeom prst="rect">
            <a:avLst/>
          </a:prstGeom>
          <a:noFill/>
        </p:spPr>
        <p:txBody>
          <a:bodyPr wrap="square" anchor="t" lIns="27432" rIns="27432" tIns="18288" bIns="18288">
            <a:spAutoFit/>
          </a:bodyPr>
          <a:lstStyle/>
          <a:p>
            <a:pPr algn="l"/>
            <a:r>
              <a:rPr sz="850" b="0">
                <a:solidFill>
                  <a:srgbClr val="475569"/>
                </a:solidFill>
                <a:latin typeface="Aptos"/>
              </a:rPr>
              <a:t>A nurse plans to recap a used needle by hand.</a:t>
            </a:r>
          </a:p>
        </p:txBody>
      </p:sp>
      <p:sp>
        <p:nvSpPr>
          <p:cNvPr id="12" name="Rounded Rectangle 11"/>
          <p:cNvSpPr/>
          <p:nvPr/>
        </p:nvSpPr>
        <p:spPr>
          <a:xfrm>
            <a:off x="914400" y="1874519"/>
            <a:ext cx="10378440" cy="658368"/>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2020824"/>
            <a:ext cx="45720" cy="365759"/>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1984248"/>
            <a:ext cx="10122408" cy="292608"/>
          </a:xfrm>
          <a:prstGeom prst="rect">
            <a:avLst/>
          </a:prstGeom>
          <a:noFill/>
        </p:spPr>
        <p:txBody>
          <a:bodyPr wrap="square" anchor="t" lIns="27432" rIns="27432" tIns="18288" bIns="18288">
            <a:spAutoFit/>
          </a:bodyPr>
          <a:lstStyle/>
          <a:p>
            <a:pPr algn="l"/>
            <a:r>
              <a:rPr sz="1250" b="1">
                <a:solidFill>
                  <a:srgbClr val="0F172A"/>
                </a:solidFill>
                <a:latin typeface="Aptos"/>
              </a:rPr>
              <a:t>priority nursing response</a:t>
            </a:r>
          </a:p>
        </p:txBody>
      </p:sp>
      <p:sp>
        <p:nvSpPr>
          <p:cNvPr id="15" name="TextBox 14"/>
          <p:cNvSpPr txBox="1"/>
          <p:nvPr/>
        </p:nvSpPr>
        <p:spPr>
          <a:xfrm>
            <a:off x="1078992" y="2313432"/>
            <a:ext cx="10122408" cy="128016"/>
          </a:xfrm>
          <a:prstGeom prst="rect">
            <a:avLst/>
          </a:prstGeom>
          <a:noFill/>
        </p:spPr>
        <p:txBody>
          <a:bodyPr wrap="square" anchor="t" lIns="27432" rIns="27432" tIns="18288" bIns="18288">
            <a:spAutoFit/>
          </a:bodyPr>
          <a:lstStyle/>
          <a:p>
            <a:pPr algn="l"/>
            <a:r>
              <a:rPr sz="900" b="0">
                <a:solidFill>
                  <a:srgbClr val="475569"/>
                </a:solidFill>
                <a:latin typeface="Aptos"/>
              </a:rPr>
              <a:t>What is the priority nursing action?</a:t>
            </a:r>
          </a:p>
        </p:txBody>
      </p:sp>
      <p:sp>
        <p:nvSpPr>
          <p:cNvPr id="16" name="Rounded Rectangle 15"/>
          <p:cNvSpPr/>
          <p:nvPr/>
        </p:nvSpPr>
        <p:spPr>
          <a:xfrm>
            <a:off x="1097280" y="2788920"/>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 y="2898648"/>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A</a:t>
            </a:r>
          </a:p>
        </p:txBody>
      </p:sp>
      <p:sp>
        <p:nvSpPr>
          <p:cNvPr id="18" name="TextBox 17"/>
          <p:cNvSpPr txBox="1"/>
          <p:nvPr/>
        </p:nvSpPr>
        <p:spPr>
          <a:xfrm>
            <a:off x="1627632" y="2871215"/>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A. Delay action until the end of the shift.</a:t>
            </a:r>
          </a:p>
        </p:txBody>
      </p:sp>
      <p:sp>
        <p:nvSpPr>
          <p:cNvPr id="19" name="Rounded Rectangle 18"/>
          <p:cNvSpPr/>
          <p:nvPr/>
        </p:nvSpPr>
        <p:spPr>
          <a:xfrm>
            <a:off x="1097280" y="3319272"/>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4440" y="3429000"/>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B</a:t>
            </a:r>
          </a:p>
        </p:txBody>
      </p:sp>
      <p:sp>
        <p:nvSpPr>
          <p:cNvPr id="21" name="TextBox 20"/>
          <p:cNvSpPr txBox="1"/>
          <p:nvPr/>
        </p:nvSpPr>
        <p:spPr>
          <a:xfrm>
            <a:off x="1627632" y="3401568"/>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B. Activate the safety device and place the needle directly in an approved sharps container.</a:t>
            </a:r>
          </a:p>
        </p:txBody>
      </p:sp>
      <p:sp>
        <p:nvSpPr>
          <p:cNvPr id="22" name="Rounded Rectangle 21"/>
          <p:cNvSpPr/>
          <p:nvPr/>
        </p:nvSpPr>
        <p:spPr>
          <a:xfrm>
            <a:off x="1097280" y="3849624"/>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40" y="3959352"/>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C</a:t>
            </a:r>
          </a:p>
        </p:txBody>
      </p:sp>
      <p:sp>
        <p:nvSpPr>
          <p:cNvPr id="24" name="TextBox 23"/>
          <p:cNvSpPr txBox="1"/>
          <p:nvPr/>
        </p:nvSpPr>
        <p:spPr>
          <a:xfrm>
            <a:off x="1627632" y="3931920"/>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C. Document the finding without reassessment or follow-up.</a:t>
            </a:r>
          </a:p>
        </p:txBody>
      </p:sp>
      <p:sp>
        <p:nvSpPr>
          <p:cNvPr id="25" name="Rounded Rectangle 24"/>
          <p:cNvSpPr/>
          <p:nvPr/>
        </p:nvSpPr>
        <p:spPr>
          <a:xfrm>
            <a:off x="1097280" y="4379975"/>
            <a:ext cx="9875520" cy="3657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34440" y="4489703"/>
            <a:ext cx="256032" cy="146304"/>
          </a:xfrm>
          <a:prstGeom prst="rect">
            <a:avLst/>
          </a:prstGeom>
          <a:noFill/>
        </p:spPr>
        <p:txBody>
          <a:bodyPr wrap="square" anchor="t" lIns="27432" rIns="27432" tIns="18288" bIns="18288">
            <a:spAutoFit/>
          </a:bodyPr>
          <a:lstStyle/>
          <a:p>
            <a:pPr algn="l"/>
            <a:r>
              <a:rPr sz="800" b="1">
                <a:solidFill>
                  <a:srgbClr val="DC2626"/>
                </a:solidFill>
                <a:latin typeface="Aptos"/>
              </a:rPr>
              <a:t>D</a:t>
            </a:r>
          </a:p>
        </p:txBody>
      </p:sp>
      <p:sp>
        <p:nvSpPr>
          <p:cNvPr id="27" name="TextBox 26"/>
          <p:cNvSpPr txBox="1"/>
          <p:nvPr/>
        </p:nvSpPr>
        <p:spPr>
          <a:xfrm>
            <a:off x="1627632" y="4462271"/>
            <a:ext cx="8869680" cy="164592"/>
          </a:xfrm>
          <a:prstGeom prst="rect">
            <a:avLst/>
          </a:prstGeom>
          <a:noFill/>
        </p:spPr>
        <p:txBody>
          <a:bodyPr wrap="square" anchor="t" lIns="27432" rIns="27432" tIns="18288" bIns="18288">
            <a:spAutoFit/>
          </a:bodyPr>
          <a:lstStyle/>
          <a:p>
            <a:pPr algn="l"/>
            <a:r>
              <a:rPr sz="840" b="0">
                <a:solidFill>
                  <a:srgbClr val="475569"/>
                </a:solidFill>
                <a:latin typeface="Aptos"/>
              </a:rPr>
              <a:t>D. Delegate the clinical judgment decision to unlicensed assistive personnel.</a:t>
            </a:r>
          </a:p>
        </p:txBody>
      </p:sp>
      <p:sp>
        <p:nvSpPr>
          <p:cNvPr id="28" name="Rounded Rectangle 27"/>
          <p:cNvSpPr/>
          <p:nvPr/>
        </p:nvSpPr>
        <p:spPr>
          <a:xfrm>
            <a:off x="1188720" y="5989320"/>
            <a:ext cx="9784080" cy="4114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DC2626"/>
                </a:solidFill>
                <a:latin typeface="Aptos"/>
              </a:rPr>
              <a:t>Choose the priority action.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Rapid retrieval: exit check</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16</a:t>
            </a:r>
          </a:p>
        </p:txBody>
      </p:sp>
      <p:sp>
        <p:nvSpPr>
          <p:cNvPr id="5" name="TextBox 4"/>
          <p:cNvSpPr txBox="1"/>
          <p:nvPr/>
        </p:nvSpPr>
        <p:spPr>
          <a:xfrm>
            <a:off x="320040" y="6510528"/>
            <a:ext cx="4023360" cy="128016"/>
          </a:xfrm>
          <a:prstGeom prst="rect">
            <a:avLst/>
          </a:prstGeom>
          <a:noFill/>
        </p:spPr>
        <p:txBody>
          <a:bodyPr wrap="square" anchor="t" lIns="27432" rIns="27432" tIns="18288" bIns="18288">
            <a:spAutoFit/>
          </a:bodyPr>
          <a:lstStyle/>
          <a:p>
            <a:pPr algn="l"/>
            <a:r>
              <a:rPr sz="570" b="0">
                <a:solidFill>
                  <a:srgbClr val="475569"/>
                </a:solidFill>
                <a:latin typeface="Aptos"/>
              </a:rPr>
              <a:t>CJM: evaluate outcomes</a:t>
            </a:r>
          </a:p>
        </p:txBody>
      </p:sp>
      <p:sp>
        <p:nvSpPr>
          <p:cNvPr id="6" name="TextBox 5"/>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7" name="TextBox 6"/>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S16  ·  source-aligned</a:t>
            </a:r>
          </a:p>
        </p:txBody>
      </p:sp>
      <p:sp>
        <p:nvSpPr>
          <p:cNvPr id="8" name="Rounded Rectangle 7"/>
          <p:cNvSpPr/>
          <p:nvPr/>
        </p:nvSpPr>
        <p:spPr>
          <a:xfrm>
            <a:off x="777240" y="1143000"/>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1216152"/>
            <a:ext cx="45720" cy="292608"/>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261872"/>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Standard precautions apply to all patients.</a:t>
            </a:r>
          </a:p>
        </p:txBody>
      </p:sp>
      <p:sp>
        <p:nvSpPr>
          <p:cNvPr id="11" name="Rounded Rectangle 10"/>
          <p:cNvSpPr/>
          <p:nvPr/>
        </p:nvSpPr>
        <p:spPr>
          <a:xfrm>
            <a:off x="777240" y="1801368"/>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1874519"/>
            <a:ext cx="45720" cy="292608"/>
          </a:xfrm>
          <a:prstGeom prst="rect">
            <a:avLst/>
          </a:prstGeom>
          <a:solidFill>
            <a:srgbClr val="7C3AED"/>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1920240"/>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Match PPE to exposure risk.</a:t>
            </a:r>
          </a:p>
        </p:txBody>
      </p:sp>
      <p:sp>
        <p:nvSpPr>
          <p:cNvPr id="14" name="Rounded Rectangle 13"/>
          <p:cNvSpPr/>
          <p:nvPr/>
        </p:nvSpPr>
        <p:spPr>
          <a:xfrm>
            <a:off x="777240" y="2459736"/>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532888"/>
            <a:ext cx="45720" cy="292608"/>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578608"/>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Remove PPE to prevent self-contamination.</a:t>
            </a:r>
          </a:p>
        </p:txBody>
      </p:sp>
      <p:sp>
        <p:nvSpPr>
          <p:cNvPr id="17" name="Rounded Rectangle 16"/>
          <p:cNvSpPr/>
          <p:nvPr/>
        </p:nvSpPr>
        <p:spPr>
          <a:xfrm>
            <a:off x="777240" y="3118104"/>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3191256"/>
            <a:ext cx="45720" cy="292608"/>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3236976"/>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Report occupational exposures immediately.</a:t>
            </a:r>
          </a:p>
        </p:txBody>
      </p:sp>
      <p:sp>
        <p:nvSpPr>
          <p:cNvPr id="20" name="Rounded Rectangle 19"/>
          <p:cNvSpPr/>
          <p:nvPr/>
        </p:nvSpPr>
        <p:spPr>
          <a:xfrm>
            <a:off x="777240" y="3776472"/>
            <a:ext cx="10652760" cy="438912"/>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 y="3849624"/>
            <a:ext cx="45720" cy="292608"/>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3895344"/>
            <a:ext cx="9966960" cy="164592"/>
          </a:xfrm>
          <a:prstGeom prst="rect">
            <a:avLst/>
          </a:prstGeom>
          <a:noFill/>
        </p:spPr>
        <p:txBody>
          <a:bodyPr wrap="square" anchor="t" lIns="27432" rIns="27432" tIns="18288" bIns="18288">
            <a:spAutoFit/>
          </a:bodyPr>
          <a:lstStyle/>
          <a:p>
            <a:pPr algn="l"/>
            <a:r>
              <a:rPr sz="869" b="0">
                <a:solidFill>
                  <a:srgbClr val="0F172A"/>
                </a:solidFill>
                <a:latin typeface="Aptos"/>
              </a:rPr>
              <a:t>Respond safely to a sharps or body-fluid exposure.</a:t>
            </a:r>
          </a:p>
        </p:txBody>
      </p:sp>
      <p:sp>
        <p:nvSpPr>
          <p:cNvPr id="23" name="Rounded Rectangle 22"/>
          <p:cNvSpPr/>
          <p:nvPr/>
        </p:nvSpPr>
        <p:spPr>
          <a:xfrm>
            <a:off x="1188720" y="5989320"/>
            <a:ext cx="9784080" cy="411480"/>
          </a:xfrm>
          <a:prstGeom prst="roundRect">
            <a:avLst/>
          </a:prstGeom>
          <a:solidFill>
            <a:srgbClr val="FFFFFF"/>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5880" y="6089904"/>
            <a:ext cx="9509760" cy="210312"/>
          </a:xfrm>
          <a:prstGeom prst="rect">
            <a:avLst/>
          </a:prstGeom>
          <a:noFill/>
        </p:spPr>
        <p:txBody>
          <a:bodyPr wrap="square" anchor="ctr" lIns="27432" rIns="27432" tIns="18288" bIns="18288">
            <a:spAutoFit/>
          </a:bodyPr>
          <a:lstStyle/>
          <a:p>
            <a:pPr algn="ctr"/>
            <a:r>
              <a:rPr sz="850" b="1">
                <a:solidFill>
                  <a:srgbClr val="475569"/>
                </a:solidFill>
                <a:latin typeface="Aptos"/>
              </a:rPr>
              <a:t>Answer all of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8FB"/>
        </a:solidFill>
        <a:effectLst/>
      </p:bgPr>
    </p:bg>
    <p:spTree>
      <p:nvGrpSpPr>
        <p:cNvPr id="1" name=""/>
        <p:cNvGrpSpPr/>
        <p:nvPr/>
      </p:nvGrpSpPr>
      <p:grpSpPr/>
      <p:sp>
        <p:nvSpPr>
          <p:cNvPr id="2" name="TextBox 1"/>
          <p:cNvSpPr txBox="1"/>
          <p:nvPr/>
        </p:nvSpPr>
        <p:spPr>
          <a:xfrm>
            <a:off x="320040" y="164592"/>
            <a:ext cx="2011680" cy="164592"/>
          </a:xfrm>
          <a:prstGeom prst="rect">
            <a:avLst/>
          </a:prstGeom>
          <a:noFill/>
        </p:spPr>
        <p:txBody>
          <a:bodyPr wrap="square" anchor="t" lIns="27432" rIns="27432" tIns="18288" bIns="18288">
            <a:spAutoFit/>
          </a:bodyPr>
          <a:lstStyle/>
          <a:p>
            <a:pPr algn="l"/>
            <a:r>
              <a:rPr sz="650" b="1">
                <a:solidFill>
                  <a:srgbClr val="2563EB"/>
                </a:solidFill>
                <a:latin typeface="Aptos"/>
              </a:rPr>
              <a:t>CLOSE</a:t>
            </a:r>
          </a:p>
        </p:txBody>
      </p:sp>
      <p:sp>
        <p:nvSpPr>
          <p:cNvPr id="3" name="TextBox 2"/>
          <p:cNvSpPr txBox="1"/>
          <p:nvPr/>
        </p:nvSpPr>
        <p:spPr>
          <a:xfrm>
            <a:off x="320040" y="347472"/>
            <a:ext cx="10789920" cy="384048"/>
          </a:xfrm>
          <a:prstGeom prst="rect">
            <a:avLst/>
          </a:prstGeom>
          <a:noFill/>
        </p:spPr>
        <p:txBody>
          <a:bodyPr wrap="square" anchor="t" lIns="27432" rIns="27432" tIns="18288" bIns="18288">
            <a:spAutoFit/>
          </a:bodyPr>
          <a:lstStyle/>
          <a:p>
            <a:pPr algn="l"/>
            <a:r>
              <a:rPr sz="1950" b="1">
                <a:solidFill>
                  <a:srgbClr val="0F172A"/>
                </a:solidFill>
                <a:latin typeface="Aptos"/>
              </a:rPr>
              <a:t>Takeaway</a:t>
            </a:r>
          </a:p>
        </p:txBody>
      </p:sp>
      <p:sp>
        <p:nvSpPr>
          <p:cNvPr id="4" name="TextBox 3"/>
          <p:cNvSpPr txBox="1"/>
          <p:nvPr/>
        </p:nvSpPr>
        <p:spPr>
          <a:xfrm>
            <a:off x="11841480" y="6510528"/>
            <a:ext cx="201168" cy="137160"/>
          </a:xfrm>
          <a:prstGeom prst="rect">
            <a:avLst/>
          </a:prstGeom>
          <a:noFill/>
        </p:spPr>
        <p:txBody>
          <a:bodyPr wrap="square" anchor="t" lIns="27432" rIns="27432" tIns="18288" bIns="18288">
            <a:spAutoFit/>
          </a:bodyPr>
          <a:lstStyle/>
          <a:p>
            <a:pPr algn="r"/>
            <a:r>
              <a:rPr sz="650" b="0">
                <a:solidFill>
                  <a:srgbClr val="475569"/>
                </a:solidFill>
                <a:latin typeface="Aptos"/>
              </a:rPr>
              <a:t>17</a:t>
            </a:r>
          </a:p>
        </p:txBody>
      </p:sp>
      <p:sp>
        <p:nvSpPr>
          <p:cNvPr id="5" name="TextBox 4"/>
          <p:cNvSpPr txBox="1"/>
          <p:nvPr/>
        </p:nvSpPr>
        <p:spPr>
          <a:xfrm>
            <a:off x="4754880" y="6510528"/>
            <a:ext cx="2743200" cy="128016"/>
          </a:xfrm>
          <a:prstGeom prst="rect">
            <a:avLst/>
          </a:prstGeom>
          <a:noFill/>
        </p:spPr>
        <p:txBody>
          <a:bodyPr wrap="square" anchor="t" lIns="27432" rIns="27432" tIns="18288" bIns="18288">
            <a:spAutoFit/>
          </a:bodyPr>
          <a:lstStyle/>
          <a:p>
            <a:pPr algn="ctr"/>
            <a:r>
              <a:rPr sz="570" b="0">
                <a:solidFill>
                  <a:srgbClr val="475569"/>
                </a:solidFill>
                <a:latin typeface="Aptos"/>
              </a:rPr>
              <a:t>Harrity Lesson Builder</a:t>
            </a:r>
          </a:p>
        </p:txBody>
      </p:sp>
      <p:sp>
        <p:nvSpPr>
          <p:cNvPr id="6" name="TextBox 5"/>
          <p:cNvSpPr txBox="1"/>
          <p:nvPr/>
        </p:nvSpPr>
        <p:spPr>
          <a:xfrm>
            <a:off x="7863840" y="6510528"/>
            <a:ext cx="3840480" cy="128016"/>
          </a:xfrm>
          <a:prstGeom prst="rect">
            <a:avLst/>
          </a:prstGeom>
          <a:noFill/>
        </p:spPr>
        <p:txBody>
          <a:bodyPr wrap="square" anchor="t" lIns="27432" rIns="27432" tIns="18288" bIns="18288">
            <a:spAutoFit/>
          </a:bodyPr>
          <a:lstStyle/>
          <a:p>
            <a:pPr algn="r"/>
            <a:r>
              <a:rPr sz="570" b="0">
                <a:solidFill>
                  <a:srgbClr val="475569"/>
                </a:solidFill>
                <a:latin typeface="Aptos"/>
              </a:rPr>
              <a:t>S17  ·  instructor-added</a:t>
            </a:r>
          </a:p>
        </p:txBody>
      </p:sp>
      <p:sp>
        <p:nvSpPr>
          <p:cNvPr id="7" name="Rounded Rectangle 6"/>
          <p:cNvSpPr/>
          <p:nvPr/>
        </p:nvSpPr>
        <p:spPr>
          <a:xfrm>
            <a:off x="502920"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 y="1472184"/>
            <a:ext cx="45720" cy="941832"/>
          </a:xfrm>
          <a:prstGeom prst="rect">
            <a:avLst/>
          </a:prstGeom>
          <a:solidFill>
            <a:srgbClr val="2563E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Standard Precautions Apply To All Patien</a:t>
            </a:r>
          </a:p>
        </p:txBody>
      </p:sp>
      <p:sp>
        <p:nvSpPr>
          <p:cNvPr id="10" name="TextBox 9"/>
          <p:cNvSpPr txBox="1"/>
          <p:nvPr/>
        </p:nvSpPr>
        <p:spPr>
          <a:xfrm>
            <a:off x="667512"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Standard precautions apply to all patients.</a:t>
            </a:r>
          </a:p>
        </p:txBody>
      </p:sp>
      <p:sp>
        <p:nvSpPr>
          <p:cNvPr id="11" name="Rounded Rectangle 10"/>
          <p:cNvSpPr/>
          <p:nvPr/>
        </p:nvSpPr>
        <p:spPr>
          <a:xfrm>
            <a:off x="3340531"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5395" y="1472184"/>
            <a:ext cx="45720" cy="941832"/>
          </a:xfrm>
          <a:prstGeom prst="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05123"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Match Ppe To Exposure Risk</a:t>
            </a:r>
          </a:p>
        </p:txBody>
      </p:sp>
      <p:sp>
        <p:nvSpPr>
          <p:cNvPr id="14" name="TextBox 13"/>
          <p:cNvSpPr txBox="1"/>
          <p:nvPr/>
        </p:nvSpPr>
        <p:spPr>
          <a:xfrm>
            <a:off x="3505123"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Match PPE to exposure risk.</a:t>
            </a:r>
          </a:p>
        </p:txBody>
      </p:sp>
      <p:sp>
        <p:nvSpPr>
          <p:cNvPr id="15" name="Rounded Rectangle 14"/>
          <p:cNvSpPr/>
          <p:nvPr/>
        </p:nvSpPr>
        <p:spPr>
          <a:xfrm>
            <a:off x="6178143"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3007" y="1472184"/>
            <a:ext cx="45720" cy="941832"/>
          </a:xfrm>
          <a:prstGeom prst="rect">
            <a:avLst/>
          </a:prstGeom>
          <a:solidFill>
            <a:srgbClr val="DC2626"/>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2735"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Remove Ppe To Prevent Self-Contamination</a:t>
            </a:r>
          </a:p>
        </p:txBody>
      </p:sp>
      <p:sp>
        <p:nvSpPr>
          <p:cNvPr id="18" name="TextBox 17"/>
          <p:cNvSpPr txBox="1"/>
          <p:nvPr/>
        </p:nvSpPr>
        <p:spPr>
          <a:xfrm>
            <a:off x="6342735"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Remove PPE to prevent self-contamination.</a:t>
            </a:r>
          </a:p>
        </p:txBody>
      </p:sp>
      <p:sp>
        <p:nvSpPr>
          <p:cNvPr id="19" name="Rounded Rectangle 18"/>
          <p:cNvSpPr/>
          <p:nvPr/>
        </p:nvSpPr>
        <p:spPr>
          <a:xfrm>
            <a:off x="9015755" y="1325880"/>
            <a:ext cx="2673019" cy="123444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70619" y="1472184"/>
            <a:ext cx="45720" cy="941832"/>
          </a:xfrm>
          <a:prstGeom prst="rect">
            <a:avLst/>
          </a:prstGeom>
          <a:solidFill>
            <a:srgbClr val="16A34A"/>
          </a:solidFill>
          <a:ln w="127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347" y="1435607"/>
            <a:ext cx="2416987" cy="292608"/>
          </a:xfrm>
          <a:prstGeom prst="rect">
            <a:avLst/>
          </a:prstGeom>
          <a:noFill/>
        </p:spPr>
        <p:txBody>
          <a:bodyPr wrap="square" anchor="t" lIns="27432" rIns="27432" tIns="18288" bIns="18288">
            <a:spAutoFit/>
          </a:bodyPr>
          <a:lstStyle/>
          <a:p>
            <a:pPr algn="l"/>
            <a:r>
              <a:rPr sz="1300" b="1">
                <a:solidFill>
                  <a:srgbClr val="0F172A"/>
                </a:solidFill>
                <a:latin typeface="Aptos"/>
              </a:rPr>
              <a:t>Report Occupational Exposures Immediatel</a:t>
            </a:r>
          </a:p>
        </p:txBody>
      </p:sp>
      <p:sp>
        <p:nvSpPr>
          <p:cNvPr id="22" name="TextBox 21"/>
          <p:cNvSpPr txBox="1"/>
          <p:nvPr/>
        </p:nvSpPr>
        <p:spPr>
          <a:xfrm>
            <a:off x="9180347" y="1764792"/>
            <a:ext cx="2416987" cy="704088"/>
          </a:xfrm>
          <a:prstGeom prst="rect">
            <a:avLst/>
          </a:prstGeom>
          <a:noFill/>
        </p:spPr>
        <p:txBody>
          <a:bodyPr wrap="square" anchor="t" lIns="27432" rIns="27432" tIns="18288" bIns="18288">
            <a:spAutoFit/>
          </a:bodyPr>
          <a:lstStyle/>
          <a:p>
            <a:pPr algn="l"/>
            <a:r>
              <a:rPr sz="850" b="0">
                <a:solidFill>
                  <a:srgbClr val="475569"/>
                </a:solidFill>
                <a:latin typeface="Aptos"/>
              </a:rPr>
              <a:t>Report occupational exposures immediately.</a:t>
            </a:r>
          </a:p>
        </p:txBody>
      </p:sp>
      <p:sp>
        <p:nvSpPr>
          <p:cNvPr id="23" name="Rounded Rectangle 22"/>
          <p:cNvSpPr/>
          <p:nvPr/>
        </p:nvSpPr>
        <p:spPr>
          <a:xfrm>
            <a:off x="1234440" y="4892040"/>
            <a:ext cx="9646920" cy="822960"/>
          </a:xfrm>
          <a:prstGeom prst="roundRect">
            <a:avLst/>
          </a:prstGeom>
          <a:solidFill>
            <a:srgbClr val="FFFFFF"/>
          </a:solidFill>
          <a:ln w="12700">
            <a:solidFill>
              <a:srgbClr val="D7DF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9304" y="5038344"/>
            <a:ext cx="45720" cy="530352"/>
          </a:xfrm>
          <a:prstGeom prst="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99032" y="5001768"/>
            <a:ext cx="9390888" cy="292608"/>
          </a:xfrm>
          <a:prstGeom prst="rect">
            <a:avLst/>
          </a:prstGeom>
          <a:noFill/>
        </p:spPr>
        <p:txBody>
          <a:bodyPr wrap="square" anchor="t" lIns="27432" rIns="27432" tIns="18288" bIns="18288">
            <a:spAutoFit/>
          </a:bodyPr>
          <a:lstStyle/>
          <a:p>
            <a:pPr algn="l"/>
            <a:r>
              <a:rPr sz="1200" b="1">
                <a:solidFill>
                  <a:srgbClr val="0F172A"/>
                </a:solidFill>
                <a:latin typeface="Aptos"/>
              </a:rPr>
              <a:t>final bedside frame</a:t>
            </a:r>
          </a:p>
        </p:txBody>
      </p:sp>
      <p:sp>
        <p:nvSpPr>
          <p:cNvPr id="26" name="TextBox 25"/>
          <p:cNvSpPr txBox="1"/>
          <p:nvPr/>
        </p:nvSpPr>
        <p:spPr>
          <a:xfrm>
            <a:off x="1399032" y="5330952"/>
            <a:ext cx="9390888" cy="292608"/>
          </a:xfrm>
          <a:prstGeom prst="rect">
            <a:avLst/>
          </a:prstGeom>
          <a:noFill/>
        </p:spPr>
        <p:txBody>
          <a:bodyPr wrap="square" anchor="t" lIns="27432" rIns="27432" tIns="18288" bIns="18288">
            <a:spAutoFit/>
          </a:bodyPr>
          <a:lstStyle/>
          <a:p>
            <a:pPr algn="l"/>
            <a:r>
              <a:rPr sz="800" b="0">
                <a:solidFill>
                  <a:srgbClr val="475569"/>
                </a:solidFill>
                <a:latin typeface="Aptos"/>
              </a:rPr>
              <a:t>Select hand hygiene and protective equipment from the anticipated exposure, then remove equipment without contaminating clean areas.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